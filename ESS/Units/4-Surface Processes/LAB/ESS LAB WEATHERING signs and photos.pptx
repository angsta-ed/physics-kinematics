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0" r:id="rId4"/>
    <p:sldId id="261" r:id="rId5"/>
    <p:sldId id="263" r:id="rId6"/>
    <p:sldId id="262" r:id="rId7"/>
    <p:sldId id="276" r:id="rId8"/>
    <p:sldId id="277" r:id="rId9"/>
    <p:sldId id="278" r:id="rId10"/>
    <p:sldId id="265" r:id="rId11"/>
    <p:sldId id="264" r:id="rId12"/>
    <p:sldId id="267" r:id="rId13"/>
    <p:sldId id="266" r:id="rId14"/>
    <p:sldId id="269" r:id="rId15"/>
    <p:sldId id="268" r:id="rId16"/>
    <p:sldId id="279" r:id="rId17"/>
    <p:sldId id="280" r:id="rId18"/>
    <p:sldId id="281" r:id="rId19"/>
    <p:sldId id="270" r:id="rId20"/>
    <p:sldId id="271" r:id="rId21"/>
    <p:sldId id="273" r:id="rId22"/>
    <p:sldId id="274" r:id="rId23"/>
    <p:sldId id="275" r:id="rId24"/>
    <p:sldId id="282" r:id="rId25"/>
    <p:sldId id="283" r:id="rId26"/>
    <p:sldId id="284" r:id="rId27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CC"/>
    <a:srgbClr val="FFFF00"/>
    <a:srgbClr val="FF99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837740D-1F0D-4A32-9597-E6BAA5D5856B}" v="99" dt="2024-08-06T12:58:42.55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60" d="100"/>
          <a:sy n="60" d="100"/>
        </p:scale>
        <p:origin x="120" y="-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customXml" Target="../customXml/item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customXml" Target="../customXml/item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Relationship Id="rId35" Type="http://schemas.openxmlformats.org/officeDocument/2006/relationships/customXml" Target="../customXml/item3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530EE-72D4-49F4-8514-775AA388A325}" type="datetimeFigureOut">
              <a:rPr lang="en-US" smtClean="0"/>
              <a:t>8/6/2024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137A1B-0EF5-4288-8BFC-7EBB8FAFD1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68572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530EE-72D4-49F4-8514-775AA388A325}" type="datetimeFigureOut">
              <a:rPr lang="en-US" smtClean="0"/>
              <a:t>8/6/2024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137A1B-0EF5-4288-8BFC-7EBB8FAFD1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17984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530EE-72D4-49F4-8514-775AA388A325}" type="datetimeFigureOut">
              <a:rPr lang="en-US" smtClean="0"/>
              <a:t>8/6/2024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137A1B-0EF5-4288-8BFC-7EBB8FAFD1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18048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530EE-72D4-49F4-8514-775AA388A325}" type="datetimeFigureOut">
              <a:rPr lang="en-US" smtClean="0"/>
              <a:t>8/6/2024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137A1B-0EF5-4288-8BFC-7EBB8FAFD1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87657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530EE-72D4-49F4-8514-775AA388A325}" type="datetimeFigureOut">
              <a:rPr lang="en-US" smtClean="0"/>
              <a:t>8/6/2024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137A1B-0EF5-4288-8BFC-7EBB8FAFD1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9904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530EE-72D4-49F4-8514-775AA388A325}" type="datetimeFigureOut">
              <a:rPr lang="en-US" smtClean="0"/>
              <a:t>8/6/2024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137A1B-0EF5-4288-8BFC-7EBB8FAFD1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98665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530EE-72D4-49F4-8514-775AA388A325}" type="datetimeFigureOut">
              <a:rPr lang="en-US" smtClean="0"/>
              <a:t>8/6/2024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137A1B-0EF5-4288-8BFC-7EBB8FAFD1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88264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530EE-72D4-49F4-8514-775AA388A325}" type="datetimeFigureOut">
              <a:rPr lang="en-US" smtClean="0"/>
              <a:t>8/6/2024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137A1B-0EF5-4288-8BFC-7EBB8FAFD1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81460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530EE-72D4-49F4-8514-775AA388A325}" type="datetimeFigureOut">
              <a:rPr lang="en-US" smtClean="0"/>
              <a:t>8/6/2024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137A1B-0EF5-4288-8BFC-7EBB8FAFD1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13150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530EE-72D4-49F4-8514-775AA388A325}" type="datetimeFigureOut">
              <a:rPr lang="en-US" smtClean="0"/>
              <a:t>8/6/2024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137A1B-0EF5-4288-8BFC-7EBB8FAFD1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4003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530EE-72D4-49F4-8514-775AA388A325}" type="datetimeFigureOut">
              <a:rPr lang="en-US" smtClean="0"/>
              <a:t>8/6/2024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137A1B-0EF5-4288-8BFC-7EBB8FAFD1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72512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4530EE-72D4-49F4-8514-775AA388A325}" type="datetimeFigureOut">
              <a:rPr lang="en-US" smtClean="0"/>
              <a:t>8/6/2024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137A1B-0EF5-4288-8BFC-7EBB8FAFD1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3577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hyperlink" Target="http://rds.yahoo.com/_ylt=A0PDoS6Dw8tOCkEAn1ijzbkF;_ylu=X3oDMTBpcGszamw0BHNlYwNmcC1pbWcEc2xrA2ltZw--/SIG=147tqeine/EXP=1322005507/**http:/www.autoclipart.com/auto_clipart_images/race_car_with_race_track_and_checkered_flag_0515-1104-2801-5530.html" TargetMode="Externa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hyperlink" Target="http://rds.yahoo.com/_ylt=A0PDoS6Dw8tOCkEAn1ijzbkF;_ylu=X3oDMTBpcGszamw0BHNlYwNmcC1pbWcEc2xrA2ltZw--/SIG=147tqeine/EXP=1322005507/**http:/www.autoclipart.com/auto_clipart_images/race_car_with_race_track_and_checkered_flag_0515-1104-2801-5530.html" TargetMode="Externa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2049" name="Picture 4" descr="http://www.google.com/url?source=imgres&amp;ct=tbn&amp;q=http://media.star1015.com/images/alka-seltzer-ana-sm1.jpg&amp;sa=X&amp;ei=fsHLTr_6Cqre0QHb6vEQ&amp;ved=0CAUQ8wc4BQ&amp;usg=AFQjCNEUEGXDV5cKEPMiHAkMQU3NP1us1Q"/>
          <p:cNvPicPr>
            <a:picLocks noChangeAspect="1" noChangeArrowheads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3797"/>
            <a:ext cx="4195186" cy="32263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135081" y="2278599"/>
            <a:ext cx="11783291" cy="53245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sng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MATERIALS: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rgbClr val="0070C0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2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0070C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Alka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Seltzer tablets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rgbClr val="0070C0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2 Cups of water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rgbClr val="0070C0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2 stop watches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rgbClr val="0070C0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DIRECTIONS: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1. Fill up each cup with tap water.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2. Open the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alka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seltzer package.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3. Take one tablet out and put it aside.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4. Leave one tablet in the package and using a pen/hand, crush the tablet in the package.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5. Clear the stop watches, dump the solid tablet into 1 cup and dump the crushed tablet into the other cup.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6. Begin timing each cup and stop the timer once the tablet has completely dissolved.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7. Record the data.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8. Dump out the cups.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9. Answer the questions.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239491" y="228600"/>
            <a:ext cx="7952509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66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STATION 1: Crushed by You!</a:t>
            </a:r>
            <a:endParaRPr kumimoji="0" lang="en-US" altLang="en-US" sz="6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5243317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2049" name="Picture 4" descr="http://www.google.com/url?source=imgres&amp;ct=tbn&amp;q=http://media.star1015.com/images/alka-seltzer-ana-sm1.jpg&amp;sa=X&amp;ei=fsHLTr_6Cqre0QHb6vEQ&amp;ved=0CAUQ8wc4BQ&amp;usg=AFQjCNEUEGXDV5cKEPMiHAkMQU3NP1us1Q"/>
          <p:cNvPicPr>
            <a:picLocks noChangeAspect="1" noChangeArrowheads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92682" y="3557603"/>
            <a:ext cx="4195186" cy="32263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1" y="228600"/>
            <a:ext cx="1219200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96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STATION 1: </a:t>
            </a: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96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Crushed by You!</a:t>
            </a:r>
            <a:endParaRPr kumimoji="0" lang="en-US" altLang="en-US" sz="9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4041484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4239491" y="228600"/>
            <a:ext cx="7952509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66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STATION 2: Drop that</a:t>
            </a:r>
            <a:r>
              <a:rPr kumimoji="0" lang="en-US" altLang="en-US" sz="6600" b="1" i="0" u="sng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Sediment</a:t>
            </a:r>
            <a:r>
              <a:rPr kumimoji="0" lang="en-US" altLang="en-US" sz="66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!</a:t>
            </a:r>
            <a:endParaRPr kumimoji="0" lang="en-US" altLang="en-US" sz="6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2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STATION 2: Drop that Sediment! </a:t>
            </a:r>
            <a:endParaRPr kumimoji="0" lang="en-US" altLang="en-US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073" name="Picture 10" descr="CoursesEarthq2814"/>
          <p:cNvPicPr>
            <a:picLocks noChangeAspect="1" noChangeArrowheads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02923"/>
            <a:ext cx="4139089" cy="30949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3"/>
          <p:cNvSpPr>
            <a:spLocks noChangeArrowheads="1"/>
          </p:cNvSpPr>
          <p:nvPr/>
        </p:nvSpPr>
        <p:spPr bwMode="auto">
          <a:xfrm>
            <a:off x="0" y="2340225"/>
            <a:ext cx="12057321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sng" strike="noStrike" cap="none" normalizeH="0" baseline="0" dirty="0">
                <a:ln>
                  <a:noFill/>
                </a:ln>
                <a:solidFill>
                  <a:schemeClr val="accent4">
                    <a:lumMod val="50000"/>
                  </a:schemeClr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MATERIALS: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accent4">
                  <a:lumMod val="50000"/>
                </a:schemeClr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accent4">
                    <a:lumMod val="50000"/>
                  </a:schemeClr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2 Vertical tubes full of water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accent4">
                  <a:lumMod val="50000"/>
                </a:schemeClr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accent4">
                    <a:lumMod val="50000"/>
                  </a:schemeClr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2 trays: large &amp; small sediments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accent4">
                  <a:lumMod val="50000"/>
                </a:schemeClr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accent4">
                    <a:lumMod val="50000"/>
                  </a:schemeClr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2 stop watches(You may use cell phones)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accent4">
                  <a:lumMod val="50000"/>
                </a:schemeClr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1" i="0" u="sng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DIRECTIONS: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1. Assign each partner a column and a stop watch.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2. For each column, you will only use 1 size bead.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3. One at a time, you will drop a bead into the cylinder and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0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time its descent from the top tape line until the bottom type line.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4. Record the time it took the sediment to fall.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5. Do this for each bead size 3 times.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6. Find the average of each bead size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ourier New" panose="02070309020205020404" pitchFamily="49" charset="0"/>
              </a:rPr>
              <a:t>’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 settling time.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7. Answer the questions.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24950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1" y="228600"/>
            <a:ext cx="12192000" cy="2831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96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STATION 2: </a:t>
            </a: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82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Drop that</a:t>
            </a:r>
            <a:r>
              <a:rPr kumimoji="0" lang="en-US" altLang="en-US" sz="8200" b="1" i="0" u="sng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kumimoji="0" lang="en-US" altLang="en-US" sz="82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Sediment!</a:t>
            </a:r>
            <a:endParaRPr kumimoji="0" lang="en-US" altLang="en-US" sz="8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pic>
        <p:nvPicPr>
          <p:cNvPr id="5" name="Picture 10" descr="CoursesEarthq2814"/>
          <p:cNvPicPr>
            <a:picLocks noChangeAspect="1" noChangeArrowheads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4700" y="2879990"/>
            <a:ext cx="5320146" cy="39780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646833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1" y="228600"/>
            <a:ext cx="12192000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96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STATION 3: </a:t>
            </a: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68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Observation/Inference</a:t>
            </a:r>
            <a:r>
              <a:rPr kumimoji="0" lang="en-US" altLang="en-US" sz="6800" b="1" i="0" u="sng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kumimoji="0" lang="en-US" altLang="en-US" sz="68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A</a:t>
            </a:r>
            <a:endParaRPr kumimoji="0" lang="en-US" altLang="en-US" sz="6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pic>
        <p:nvPicPr>
          <p:cNvPr id="7" name="Picture 19" descr="http://www.google.com/url?source=imgres&amp;ct=tbn&amp;q=http://www.graphicsfactory.com/clip-art/image_files/tn_image/3/705563-tn_Art002.jpg&amp;sa=X&amp;ei=09XLTuDCLcne0QH7yoEk&amp;ved=0CAUQ8wc4PQ&amp;usg=AFQjCNEAaPwoXj4XDyOyiC5h5PNIegQBZg"/>
          <p:cNvPicPr>
            <a:picLocks noChangeAspect="1" noChangeArrowheads="1"/>
          </p:cNvPicPr>
          <p:nvPr/>
        </p:nvPicPr>
        <p:blipFill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3072" y="2726891"/>
            <a:ext cx="4551219" cy="39894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425644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4239491" y="228600"/>
            <a:ext cx="7952509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66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STATION 3: Observation/</a:t>
            </a: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66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Inference A</a:t>
            </a:r>
            <a:endParaRPr kumimoji="0" lang="en-US" altLang="en-US" sz="6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5121" name="Picture 19" descr="http://www.google.com/url?source=imgres&amp;ct=tbn&amp;q=http://www.graphicsfactory.com/clip-art/image_files/tn_image/3/705563-tn_Art002.jpg&amp;sa=X&amp;ei=09XLTuDCLcne0QH7yoEk&amp;ved=0CAUQ8wc4PQ&amp;usg=AFQjCNEAaPwoXj4XDyOyiC5h5PNIegQBZg"/>
          <p:cNvPicPr>
            <a:picLocks noChangeAspect="1" noChangeArrowheads="1"/>
          </p:cNvPicPr>
          <p:nvPr/>
        </p:nvPicPr>
        <p:blipFill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163" y="181119"/>
            <a:ext cx="3387437" cy="29693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3"/>
          <p:cNvSpPr>
            <a:spLocks noChangeArrowheads="1"/>
          </p:cNvSpPr>
          <p:nvPr/>
        </p:nvSpPr>
        <p:spPr bwMode="auto">
          <a:xfrm>
            <a:off x="214745" y="3318570"/>
            <a:ext cx="11762510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sng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MATERIALS: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rgbClr val="00B050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3 weathering images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DIRECTIONS: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1. Using each photograph, answer the questions that correspond to each photograph.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2. Once you are done with the photograph, please put it back on the desk.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4809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http://www.uwsp.edu/geo/faculty/ozsvath/images/Cleopatras%20Needle.jpg">
            <a:extLst>
              <a:ext uri="{FF2B5EF4-FFF2-40B4-BE49-F238E27FC236}">
                <a16:creationId xmlns:a16="http://schemas.microsoft.com/office/drawing/2014/main" id="{903A8744-FE7F-29CC-5929-73544E98E3EA}"/>
              </a:ext>
            </a:extLst>
          </p:cNvPr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 flipH="1">
            <a:off x="-124048" y="0"/>
            <a:ext cx="12316047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10B88DE-048D-4252-E7C5-79E1007279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808074"/>
          </a:xfrm>
        </p:spPr>
        <p:txBody>
          <a:bodyPr/>
          <a:lstStyle/>
          <a:p>
            <a:pPr algn="ctr"/>
            <a:r>
              <a:rPr lang="en-US" b="1" dirty="0">
                <a:highlight>
                  <a:srgbClr val="FFFF00"/>
                </a:highlight>
              </a:rPr>
              <a:t>PHOTO #1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62C2FA0-AFFC-1833-BB0B-240714CD57A1}"/>
              </a:ext>
            </a:extLst>
          </p:cNvPr>
          <p:cNvSpPr txBox="1">
            <a:spLocks/>
          </p:cNvSpPr>
          <p:nvPr/>
        </p:nvSpPr>
        <p:spPr>
          <a:xfrm>
            <a:off x="0" y="1640959"/>
            <a:ext cx="2169042" cy="80807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9000" b="1" dirty="0">
                <a:solidFill>
                  <a:srgbClr val="FF0000"/>
                </a:solidFill>
                <a:latin typeface="Amasis MT Pro Black" panose="02040A04050005020304" pitchFamily="18" charset="0"/>
              </a:rPr>
              <a:t>A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4E932AC-BD81-1EBA-F79E-B562796BAAE6}"/>
              </a:ext>
            </a:extLst>
          </p:cNvPr>
          <p:cNvSpPr txBox="1">
            <a:spLocks/>
          </p:cNvSpPr>
          <p:nvPr/>
        </p:nvSpPr>
        <p:spPr>
          <a:xfrm>
            <a:off x="6574465" y="1648048"/>
            <a:ext cx="2169042" cy="80807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9000" b="1" dirty="0">
                <a:solidFill>
                  <a:srgbClr val="FF0000"/>
                </a:solidFill>
                <a:latin typeface="Amasis MT Pro Black" panose="02040A04050005020304" pitchFamily="18" charset="0"/>
              </a:rPr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18624375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7" name="Rectangle 1036">
            <a:extLst>
              <a:ext uri="{FF2B5EF4-FFF2-40B4-BE49-F238E27FC236}">
                <a16:creationId xmlns:a16="http://schemas.microsoft.com/office/drawing/2014/main" id="{1B3B45E2-3BE0-AF7D-369C-F3DC2968F9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341415" y="3351"/>
            <a:ext cx="1519350" cy="12202174"/>
          </a:xfrm>
          <a:prstGeom prst="rect">
            <a:avLst/>
          </a:prstGeom>
          <a:gradFill>
            <a:gsLst>
              <a:gs pos="0">
                <a:schemeClr val="accent5"/>
              </a:gs>
              <a:gs pos="96000">
                <a:schemeClr val="accent2"/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9" name="Rectangle 1038">
            <a:extLst>
              <a:ext uri="{FF2B5EF4-FFF2-40B4-BE49-F238E27FC236}">
                <a16:creationId xmlns:a16="http://schemas.microsoft.com/office/drawing/2014/main" id="{E21F74A5-B735-0F8D-63A1-E20BB85ED4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8664051" y="3313433"/>
            <a:ext cx="1507122" cy="5569131"/>
          </a:xfrm>
          <a:prstGeom prst="rect">
            <a:avLst/>
          </a:prstGeom>
          <a:gradFill>
            <a:gsLst>
              <a:gs pos="36000">
                <a:schemeClr val="accent5">
                  <a:alpha val="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1" name="Rectangle 1040">
            <a:extLst>
              <a:ext uri="{FF2B5EF4-FFF2-40B4-BE49-F238E27FC236}">
                <a16:creationId xmlns:a16="http://schemas.microsoft.com/office/drawing/2014/main" id="{3273C44B-6EE9-7C41-FEF8-3D8C4AE581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V="1">
            <a:off x="3931710" y="1413054"/>
            <a:ext cx="1519355" cy="9382775"/>
          </a:xfrm>
          <a:prstGeom prst="rect">
            <a:avLst/>
          </a:prstGeom>
          <a:gradFill>
            <a:gsLst>
              <a:gs pos="19000">
                <a:schemeClr val="accent5">
                  <a:lumMod val="60000"/>
                  <a:lumOff val="40000"/>
                  <a:alpha val="0"/>
                </a:schemeClr>
              </a:gs>
              <a:gs pos="100000">
                <a:schemeClr val="accent5">
                  <a:lumMod val="75000"/>
                </a:schemeClr>
              </a:gs>
            </a:gsLst>
            <a:lin ang="9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0B88DE-048D-4252-E7C5-79E1007279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6217" y="5595614"/>
            <a:ext cx="12208393" cy="913975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pPr algn="ctr"/>
            <a:r>
              <a:rPr lang="en-US" sz="3200" b="1" kern="1200" dirty="0">
                <a:highlight>
                  <a:srgbClr val="FFFF00"/>
                </a:highlight>
                <a:latin typeface="+mj-lt"/>
                <a:ea typeface="+mj-ea"/>
                <a:cs typeface="+mj-cs"/>
              </a:rPr>
              <a:t>PHOTO COLLAGE #2</a:t>
            </a:r>
            <a:br>
              <a:rPr lang="en-US" sz="3200" b="1" kern="1200" dirty="0">
                <a:highlight>
                  <a:srgbClr val="FFFF00"/>
                </a:highlight>
                <a:latin typeface="+mj-lt"/>
                <a:ea typeface="+mj-ea"/>
                <a:cs typeface="+mj-cs"/>
              </a:rPr>
            </a:br>
            <a:r>
              <a:rPr lang="en-US" sz="3200" b="1" kern="1200" dirty="0">
                <a:highlight>
                  <a:srgbClr val="FFFF00"/>
                </a:highlight>
                <a:latin typeface="+mj-lt"/>
                <a:ea typeface="+mj-ea"/>
                <a:cs typeface="+mj-cs"/>
              </a:rPr>
              <a:t>Location: Kuwait</a:t>
            </a:r>
          </a:p>
        </p:txBody>
      </p:sp>
      <p:pic>
        <p:nvPicPr>
          <p:cNvPr id="1028" name="Picture 4" descr="Image: huge sand storm engulfs the Saudi capital of Riyadh">
            <a:extLst>
              <a:ext uri="{FF2B5EF4-FFF2-40B4-BE49-F238E27FC236}">
                <a16:creationId xmlns:a16="http://schemas.microsoft.com/office/drawing/2014/main" id="{55F5CDB8-26B8-FEAF-6743-9ABD95082C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945" r="1" b="1"/>
          <a:stretch/>
        </p:blipFill>
        <p:spPr bwMode="auto">
          <a:xfrm>
            <a:off x="-6217" y="2"/>
            <a:ext cx="9304716" cy="53447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eavy sandstorm engulfs Kuwait-Xinhua">
            <a:extLst>
              <a:ext uri="{FF2B5EF4-FFF2-40B4-BE49-F238E27FC236}">
                <a16:creationId xmlns:a16="http://schemas.microsoft.com/office/drawing/2014/main" id="{4B314C8D-0398-EC95-0200-63A6EA313D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28" r="2" b="374"/>
          <a:stretch/>
        </p:blipFill>
        <p:spPr bwMode="auto">
          <a:xfrm>
            <a:off x="9298805" y="10"/>
            <a:ext cx="2903808" cy="17998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Mideast in Pictures: Sandstorms hit Kuwait for 3 consecutive days - Xinhua  | English.news.cn">
            <a:extLst>
              <a:ext uri="{FF2B5EF4-FFF2-40B4-BE49-F238E27FC236}">
                <a16:creationId xmlns:a16="http://schemas.microsoft.com/office/drawing/2014/main" id="{A7014AB1-6F9C-DFB6-C1F1-B08E91F4D5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412" r="-1" b="-1"/>
          <a:stretch/>
        </p:blipFill>
        <p:spPr bwMode="auto">
          <a:xfrm>
            <a:off x="9298805" y="1798476"/>
            <a:ext cx="2903372" cy="17774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A huge sand storm engulfs the Saudi capital of Riyadh">
            <a:extLst>
              <a:ext uri="{FF2B5EF4-FFF2-40B4-BE49-F238E27FC236}">
                <a16:creationId xmlns:a16="http://schemas.microsoft.com/office/drawing/2014/main" id="{773F9FD2-3F8E-DE8A-BB5B-4408255C16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84" r="-6" b="-6"/>
          <a:stretch/>
        </p:blipFill>
        <p:spPr bwMode="auto">
          <a:xfrm>
            <a:off x="9298805" y="3567291"/>
            <a:ext cx="2903372" cy="17774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605552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Old Car and Rust by Danny Jones">
            <a:extLst>
              <a:ext uri="{FF2B5EF4-FFF2-40B4-BE49-F238E27FC236}">
                <a16:creationId xmlns:a16="http://schemas.microsoft.com/office/drawing/2014/main" id="{22CC85EC-BCBA-45BB-AF65-1B4A1200D0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10B88DE-048D-4252-E7C5-79E1007279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808074"/>
          </a:xfrm>
        </p:spPr>
        <p:txBody>
          <a:bodyPr/>
          <a:lstStyle/>
          <a:p>
            <a:pPr algn="ctr"/>
            <a:r>
              <a:rPr lang="en-US" b="1" dirty="0">
                <a:highlight>
                  <a:srgbClr val="FFFF00"/>
                </a:highlight>
              </a:rPr>
              <a:t>PHOTO #3</a:t>
            </a:r>
          </a:p>
        </p:txBody>
      </p:sp>
    </p:spTree>
    <p:extLst>
      <p:ext uri="{BB962C8B-B14F-4D97-AF65-F5344CB8AC3E}">
        <p14:creationId xmlns:p14="http://schemas.microsoft.com/office/powerpoint/2010/main" val="25703471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1" y="228600"/>
            <a:ext cx="12192000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96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STATION 4: </a:t>
            </a: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68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Weathering or Not?</a:t>
            </a:r>
            <a:endParaRPr kumimoji="0" lang="en-US" altLang="en-US" sz="6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pic>
        <p:nvPicPr>
          <p:cNvPr id="5" name="Picture 7" descr="http://www.google.com/url?source=imgres&amp;ct=tbn&amp;q=http://img4.allyou.com/i/2010/06/alka-seltzer-l.jpg%3F400:400&amp;sa=X&amp;ei=RMLLToTADIT10gHS-vn-Dw&amp;ved=0CAUQ8wc4iwI&amp;usg=AFQjCNG1R4JUr21hslwL_RQpT7LYf_9OjQ"/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rgbClr val="7030A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65419" y="2844701"/>
            <a:ext cx="3942644" cy="40132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689065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2805545" y="228600"/>
            <a:ext cx="9386455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66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STATION 4: Weathering or Not?</a:t>
            </a:r>
            <a:endParaRPr kumimoji="0" lang="en-US" altLang="en-US" sz="6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pic>
        <p:nvPicPr>
          <p:cNvPr id="7169" name="Picture 7" descr="http://www.google.com/url?source=imgres&amp;ct=tbn&amp;q=http://img4.allyou.com/i/2010/06/alka-seltzer-l.jpg%3F400:400&amp;sa=X&amp;ei=RMLLToTADIT10gHS-vn-Dw&amp;ved=0CAUQ8wc4iwI&amp;usg=AFQjCNG1R4JUr21hslwL_RQpT7LYf_9OjQ"/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rgbClr val="7030A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3517"/>
            <a:ext cx="2929689" cy="29821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238991" y="2124781"/>
            <a:ext cx="12084627" cy="48320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sng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MATERIALS:</a:t>
            </a: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rgbClr val="7030A0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2 Alka Seltzer tablets</a:t>
            </a:r>
            <a:endParaRPr kumimoji="0" lang="en-US" altLang="en-US" i="0" u="none" strike="noStrike" cap="none" normalizeH="0" baseline="0" dirty="0">
              <a:ln>
                <a:noFill/>
              </a:ln>
              <a:solidFill>
                <a:srgbClr val="7030A0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2 Cups </a:t>
            </a:r>
            <a:endParaRPr kumimoji="0" lang="en-US" altLang="en-US" i="0" u="none" strike="noStrike" cap="none" normalizeH="0" baseline="0" dirty="0">
              <a:ln>
                <a:noFill/>
              </a:ln>
              <a:solidFill>
                <a:srgbClr val="7030A0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2 stop watches</a:t>
            </a:r>
            <a:endParaRPr kumimoji="0" lang="en-US" altLang="en-US" i="0" u="none" strike="noStrike" cap="none" normalizeH="0" baseline="0" dirty="0">
              <a:ln>
                <a:noFill/>
              </a:ln>
              <a:solidFill>
                <a:srgbClr val="7030A0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1 hot pot of water (be careful)</a:t>
            </a:r>
            <a:endParaRPr kumimoji="0" lang="en-US" altLang="en-US" i="0" u="none" strike="noStrike" cap="none" normalizeH="0" baseline="0" dirty="0">
              <a:ln>
                <a:noFill/>
              </a:ln>
              <a:solidFill>
                <a:srgbClr val="7030A0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1 cup of room temperature water</a:t>
            </a:r>
            <a:endParaRPr kumimoji="0" lang="en-US" altLang="en-US" i="0" u="none" strike="noStrike" cap="none" normalizeH="0" baseline="0" dirty="0">
              <a:ln>
                <a:noFill/>
              </a:ln>
              <a:solidFill>
                <a:srgbClr val="7030A0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DIRECTIONS: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Fill up each labeled cup. One with tap water, the other with hot water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(be careful)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2. Open the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alka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seltzer package.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3. Take both tablets out whole.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4. Drop 1 tablet in the room temperature cup and start timing.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5. Drop the second tablet in the hot cup and start timing.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6. Stop timing each cup once its tablet has fully dissolved.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7. Record the data.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8. Dump out the cups.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9. Answer the questions.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07652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1" y="228600"/>
            <a:ext cx="12192000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96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STATION 5: </a:t>
            </a: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68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The Race is On!</a:t>
            </a:r>
            <a:endParaRPr kumimoji="0" lang="en-US" altLang="en-US" sz="6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pic>
        <p:nvPicPr>
          <p:cNvPr id="7" name="main-img" descr="Image Detail">
            <a:hlinkClick r:id="rId2" tgtFrame="_top"/>
          </p:cNvPr>
          <p:cNvPicPr/>
          <p:nvPr/>
        </p:nvPicPr>
        <p:blipFill>
          <a:blip r:embed="rId3" cstate="print">
            <a:duotone>
              <a:prstClr val="black"/>
              <a:srgbClr val="FF0000">
                <a:tint val="45000"/>
                <a:satMod val="400000"/>
              </a:srgbClr>
            </a:duotone>
          </a:blip>
          <a:srcRect/>
          <a:stretch>
            <a:fillRect/>
          </a:stretch>
        </p:blipFill>
        <p:spPr bwMode="auto">
          <a:xfrm>
            <a:off x="3737897" y="2709905"/>
            <a:ext cx="4283885" cy="40649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1006086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2805545" y="228600"/>
            <a:ext cx="9386455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66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STATION 5:</a:t>
            </a: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6600" b="1" u="sng" dirty="0">
                <a:latin typeface="Courier New" panose="02070309020205020404" pitchFamily="49" charset="0"/>
                <a:cs typeface="Courier New" panose="02070309020205020404" pitchFamily="49" charset="0"/>
              </a:rPr>
              <a:t>The Race is On!</a:t>
            </a:r>
            <a:endParaRPr kumimoji="0" lang="en-US" altLang="en-US" sz="6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238991" y="2648003"/>
            <a:ext cx="12084627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 b="1" u="sng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MATERIALS:</a:t>
            </a: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algn="ctr"/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 wooden cars</a:t>
            </a:r>
          </a:p>
          <a:p>
            <a:pPr algn="ctr"/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 different sloped ramps</a:t>
            </a:r>
          </a:p>
          <a:p>
            <a:pPr algn="ctr"/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 stop watches</a:t>
            </a:r>
          </a:p>
          <a:p>
            <a:r>
              <a:rPr 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endParaRPr lang="en-US" sz="2000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b="1" u="sng" dirty="0">
                <a:latin typeface="Courier New" panose="02070309020205020404" pitchFamily="49" charset="0"/>
                <a:cs typeface="Courier New" panose="02070309020205020404" pitchFamily="49" charset="0"/>
              </a:rPr>
              <a:t>DIRECTIONS:</a:t>
            </a: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1. Assign each partner a ramp and a stop watch.</a:t>
            </a:r>
          </a:p>
          <a:p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2. Record the time it took the car to travel from the bottom of the ramp until the “finish line”.</a:t>
            </a:r>
          </a:p>
          <a:p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3. Do this for each ramp 3 times.</a:t>
            </a:r>
          </a:p>
          <a:p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4. Find the average of each ramp’s race time.</a:t>
            </a:r>
          </a:p>
          <a:p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5. Answer the questions.</a:t>
            </a:r>
          </a:p>
        </p:txBody>
      </p:sp>
      <p:pic>
        <p:nvPicPr>
          <p:cNvPr id="8" name="main-img" descr="Image Detail">
            <a:hlinkClick r:id="rId2" tgtFrame="_top"/>
          </p:cNvPr>
          <p:cNvPicPr/>
          <p:nvPr/>
        </p:nvPicPr>
        <p:blipFill>
          <a:blip r:embed="rId3" cstate="print">
            <a:duotone>
              <a:prstClr val="black"/>
              <a:srgbClr val="FF0000">
                <a:tint val="45000"/>
                <a:satMod val="400000"/>
              </a:srgbClr>
            </a:duotone>
          </a:blip>
          <a:srcRect/>
          <a:stretch>
            <a:fillRect/>
          </a:stretch>
        </p:blipFill>
        <p:spPr bwMode="auto">
          <a:xfrm>
            <a:off x="111470" y="132960"/>
            <a:ext cx="3359093" cy="39610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4646254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83127" y="228600"/>
            <a:ext cx="12108873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96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STATION 6:</a:t>
            </a: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6600" b="1" u="sng" dirty="0">
                <a:latin typeface="Courier New" panose="02070309020205020404" pitchFamily="49" charset="0"/>
                <a:cs typeface="Courier New" panose="02070309020205020404" pitchFamily="49" charset="0"/>
              </a:rPr>
              <a:t>Observation/Inference B</a:t>
            </a:r>
            <a:endParaRPr kumimoji="0" lang="en-US" altLang="en-US" sz="6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pic>
        <p:nvPicPr>
          <p:cNvPr id="9" name="Picture 8" descr="http://www.google.com/url?source=imgres&amp;ct=tbn&amp;q=http://www.clipartpal.com/_thumbs/pd/digital_camera_1.png&amp;sa=X&amp;ei=L8bLTtWMDofo0QGkocEL&amp;ved=0CAUQ8wc4DA&amp;usg=AFQjCNFzdlimQ_rKz4HXSFeQ80m1tXriMw"/>
          <p:cNvPicPr/>
          <p:nvPr/>
        </p:nvPicPr>
        <p:blipFill>
          <a:blip r:embed="rId2" cstate="print">
            <a:duotone>
              <a:schemeClr val="accent4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3904587" y="3492460"/>
            <a:ext cx="3898986" cy="35182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7530187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2805545" y="228600"/>
            <a:ext cx="9386455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66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STATION 6:</a:t>
            </a: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6600" b="1" u="sng" dirty="0">
                <a:latin typeface="Courier New" panose="02070309020205020404" pitchFamily="49" charset="0"/>
                <a:cs typeface="Courier New" panose="02070309020205020404" pitchFamily="49" charset="0"/>
              </a:rPr>
              <a:t>Observation/</a:t>
            </a: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6600" b="1" u="sng" dirty="0">
                <a:latin typeface="Courier New" panose="02070309020205020404" pitchFamily="49" charset="0"/>
                <a:cs typeface="Courier New" panose="02070309020205020404" pitchFamily="49" charset="0"/>
              </a:rPr>
              <a:t>Inference B</a:t>
            </a:r>
            <a:endParaRPr kumimoji="0" lang="en-US" altLang="en-US" sz="6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259772" y="3696177"/>
            <a:ext cx="12084627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 b="1" u="sng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MATERIALS:</a:t>
            </a:r>
            <a:endParaRPr lang="en-US" sz="2000" dirty="0">
              <a:solidFill>
                <a:schemeClr val="accent4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r>
              <a:rPr lang="en-US" sz="2000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 weathering images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b="1" u="sng" dirty="0">
                <a:latin typeface="Courier New" panose="02070309020205020404" pitchFamily="49" charset="0"/>
                <a:cs typeface="Courier New" panose="02070309020205020404" pitchFamily="49" charset="0"/>
              </a:rPr>
              <a:t>DIRECTIONS:</a:t>
            </a: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1. Using each photograph, answer the questions that correspond to each photograph.</a:t>
            </a:r>
          </a:p>
          <a:p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2. Once you are done with the photograph, please put it back on the desk.</a:t>
            </a:r>
          </a:p>
        </p:txBody>
      </p:sp>
      <p:pic>
        <p:nvPicPr>
          <p:cNvPr id="9" name="Picture 8" descr="http://www.google.com/url?source=imgres&amp;ct=tbn&amp;q=http://www.clipartpal.com/_thumbs/pd/digital_camera_1.png&amp;sa=X&amp;ei=L8bLTtWMDofo0QGkocEL&amp;ved=0CAUQ8wc4DA&amp;usg=AFQjCNFzdlimQ_rKz4HXSFeQ80m1tXriMw"/>
          <p:cNvPicPr/>
          <p:nvPr/>
        </p:nvPicPr>
        <p:blipFill>
          <a:blip r:embed="rId2" cstate="print">
            <a:duotone>
              <a:schemeClr val="accent4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132687" y="53069"/>
            <a:ext cx="3898986" cy="35182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5824849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>
            <a:extLst>
              <a:ext uri="{FF2B5EF4-FFF2-40B4-BE49-F238E27FC236}">
                <a16:creationId xmlns:a16="http://schemas.microsoft.com/office/drawing/2014/main" id="{4FF2B380-1BD4-A0D6-44B8-48D71B840A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12192000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10B88DE-048D-4252-E7C5-79E1007279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124355"/>
            <a:ext cx="10515600" cy="808074"/>
          </a:xfrm>
        </p:spPr>
        <p:txBody>
          <a:bodyPr/>
          <a:lstStyle/>
          <a:p>
            <a:pPr algn="ctr"/>
            <a:r>
              <a:rPr lang="en-US" b="1" dirty="0">
                <a:highlight>
                  <a:srgbClr val="FFFF00"/>
                </a:highlight>
              </a:rPr>
              <a:t>PHOTO #4</a:t>
            </a:r>
          </a:p>
        </p:txBody>
      </p:sp>
    </p:spTree>
    <p:extLst>
      <p:ext uri="{BB962C8B-B14F-4D97-AF65-F5344CB8AC3E}">
        <p14:creationId xmlns:p14="http://schemas.microsoft.com/office/powerpoint/2010/main" val="32356169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Dating Stalactites and Stalagmites: Creationism or Evolution – The TRUTH  SOURCE">
            <a:extLst>
              <a:ext uri="{FF2B5EF4-FFF2-40B4-BE49-F238E27FC236}">
                <a16:creationId xmlns:a16="http://schemas.microsoft.com/office/drawing/2014/main" id="{887AEDEC-EF01-9F84-D6D2-C453614BD7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10B88DE-048D-4252-E7C5-79E1007279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808074"/>
          </a:xfrm>
        </p:spPr>
        <p:txBody>
          <a:bodyPr/>
          <a:lstStyle/>
          <a:p>
            <a:pPr algn="ctr"/>
            <a:r>
              <a:rPr lang="en-US" b="1" dirty="0">
                <a:highlight>
                  <a:srgbClr val="FFFF00"/>
                </a:highlight>
              </a:rPr>
              <a:t>PHOTO #5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14B81A72-E308-F88B-7054-D86C2CA8C34C}"/>
              </a:ext>
            </a:extLst>
          </p:cNvPr>
          <p:cNvSpPr txBox="1">
            <a:spLocks/>
          </p:cNvSpPr>
          <p:nvPr/>
        </p:nvSpPr>
        <p:spPr>
          <a:xfrm>
            <a:off x="1031358" y="1481471"/>
            <a:ext cx="2169042" cy="80807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9000" b="1" dirty="0">
                <a:solidFill>
                  <a:schemeClr val="bg1"/>
                </a:solidFill>
                <a:latin typeface="Amasis MT Pro Black" panose="02040A04050005020304" pitchFamily="18" charset="0"/>
              </a:rPr>
              <a:t>1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B8FD885-304B-DB2E-7618-BFA5BE50F679}"/>
              </a:ext>
            </a:extLst>
          </p:cNvPr>
          <p:cNvSpPr txBox="1">
            <a:spLocks/>
          </p:cNvSpPr>
          <p:nvPr/>
        </p:nvSpPr>
        <p:spPr>
          <a:xfrm>
            <a:off x="6096000" y="4238848"/>
            <a:ext cx="2169042" cy="80807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9000" b="1" dirty="0">
                <a:solidFill>
                  <a:schemeClr val="bg1"/>
                </a:solidFill>
                <a:latin typeface="Amasis MT Pro Black" panose="02040A04050005020304" pitchFamily="18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0992734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Addressing the perennial plague of potholes | Roads and Bridges">
            <a:extLst>
              <a:ext uri="{FF2B5EF4-FFF2-40B4-BE49-F238E27FC236}">
                <a16:creationId xmlns:a16="http://schemas.microsoft.com/office/drawing/2014/main" id="{C3AEF45D-653E-5DA1-0048-FA18D6066C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12192000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10B88DE-048D-4252-E7C5-79E1007279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049925"/>
            <a:ext cx="10515600" cy="808074"/>
          </a:xfrm>
        </p:spPr>
        <p:txBody>
          <a:bodyPr/>
          <a:lstStyle/>
          <a:p>
            <a:pPr algn="ctr"/>
            <a:r>
              <a:rPr lang="en-US" b="1" dirty="0">
                <a:highlight>
                  <a:srgbClr val="FFFF00"/>
                </a:highlight>
              </a:rPr>
              <a:t>PHOTO #6</a:t>
            </a:r>
          </a:p>
        </p:txBody>
      </p:sp>
    </p:spTree>
    <p:extLst>
      <p:ext uri="{BB962C8B-B14F-4D97-AF65-F5344CB8AC3E}">
        <p14:creationId xmlns:p14="http://schemas.microsoft.com/office/powerpoint/2010/main" val="5302685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2805545" y="228600"/>
            <a:ext cx="9386455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66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STATION 7:</a:t>
            </a: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6600" b="1" u="sng" dirty="0">
                <a:latin typeface="Courier New" panose="02070309020205020404" pitchFamily="49" charset="0"/>
                <a:cs typeface="Courier New" panose="02070309020205020404" pitchFamily="49" charset="0"/>
              </a:rPr>
              <a:t>Vocabulary/</a:t>
            </a: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6600" b="1" u="sng" dirty="0">
                <a:latin typeface="Courier New" panose="02070309020205020404" pitchFamily="49" charset="0"/>
                <a:cs typeface="Courier New" panose="02070309020205020404" pitchFamily="49" charset="0"/>
              </a:rPr>
              <a:t>Relationships</a:t>
            </a:r>
            <a:endParaRPr kumimoji="0" lang="en-US" altLang="en-US" sz="6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259772" y="3696179"/>
            <a:ext cx="12084627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 b="1" u="sng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MATERIALS:</a:t>
            </a:r>
            <a:endParaRPr lang="en-US" sz="2000" dirty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r>
              <a:rPr lang="en-US" sz="20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Textbooks/review books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b="1" u="sng" dirty="0">
                <a:latin typeface="Courier New" panose="02070309020205020404" pitchFamily="49" charset="0"/>
                <a:cs typeface="Courier New" panose="02070309020205020404" pitchFamily="49" charset="0"/>
              </a:rPr>
              <a:t>DIRECTIONS:</a:t>
            </a: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1. Using your notes and books, define the vocabulary words.</a:t>
            </a:r>
          </a:p>
          <a:p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2. Using your knowledge regarding weathering, draw and label </a:t>
            </a:r>
          </a:p>
          <a:p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each relationship trend.</a:t>
            </a:r>
          </a:p>
        </p:txBody>
      </p:sp>
      <p:pic>
        <p:nvPicPr>
          <p:cNvPr id="8" name="Picture 7" descr="http://www.google.com/url?source=imgres&amp;ct=tbn&amp;q=http://www.horton.ednet.ns.ca/staff/webb/geology/8Weathering%2520to%2520Soils/ig%2520rx%2520weathering.jpg&amp;sa=X&amp;ei=JNXLTqqsG4Hg0QGKxoxF&amp;ved=0CAUQ8wc4Iw&amp;usg=AFQjCNFeRigbO3AasuwZ6xp_WyYVUlxsew"/>
          <p:cNvPicPr/>
          <p:nvPr/>
        </p:nvPicPr>
        <p:blipFill>
          <a:blip r:embed="rId2" cstate="print">
            <a:duotone>
              <a:prstClr val="black"/>
              <a:schemeClr val="accent5"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 bwMode="auto">
          <a:xfrm>
            <a:off x="-1" y="-1"/>
            <a:ext cx="4052455" cy="3948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42330535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1" y="228600"/>
            <a:ext cx="121920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96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STATION 7:</a:t>
            </a: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6400" b="1" u="sng" dirty="0">
                <a:latin typeface="Courier New" panose="02070309020205020404" pitchFamily="49" charset="0"/>
                <a:cs typeface="Courier New" panose="02070309020205020404" pitchFamily="49" charset="0"/>
              </a:rPr>
              <a:t>Vocabulary/Relationships</a:t>
            </a:r>
            <a:endParaRPr kumimoji="0" lang="en-US" altLang="en-US" sz="6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pic>
        <p:nvPicPr>
          <p:cNvPr id="8" name="Picture 7" descr="http://www.google.com/url?source=imgres&amp;ct=tbn&amp;q=http://www.horton.ednet.ns.ca/staff/webb/geology/8Weathering%2520to%2520Soils/ig%2520rx%2520weathering.jpg&amp;sa=X&amp;ei=JNXLTqqsG4Hg0QGKxoxF&amp;ved=0CAUQ8wc4Iw&amp;usg=AFQjCNFeRigbO3AasuwZ6xp_WyYVUlxsew"/>
          <p:cNvPicPr/>
          <p:nvPr/>
        </p:nvPicPr>
        <p:blipFill>
          <a:blip r:embed="rId2" cstate="print">
            <a:duotone>
              <a:prstClr val="black"/>
              <a:schemeClr val="accent5"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 bwMode="auto">
          <a:xfrm>
            <a:off x="3782290" y="2795153"/>
            <a:ext cx="4052455" cy="3948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9557566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1" y="228600"/>
            <a:ext cx="12192000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96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STATION 8: </a:t>
            </a: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68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Observation/Inference</a:t>
            </a:r>
            <a:r>
              <a:rPr kumimoji="0" lang="en-US" altLang="en-US" sz="6800" b="1" i="0" u="sng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altLang="en-US" sz="6800" b="1" u="sng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C</a:t>
            </a:r>
            <a:endParaRPr kumimoji="0" lang="en-US" altLang="en-US" sz="6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duotone>
              <a:prstClr val="black"/>
              <a:srgbClr val="FF33CC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6654" y="2710296"/>
            <a:ext cx="4977245" cy="4147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70660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4239491" y="228600"/>
            <a:ext cx="7952509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66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STATION 8: Observation/</a:t>
            </a: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66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Inference C</a:t>
            </a:r>
            <a:endParaRPr kumimoji="0" lang="en-US" altLang="en-US" sz="6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" name="Rectangle 3"/>
          <p:cNvSpPr>
            <a:spLocks noChangeArrowheads="1"/>
          </p:cNvSpPr>
          <p:nvPr/>
        </p:nvSpPr>
        <p:spPr bwMode="auto">
          <a:xfrm>
            <a:off x="214745" y="3318570"/>
            <a:ext cx="11762510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sng" strike="noStrike" cap="none" normalizeH="0" baseline="0" dirty="0">
                <a:ln>
                  <a:noFill/>
                </a:ln>
                <a:solidFill>
                  <a:srgbClr val="FF33CC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MATERIALS: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FF33CC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rgbClr val="FF33CC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FF33CC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3 weathering images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FF33CC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DIRECTIONS: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1. Using each photograph, answer the questions that correspond to each photograph.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2. Once you are done with the photograph, please put it back on the desk.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duotone>
              <a:prstClr val="black"/>
              <a:srgbClr val="FF33CC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745" y="55186"/>
            <a:ext cx="4457700" cy="3714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719136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83127" y="228600"/>
            <a:ext cx="12108873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96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STATION 8:</a:t>
            </a: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6600" b="1" u="sng" dirty="0">
                <a:latin typeface="Courier New" panose="02070309020205020404" pitchFamily="49" charset="0"/>
                <a:cs typeface="Courier New" panose="02070309020205020404" pitchFamily="49" charset="0"/>
              </a:rPr>
              <a:t>Observation/Inference C</a:t>
            </a:r>
            <a:endParaRPr kumimoji="0" lang="en-US" altLang="en-US" sz="6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pic>
        <p:nvPicPr>
          <p:cNvPr id="1026" name="Picture 2" descr="Image result for camera clipart">
            <a:extLst>
              <a:ext uri="{FF2B5EF4-FFF2-40B4-BE49-F238E27FC236}">
                <a16:creationId xmlns:a16="http://schemas.microsoft.com/office/drawing/2014/main" id="{97B13D18-DF20-4AC0-B23E-EDA8A200A7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2446" y="2813923"/>
            <a:ext cx="4827107" cy="40280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882081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6" name="Picture 4" descr="weathered | this is one of a pair of magnificent bronze lion… | Flickr">
            <a:extLst>
              <a:ext uri="{FF2B5EF4-FFF2-40B4-BE49-F238E27FC236}">
                <a16:creationId xmlns:a16="http://schemas.microsoft.com/office/drawing/2014/main" id="{D6EF5780-1833-DAE1-4969-2DAF844A85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1999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10B88DE-048D-4252-E7C5-79E1007279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124355"/>
            <a:ext cx="10515600" cy="808074"/>
          </a:xfrm>
        </p:spPr>
        <p:txBody>
          <a:bodyPr/>
          <a:lstStyle/>
          <a:p>
            <a:pPr algn="ctr"/>
            <a:r>
              <a:rPr lang="en-US" b="1" dirty="0">
                <a:highlight>
                  <a:srgbClr val="FFFF00"/>
                </a:highlight>
              </a:rPr>
              <a:t>PHOTO #7</a:t>
            </a:r>
          </a:p>
        </p:txBody>
      </p:sp>
    </p:spTree>
    <p:extLst>
      <p:ext uri="{BB962C8B-B14F-4D97-AF65-F5344CB8AC3E}">
        <p14:creationId xmlns:p14="http://schemas.microsoft.com/office/powerpoint/2010/main" val="332449744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2" name="Picture 4">
            <a:extLst>
              <a:ext uri="{FF2B5EF4-FFF2-40B4-BE49-F238E27FC236}">
                <a16:creationId xmlns:a16="http://schemas.microsoft.com/office/drawing/2014/main" id="{D29F09EA-9B4D-605E-FBCC-240873E88B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3586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10B88DE-048D-4252-E7C5-79E1007279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3917"/>
            <a:ext cx="10515600" cy="808074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highlight>
                  <a:srgbClr val="FFFF00"/>
                </a:highlight>
              </a:rPr>
              <a:t>PHOTO #8</a:t>
            </a:r>
            <a:br>
              <a:rPr lang="en-US" b="1" dirty="0">
                <a:highlight>
                  <a:srgbClr val="FFFF00"/>
                </a:highlight>
              </a:rPr>
            </a:br>
            <a:r>
              <a:rPr lang="en-US" b="1" dirty="0">
                <a:highlight>
                  <a:srgbClr val="FFFF00"/>
                </a:highlight>
              </a:rPr>
              <a:t>Guatemala</a:t>
            </a:r>
          </a:p>
        </p:txBody>
      </p:sp>
    </p:spTree>
    <p:extLst>
      <p:ext uri="{BB962C8B-B14F-4D97-AF65-F5344CB8AC3E}">
        <p14:creationId xmlns:p14="http://schemas.microsoft.com/office/powerpoint/2010/main" val="350426368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8" name="Picture 4" descr="Brazil, Petrópolis: deadly landslides, at least 100 fatalities |  Geoengineer.org">
            <a:extLst>
              <a:ext uri="{FF2B5EF4-FFF2-40B4-BE49-F238E27FC236}">
                <a16:creationId xmlns:a16="http://schemas.microsoft.com/office/drawing/2014/main" id="{A174E660-3DD8-2BC0-D0A8-6A9F640886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48856"/>
            <a:ext cx="12322894" cy="70068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10B88DE-048D-4252-E7C5-79E1007279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47907"/>
            <a:ext cx="10515600" cy="1084522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highlight>
                  <a:srgbClr val="FFFF00"/>
                </a:highlight>
              </a:rPr>
              <a:t>PHOTO #9</a:t>
            </a:r>
            <a:br>
              <a:rPr lang="en-US" b="1" dirty="0">
                <a:highlight>
                  <a:srgbClr val="FFFF00"/>
                </a:highlight>
              </a:rPr>
            </a:br>
            <a:r>
              <a:rPr lang="en-US" b="1" dirty="0">
                <a:highlight>
                  <a:srgbClr val="FFFF00"/>
                </a:highlight>
              </a:rPr>
              <a:t>Brazil</a:t>
            </a:r>
          </a:p>
        </p:txBody>
      </p:sp>
    </p:spTree>
    <p:extLst>
      <p:ext uri="{BB962C8B-B14F-4D97-AF65-F5344CB8AC3E}">
        <p14:creationId xmlns:p14="http://schemas.microsoft.com/office/powerpoint/2010/main" val="16919267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D16CC74870BC944B02857AF781BBE06" ma:contentTypeVersion="6" ma:contentTypeDescription="Create a new document." ma:contentTypeScope="" ma:versionID="94fd17610baa95e33031c4149d7bcbcd">
  <xsd:schema xmlns:xsd="http://www.w3.org/2001/XMLSchema" xmlns:xs="http://www.w3.org/2001/XMLSchema" xmlns:p="http://schemas.microsoft.com/office/2006/metadata/properties" xmlns:ns2="56503b0e-fd31-45b9-a56b-0d6c74c4c7e1" xmlns:ns3="9b4b7e20-709a-4cda-b52c-22b9ad2e8640" targetNamespace="http://schemas.microsoft.com/office/2006/metadata/properties" ma:root="true" ma:fieldsID="7cfca25ec38aea5239af917e1061ab0d" ns2:_="" ns3:_="">
    <xsd:import namespace="56503b0e-fd31-45b9-a56b-0d6c74c4c7e1"/>
    <xsd:import namespace="9b4b7e20-709a-4cda-b52c-22b9ad2e864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6503b0e-fd31-45b9-a56b-0d6c74c4c7e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b4b7e20-709a-4cda-b52c-22b9ad2e8640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DA72CC86-A537-493E-968B-E3150E3FB971}"/>
</file>

<file path=customXml/itemProps2.xml><?xml version="1.0" encoding="utf-8"?>
<ds:datastoreItem xmlns:ds="http://schemas.openxmlformats.org/officeDocument/2006/customXml" ds:itemID="{27DB8D03-595D-43A3-B72A-28E00273DC56}"/>
</file>

<file path=customXml/itemProps3.xml><?xml version="1.0" encoding="utf-8"?>
<ds:datastoreItem xmlns:ds="http://schemas.openxmlformats.org/officeDocument/2006/customXml" ds:itemID="{04436AF1-2526-4A74-8C5E-26A0DC5AB9F1}"/>
</file>

<file path=docProps/app.xml><?xml version="1.0" encoding="utf-8"?>
<Properties xmlns="http://schemas.openxmlformats.org/officeDocument/2006/extended-properties" xmlns:vt="http://schemas.openxmlformats.org/officeDocument/2006/docPropsVTypes">
  <TotalTime>72</TotalTime>
  <Words>778</Words>
  <Application>Microsoft Office PowerPoint</Application>
  <PresentationFormat>Widescreen</PresentationFormat>
  <Paragraphs>128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2" baseType="lpstr">
      <vt:lpstr>Amasis MT Pro Black</vt:lpstr>
      <vt:lpstr>Arial</vt:lpstr>
      <vt:lpstr>Calibri</vt:lpstr>
      <vt:lpstr>Calibri Light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PHOTO #1</vt:lpstr>
      <vt:lpstr>PHOTO COLLAGE #2 Location: Kuwait</vt:lpstr>
      <vt:lpstr>PHOTO #3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PHOTO #4</vt:lpstr>
      <vt:lpstr>PHOTO #5</vt:lpstr>
      <vt:lpstr>PHOTO #6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PHOTO #7</vt:lpstr>
      <vt:lpstr>PHOTO #8 Guatemala</vt:lpstr>
      <vt:lpstr>PHOTO #9 Brazil</vt:lpstr>
    </vt:vector>
  </TitlesOfParts>
  <Company>VSCHSD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Kerri Guzzardo</dc:creator>
  <cp:lastModifiedBy>Kerri Guzzardo</cp:lastModifiedBy>
  <cp:revision>5</cp:revision>
  <cp:lastPrinted>2019-11-18T19:41:46Z</cp:lastPrinted>
  <dcterms:created xsi:type="dcterms:W3CDTF">2015-11-18T13:43:54Z</dcterms:created>
  <dcterms:modified xsi:type="dcterms:W3CDTF">2024-08-06T12:59:47Z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0x010100AD16CC74870BC944B02857AF781BBE06</vt:lpwstr>
  </property>
</Properties>
</file>