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31"/>
  </p:notesMasterIdLst>
  <p:sldIdLst>
    <p:sldId id="256" r:id="rId5"/>
    <p:sldId id="258" r:id="rId6"/>
    <p:sldId id="257"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x="9509125" cy="7223125"/>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75">
          <p15:clr>
            <a:srgbClr val="747775"/>
          </p15:clr>
        </p15:guide>
        <p15:guide id="2" pos="299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D6884E-9DCC-0B8F-201E-859DF3A9CBA8}" v="1" dt="2024-04-18T14:37:05.315"/>
  </p1510:revLst>
</p1510:revInfo>
</file>

<file path=ppt/tableStyles.xml><?xml version="1.0" encoding="utf-8"?>
<a:tblStyleLst xmlns:a="http://schemas.openxmlformats.org/drawingml/2006/main" def="{1455F5BC-4023-4B6A-AF38-90DE3866AEF7}">
  <a:tblStyle styleId="{1455F5BC-4023-4B6A-AF38-90DE3866AE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275"/>
        <p:guide pos="2995"/>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k Alesia" userId="S::alesiaf@vschsd.org::113de431-70e5-457a-a169-4477dd192563" providerId="AD" clId="Web-{8DBEEDBD-7F1C-4C2B-C875-449A3CF1493B}"/>
    <pc:docChg chg="sldOrd">
      <pc:chgData name="Frank Alesia" userId="S::alesiaf@vschsd.org::113de431-70e5-457a-a169-4477dd192563" providerId="AD" clId="Web-{8DBEEDBD-7F1C-4C2B-C875-449A3CF1493B}" dt="2024-03-22T13:07:59.519" v="0"/>
      <pc:docMkLst>
        <pc:docMk/>
      </pc:docMkLst>
      <pc:sldChg chg="ord">
        <pc:chgData name="Frank Alesia" userId="S::alesiaf@vschsd.org::113de431-70e5-457a-a169-4477dd192563" providerId="AD" clId="Web-{8DBEEDBD-7F1C-4C2B-C875-449A3CF1493B}" dt="2024-03-22T13:07:59.519" v="0"/>
        <pc:sldMkLst>
          <pc:docMk/>
          <pc:sldMk cId="0" sldId="257"/>
        </pc:sldMkLst>
      </pc:sldChg>
    </pc:docChg>
  </pc:docChgLst>
  <pc:docChgLst>
    <pc:chgData name="Chris Bottjer" userId="S::bottjerc@vschsd.org::9ae3d6e9-bf25-41bd-a830-1217e9919412" providerId="AD" clId="Web-{37D6884E-9DCC-0B8F-201E-859DF3A9CBA8}"/>
    <pc:docChg chg="modSld">
      <pc:chgData name="Chris Bottjer" userId="S::bottjerc@vschsd.org::9ae3d6e9-bf25-41bd-a830-1217e9919412" providerId="AD" clId="Web-{37D6884E-9DCC-0B8F-201E-859DF3A9CBA8}" dt="2024-04-18T14:37:05.315" v="0"/>
      <pc:docMkLst>
        <pc:docMk/>
      </pc:docMkLst>
      <pc:sldChg chg="modSp">
        <pc:chgData name="Chris Bottjer" userId="S::bottjerc@vschsd.org::9ae3d6e9-bf25-41bd-a830-1217e9919412" providerId="AD" clId="Web-{37D6884E-9DCC-0B8F-201E-859DF3A9CBA8}" dt="2024-04-18T14:37:05.315" v="0"/>
        <pc:sldMkLst>
          <pc:docMk/>
          <pc:sldMk cId="0" sldId="272"/>
        </pc:sldMkLst>
        <pc:graphicFrameChg chg="mod modGraphic">
          <ac:chgData name="Chris Bottjer" userId="S::bottjerc@vschsd.org::9ae3d6e9-bf25-41bd-a830-1217e9919412" providerId="AD" clId="Web-{37D6884E-9DCC-0B8F-201E-859DF3A9CBA8}" dt="2024-04-18T14:37:05.315" v="0"/>
          <ac:graphicFrameMkLst>
            <pc:docMk/>
            <pc:sldMk cId="0" sldId="272"/>
            <ac:graphicFrameMk id="181"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72246" y="685800"/>
            <a:ext cx="45141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8a936759f0_0_572: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28a936759f0_0_5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8a936759f0_0_566: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8a936759f0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ed450b2f5f_0_0: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ed450b2f5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8a936759f0_0_583: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8a936759f0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8a936759f0_0_588: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8a936759f0_0_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8a936759f0_0_593: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8a936759f0_0_5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8a936759f0_0_624: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8a936759f0_0_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8a936759f0_0_629: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8a936759f0_0_6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28a936759f0_0_634: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28a936759f0_0_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8a936759f0_0_617: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8a936759f0_0_6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8a936759f0_0_666: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8a936759f0_0_6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8a936759f0_0_671: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8a936759f0_0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8a936759f0_0_676: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8a936759f0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8a936759f0_0_681: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8a936759f0_0_6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8a936759f0_0_715: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8a936759f0_0_7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8a936759f0_0_726: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8a936759f0_0_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eb87d573f9_0_41: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eb87d573f9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8a936759f0_0_731: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8a936759f0_0_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28a936759f0_0_753: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28a936759f0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8a936759f0_0_758: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8a936759f0_0_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8a936759f0_0_768: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8a936759f0_0_7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8a936759f0_0_763: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8a936759f0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8a936759f0_0_804: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8a936759f0_0_8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28a936759f0_0_832: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28a936759f0_0_8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8a936759f0_0_837: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8a936759f0_0_8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28a936759f0_0_842:notes"/>
          <p:cNvSpPr>
            <a:spLocks noGrp="1" noRot="1" noChangeAspect="1"/>
          </p:cNvSpPr>
          <p:nvPr>
            <p:ph type="sldImg" idx="2"/>
          </p:nvPr>
        </p:nvSpPr>
        <p:spPr>
          <a:xfrm>
            <a:off x="1171575" y="685800"/>
            <a:ext cx="45148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28a936759f0_0_8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24176" y="1045713"/>
            <a:ext cx="8861400" cy="2882700"/>
          </a:xfrm>
          <a:prstGeom prst="rect">
            <a:avLst/>
          </a:prstGeom>
        </p:spPr>
        <p:txBody>
          <a:bodyPr spcFirstLastPara="1" wrap="square" lIns="106325" tIns="106325" rIns="106325" bIns="106325" anchor="b" anchorCtr="0">
            <a:norm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11" name="Google Shape;11;p2"/>
          <p:cNvSpPr txBox="1">
            <a:spLocks noGrp="1"/>
          </p:cNvSpPr>
          <p:nvPr>
            <p:ph type="subTitle" idx="1"/>
          </p:nvPr>
        </p:nvSpPr>
        <p:spPr>
          <a:xfrm>
            <a:off x="324168" y="3980366"/>
            <a:ext cx="8861400" cy="1113000"/>
          </a:xfrm>
          <a:prstGeom prst="rect">
            <a:avLst/>
          </a:prstGeom>
        </p:spPr>
        <p:txBody>
          <a:bodyPr spcFirstLastPara="1" wrap="square" lIns="106325" tIns="106325" rIns="106325" bIns="106325" anchor="t" anchorCtr="0">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a:endParaRPr/>
          </a:p>
        </p:txBody>
      </p:sp>
      <p:sp>
        <p:nvSpPr>
          <p:cNvPr id="12" name="Google Shape;12;p2"/>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24168" y="3020745"/>
            <a:ext cx="8861400" cy="1182300"/>
          </a:xfrm>
          <a:prstGeom prst="rect">
            <a:avLst/>
          </a:prstGeom>
        </p:spPr>
        <p:txBody>
          <a:bodyPr spcFirstLastPara="1" wrap="square" lIns="106325" tIns="106325" rIns="106325" bIns="106325" anchor="ctr"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5" name="Google Shape;15;p3"/>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24168" y="625012"/>
            <a:ext cx="8861400" cy="804300"/>
          </a:xfrm>
          <a:prstGeom prst="rect">
            <a:avLst/>
          </a:prstGeom>
        </p:spPr>
        <p:txBody>
          <a:bodyPr spcFirstLastPara="1" wrap="square" lIns="106325" tIns="106325" rIns="106325" bIns="106325" anchor="t" anchorCtr="0">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18" name="Google Shape;18;p4"/>
          <p:cNvSpPr txBox="1">
            <a:spLocks noGrp="1"/>
          </p:cNvSpPr>
          <p:nvPr>
            <p:ph type="body" idx="1"/>
          </p:nvPr>
        </p:nvSpPr>
        <p:spPr>
          <a:xfrm>
            <a:off x="324168" y="1618585"/>
            <a:ext cx="8861400" cy="4798200"/>
          </a:xfrm>
          <a:prstGeom prst="rect">
            <a:avLst/>
          </a:prstGeom>
        </p:spPr>
        <p:txBody>
          <a:bodyPr spcFirstLastPara="1" wrap="square" lIns="106325" tIns="106325" rIns="106325" bIns="106325" anchor="t" anchorCtr="0">
            <a:normAutofit/>
          </a:bodyPr>
          <a:lstStyle>
            <a:lvl1pPr marL="457200" lvl="0" indent="-361950">
              <a:spcBef>
                <a:spcPts val="0"/>
              </a:spcBef>
              <a:spcAft>
                <a:spcPts val="0"/>
              </a:spcAft>
              <a:buSzPts val="21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19" name="Google Shape;19;p4"/>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24168" y="625012"/>
            <a:ext cx="8861400" cy="804300"/>
          </a:xfrm>
          <a:prstGeom prst="rect">
            <a:avLst/>
          </a:prstGeom>
        </p:spPr>
        <p:txBody>
          <a:bodyPr spcFirstLastPara="1" wrap="square" lIns="106325" tIns="106325" rIns="106325" bIns="106325" anchor="t" anchorCtr="0">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2" name="Google Shape;22;p5"/>
          <p:cNvSpPr txBox="1">
            <a:spLocks noGrp="1"/>
          </p:cNvSpPr>
          <p:nvPr>
            <p:ph type="body" idx="1"/>
          </p:nvPr>
        </p:nvSpPr>
        <p:spPr>
          <a:xfrm>
            <a:off x="324168" y="1618585"/>
            <a:ext cx="4159800" cy="4798200"/>
          </a:xfrm>
          <a:prstGeom prst="rect">
            <a:avLst/>
          </a:prstGeom>
        </p:spPr>
        <p:txBody>
          <a:bodyPr spcFirstLastPara="1" wrap="square" lIns="106325" tIns="106325" rIns="106325" bIns="1063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23" name="Google Shape;23;p5"/>
          <p:cNvSpPr txBox="1">
            <a:spLocks noGrp="1"/>
          </p:cNvSpPr>
          <p:nvPr>
            <p:ph type="body" idx="2"/>
          </p:nvPr>
        </p:nvSpPr>
        <p:spPr>
          <a:xfrm>
            <a:off x="5025691" y="1618585"/>
            <a:ext cx="4159800" cy="4798200"/>
          </a:xfrm>
          <a:prstGeom prst="rect">
            <a:avLst/>
          </a:prstGeom>
        </p:spPr>
        <p:txBody>
          <a:bodyPr spcFirstLastPara="1" wrap="square" lIns="106325" tIns="106325" rIns="106325" bIns="1063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24" name="Google Shape;24;p5"/>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24168" y="625012"/>
            <a:ext cx="8861400" cy="804300"/>
          </a:xfrm>
          <a:prstGeom prst="rect">
            <a:avLst/>
          </a:prstGeom>
        </p:spPr>
        <p:txBody>
          <a:bodyPr spcFirstLastPara="1" wrap="square" lIns="106325" tIns="106325" rIns="106325" bIns="106325" anchor="t" anchorCtr="0">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a:endParaRPr/>
          </a:p>
        </p:txBody>
      </p:sp>
      <p:sp>
        <p:nvSpPr>
          <p:cNvPr id="27" name="Google Shape;27;p6"/>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24168" y="780308"/>
            <a:ext cx="2920200" cy="1061100"/>
          </a:xfrm>
          <a:prstGeom prst="rect">
            <a:avLst/>
          </a:prstGeom>
        </p:spPr>
        <p:txBody>
          <a:bodyPr spcFirstLastPara="1" wrap="square" lIns="106325" tIns="106325" rIns="106325" bIns="106325" anchor="b" anchorCtr="0">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a:endParaRPr/>
          </a:p>
        </p:txBody>
      </p:sp>
      <p:sp>
        <p:nvSpPr>
          <p:cNvPr id="30" name="Google Shape;30;p7"/>
          <p:cNvSpPr txBox="1">
            <a:spLocks noGrp="1"/>
          </p:cNvSpPr>
          <p:nvPr>
            <p:ph type="body" idx="1"/>
          </p:nvPr>
        </p:nvSpPr>
        <p:spPr>
          <a:xfrm>
            <a:off x="324168" y="1951613"/>
            <a:ext cx="2920200" cy="4465500"/>
          </a:xfrm>
          <a:prstGeom prst="rect">
            <a:avLst/>
          </a:prstGeom>
        </p:spPr>
        <p:txBody>
          <a:bodyPr spcFirstLastPara="1" wrap="square" lIns="106325" tIns="106325" rIns="106325" bIns="106325" anchor="t" anchorCtr="0">
            <a:normAutofit/>
          </a:bodyPr>
          <a:lstStyle>
            <a:lvl1pPr marL="457200" lvl="0" indent="-317500">
              <a:spcBef>
                <a:spcPts val="0"/>
              </a:spcBef>
              <a:spcAft>
                <a:spcPts val="0"/>
              </a:spcAft>
              <a:buSzPts val="1400"/>
              <a:buChar char="●"/>
              <a:defRPr sz="1400"/>
            </a:lvl1pPr>
            <a:lvl2pPr marL="914400" lvl="1" indent="-317500">
              <a:spcBef>
                <a:spcPts val="0"/>
              </a:spcBef>
              <a:spcAft>
                <a:spcPts val="0"/>
              </a:spcAft>
              <a:buSzPts val="1400"/>
              <a:buChar char="○"/>
              <a:defRPr sz="1400"/>
            </a:lvl2pPr>
            <a:lvl3pPr marL="1371600" lvl="2" indent="-317500">
              <a:spcBef>
                <a:spcPts val="0"/>
              </a:spcBef>
              <a:spcAft>
                <a:spcPts val="0"/>
              </a:spcAft>
              <a:buSzPts val="1400"/>
              <a:buChar char="■"/>
              <a:defRPr sz="1400"/>
            </a:lvl3pPr>
            <a:lvl4pPr marL="1828800" lvl="3" indent="-317500">
              <a:spcBef>
                <a:spcPts val="0"/>
              </a:spcBef>
              <a:spcAft>
                <a:spcPts val="0"/>
              </a:spcAft>
              <a:buSzPts val="1400"/>
              <a:buChar char="●"/>
              <a:defRPr sz="1400"/>
            </a:lvl4pPr>
            <a:lvl5pPr marL="2286000" lvl="4" indent="-317500">
              <a:spcBef>
                <a:spcPts val="0"/>
              </a:spcBef>
              <a:spcAft>
                <a:spcPts val="0"/>
              </a:spcAft>
              <a:buSzPts val="1400"/>
              <a:buChar char="○"/>
              <a:defRPr sz="1400"/>
            </a:lvl5pPr>
            <a:lvl6pPr marL="2743200" lvl="5" indent="-317500">
              <a:spcBef>
                <a:spcPts val="0"/>
              </a:spcBef>
              <a:spcAft>
                <a:spcPts val="0"/>
              </a:spcAft>
              <a:buSzPts val="1400"/>
              <a:buChar char="■"/>
              <a:defRPr sz="1400"/>
            </a:lvl6pPr>
            <a:lvl7pPr marL="3200400" lvl="6" indent="-317500">
              <a:spcBef>
                <a:spcPts val="0"/>
              </a:spcBef>
              <a:spcAft>
                <a:spcPts val="0"/>
              </a:spcAft>
              <a:buSzPts val="1400"/>
              <a:buChar char="●"/>
              <a:defRPr sz="1400"/>
            </a:lvl7pPr>
            <a:lvl8pPr marL="3657600" lvl="7" indent="-317500">
              <a:spcBef>
                <a:spcPts val="0"/>
              </a:spcBef>
              <a:spcAft>
                <a:spcPts val="0"/>
              </a:spcAft>
              <a:buSzPts val="1400"/>
              <a:buChar char="○"/>
              <a:defRPr sz="1400"/>
            </a:lvl8pPr>
            <a:lvl9pPr marL="4114800" lvl="8" indent="-317500">
              <a:spcBef>
                <a:spcPts val="0"/>
              </a:spcBef>
              <a:spcAft>
                <a:spcPts val="0"/>
              </a:spcAft>
              <a:buSzPts val="1400"/>
              <a:buChar char="■"/>
              <a:defRPr sz="1400"/>
            </a:lvl9pPr>
          </a:lstStyle>
          <a:p>
            <a:endParaRPr/>
          </a:p>
        </p:txBody>
      </p:sp>
      <p:sp>
        <p:nvSpPr>
          <p:cNvPr id="31" name="Google Shape;31;p7"/>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509859" y="632210"/>
            <a:ext cx="6622500" cy="5745300"/>
          </a:xfrm>
          <a:prstGeom prst="rect">
            <a:avLst/>
          </a:prstGeom>
        </p:spPr>
        <p:txBody>
          <a:bodyPr spcFirstLastPara="1" wrap="square" lIns="106325" tIns="106325" rIns="106325" bIns="106325" anchor="ctr" anchorCtr="0">
            <a:normAutofit/>
          </a:bodyPr>
          <a:lstStyle>
            <a:lvl1pPr lvl="0">
              <a:spcBef>
                <a:spcPts val="0"/>
              </a:spcBef>
              <a:spcAft>
                <a:spcPts val="0"/>
              </a:spcAft>
              <a:buSzPts val="5500"/>
              <a:buNone/>
              <a:defRPr sz="5500"/>
            </a:lvl1pPr>
            <a:lvl2pPr lvl="1">
              <a:spcBef>
                <a:spcPts val="0"/>
              </a:spcBef>
              <a:spcAft>
                <a:spcPts val="0"/>
              </a:spcAft>
              <a:buSzPts val="5500"/>
              <a:buNone/>
              <a:defRPr sz="5500"/>
            </a:lvl2pPr>
            <a:lvl3pPr lvl="2">
              <a:spcBef>
                <a:spcPts val="0"/>
              </a:spcBef>
              <a:spcAft>
                <a:spcPts val="0"/>
              </a:spcAft>
              <a:buSzPts val="5500"/>
              <a:buNone/>
              <a:defRPr sz="5500"/>
            </a:lvl3pPr>
            <a:lvl4pPr lvl="3">
              <a:spcBef>
                <a:spcPts val="0"/>
              </a:spcBef>
              <a:spcAft>
                <a:spcPts val="0"/>
              </a:spcAft>
              <a:buSzPts val="5500"/>
              <a:buNone/>
              <a:defRPr sz="5500"/>
            </a:lvl4pPr>
            <a:lvl5pPr lvl="4">
              <a:spcBef>
                <a:spcPts val="0"/>
              </a:spcBef>
              <a:spcAft>
                <a:spcPts val="0"/>
              </a:spcAft>
              <a:buSzPts val="5500"/>
              <a:buNone/>
              <a:defRPr sz="5500"/>
            </a:lvl5pPr>
            <a:lvl6pPr lvl="5">
              <a:spcBef>
                <a:spcPts val="0"/>
              </a:spcBef>
              <a:spcAft>
                <a:spcPts val="0"/>
              </a:spcAft>
              <a:buSzPts val="5500"/>
              <a:buNone/>
              <a:defRPr sz="5500"/>
            </a:lvl6pPr>
            <a:lvl7pPr lvl="6">
              <a:spcBef>
                <a:spcPts val="0"/>
              </a:spcBef>
              <a:spcAft>
                <a:spcPts val="0"/>
              </a:spcAft>
              <a:buSzPts val="5500"/>
              <a:buNone/>
              <a:defRPr sz="5500"/>
            </a:lvl7pPr>
            <a:lvl8pPr lvl="7">
              <a:spcBef>
                <a:spcPts val="0"/>
              </a:spcBef>
              <a:spcAft>
                <a:spcPts val="0"/>
              </a:spcAft>
              <a:buSzPts val="5500"/>
              <a:buNone/>
              <a:defRPr sz="5500"/>
            </a:lvl8pPr>
            <a:lvl9pPr lvl="8">
              <a:spcBef>
                <a:spcPts val="0"/>
              </a:spcBef>
              <a:spcAft>
                <a:spcPts val="0"/>
              </a:spcAft>
              <a:buSzPts val="5500"/>
              <a:buNone/>
              <a:defRPr sz="5500"/>
            </a:lvl9pPr>
          </a:lstStyle>
          <a:p>
            <a:endParaRPr/>
          </a:p>
        </p:txBody>
      </p:sp>
      <p:sp>
        <p:nvSpPr>
          <p:cNvPr id="34" name="Google Shape;34;p8"/>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754875" y="-176"/>
            <a:ext cx="4755000" cy="7223700"/>
          </a:xfrm>
          <a:prstGeom prst="rect">
            <a:avLst/>
          </a:prstGeom>
          <a:solidFill>
            <a:schemeClr val="lt2"/>
          </a:solidFill>
          <a:ln>
            <a:noFill/>
          </a:ln>
        </p:spPr>
        <p:txBody>
          <a:bodyPr spcFirstLastPara="1" wrap="square" lIns="106325" tIns="106325" rIns="106325" bIns="1063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76120" y="1731923"/>
            <a:ext cx="4206900" cy="2081700"/>
          </a:xfrm>
          <a:prstGeom prst="rect">
            <a:avLst/>
          </a:prstGeom>
        </p:spPr>
        <p:txBody>
          <a:bodyPr spcFirstLastPara="1" wrap="square" lIns="106325" tIns="106325" rIns="106325" bIns="106325" anchor="b" anchorCtr="0">
            <a:normAutofit/>
          </a:bodyPr>
          <a:lstStyle>
            <a:lvl1pPr lvl="0" algn="ctr">
              <a:spcBef>
                <a:spcPts val="0"/>
              </a:spcBef>
              <a:spcAft>
                <a:spcPts val="0"/>
              </a:spcAft>
              <a:buSzPts val="4900"/>
              <a:buNone/>
              <a:defRPr sz="4900"/>
            </a:lvl1pPr>
            <a:lvl2pPr lvl="1" algn="ctr">
              <a:spcBef>
                <a:spcPts val="0"/>
              </a:spcBef>
              <a:spcAft>
                <a:spcPts val="0"/>
              </a:spcAft>
              <a:buSzPts val="4900"/>
              <a:buNone/>
              <a:defRPr sz="4900"/>
            </a:lvl2pPr>
            <a:lvl3pPr lvl="2" algn="ctr">
              <a:spcBef>
                <a:spcPts val="0"/>
              </a:spcBef>
              <a:spcAft>
                <a:spcPts val="0"/>
              </a:spcAft>
              <a:buSzPts val="4900"/>
              <a:buNone/>
              <a:defRPr sz="4900"/>
            </a:lvl3pPr>
            <a:lvl4pPr lvl="3" algn="ctr">
              <a:spcBef>
                <a:spcPts val="0"/>
              </a:spcBef>
              <a:spcAft>
                <a:spcPts val="0"/>
              </a:spcAft>
              <a:buSzPts val="4900"/>
              <a:buNone/>
              <a:defRPr sz="4900"/>
            </a:lvl4pPr>
            <a:lvl5pPr lvl="4" algn="ctr">
              <a:spcBef>
                <a:spcPts val="0"/>
              </a:spcBef>
              <a:spcAft>
                <a:spcPts val="0"/>
              </a:spcAft>
              <a:buSzPts val="4900"/>
              <a:buNone/>
              <a:defRPr sz="4900"/>
            </a:lvl5pPr>
            <a:lvl6pPr lvl="5" algn="ctr">
              <a:spcBef>
                <a:spcPts val="0"/>
              </a:spcBef>
              <a:spcAft>
                <a:spcPts val="0"/>
              </a:spcAft>
              <a:buSzPts val="4900"/>
              <a:buNone/>
              <a:defRPr sz="4900"/>
            </a:lvl6pPr>
            <a:lvl7pPr lvl="6" algn="ctr">
              <a:spcBef>
                <a:spcPts val="0"/>
              </a:spcBef>
              <a:spcAft>
                <a:spcPts val="0"/>
              </a:spcAft>
              <a:buSzPts val="4900"/>
              <a:buNone/>
              <a:defRPr sz="4900"/>
            </a:lvl7pPr>
            <a:lvl8pPr lvl="7" algn="ctr">
              <a:spcBef>
                <a:spcPts val="0"/>
              </a:spcBef>
              <a:spcAft>
                <a:spcPts val="0"/>
              </a:spcAft>
              <a:buSzPts val="4900"/>
              <a:buNone/>
              <a:defRPr sz="4900"/>
            </a:lvl8pPr>
            <a:lvl9pPr lvl="8" algn="ctr">
              <a:spcBef>
                <a:spcPts val="0"/>
              </a:spcBef>
              <a:spcAft>
                <a:spcPts val="0"/>
              </a:spcAft>
              <a:buSzPts val="4900"/>
              <a:buNone/>
              <a:defRPr sz="4900"/>
            </a:lvl9pPr>
          </a:lstStyle>
          <a:p>
            <a:endParaRPr/>
          </a:p>
        </p:txBody>
      </p:sp>
      <p:sp>
        <p:nvSpPr>
          <p:cNvPr id="38" name="Google Shape;38;p9"/>
          <p:cNvSpPr txBox="1">
            <a:spLocks noGrp="1"/>
          </p:cNvSpPr>
          <p:nvPr>
            <p:ph type="subTitle" idx="1"/>
          </p:nvPr>
        </p:nvSpPr>
        <p:spPr>
          <a:xfrm>
            <a:off x="276120" y="3936758"/>
            <a:ext cx="4206900" cy="1734600"/>
          </a:xfrm>
          <a:prstGeom prst="rect">
            <a:avLst/>
          </a:prstGeom>
        </p:spPr>
        <p:txBody>
          <a:bodyPr spcFirstLastPara="1" wrap="square" lIns="106325" tIns="106325" rIns="106325" bIns="1063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39" name="Google Shape;39;p9"/>
          <p:cNvSpPr txBox="1">
            <a:spLocks noGrp="1"/>
          </p:cNvSpPr>
          <p:nvPr>
            <p:ph type="body" idx="2"/>
          </p:nvPr>
        </p:nvSpPr>
        <p:spPr>
          <a:xfrm>
            <a:off x="5137075" y="1016922"/>
            <a:ext cx="3990600" cy="5189400"/>
          </a:xfrm>
          <a:prstGeom prst="rect">
            <a:avLst/>
          </a:prstGeom>
        </p:spPr>
        <p:txBody>
          <a:bodyPr spcFirstLastPara="1" wrap="square" lIns="106325" tIns="106325" rIns="106325" bIns="106325" anchor="ctr" anchorCtr="0">
            <a:normAutofit/>
          </a:bodyPr>
          <a:lstStyle>
            <a:lvl1pPr marL="457200" lvl="0" indent="-361950">
              <a:spcBef>
                <a:spcPts val="0"/>
              </a:spcBef>
              <a:spcAft>
                <a:spcPts val="0"/>
              </a:spcAft>
              <a:buSzPts val="2100"/>
              <a:buChar char="●"/>
              <a:defRPr/>
            </a:lvl1pPr>
            <a:lvl2pPr marL="914400" lvl="1" indent="-330200">
              <a:spcBef>
                <a:spcPts val="0"/>
              </a:spcBef>
              <a:spcAft>
                <a:spcPts val="0"/>
              </a:spcAft>
              <a:buSzPts val="1600"/>
              <a:buChar char="○"/>
              <a:defRPr/>
            </a:lvl2pPr>
            <a:lvl3pPr marL="1371600" lvl="2" indent="-330200">
              <a:spcBef>
                <a:spcPts val="0"/>
              </a:spcBef>
              <a:spcAft>
                <a:spcPts val="0"/>
              </a:spcAft>
              <a:buSzPts val="1600"/>
              <a:buChar char="■"/>
              <a:defRPr/>
            </a:lvl3pPr>
            <a:lvl4pPr marL="1828800" lvl="3" indent="-330200">
              <a:spcBef>
                <a:spcPts val="0"/>
              </a:spcBef>
              <a:spcAft>
                <a:spcPts val="0"/>
              </a:spcAft>
              <a:buSzPts val="1600"/>
              <a:buChar char="●"/>
              <a:defRPr/>
            </a:lvl4pPr>
            <a:lvl5pPr marL="2286000" lvl="4" indent="-330200">
              <a:spcBef>
                <a:spcPts val="0"/>
              </a:spcBef>
              <a:spcAft>
                <a:spcPts val="0"/>
              </a:spcAft>
              <a:buSzPts val="1600"/>
              <a:buChar char="○"/>
              <a:defRPr/>
            </a:lvl5pPr>
            <a:lvl6pPr marL="2743200" lvl="5" indent="-330200">
              <a:spcBef>
                <a:spcPts val="0"/>
              </a:spcBef>
              <a:spcAft>
                <a:spcPts val="0"/>
              </a:spcAft>
              <a:buSzPts val="1600"/>
              <a:buChar char="■"/>
              <a:defRPr/>
            </a:lvl6pPr>
            <a:lvl7pPr marL="3200400" lvl="6" indent="-330200">
              <a:spcBef>
                <a:spcPts val="0"/>
              </a:spcBef>
              <a:spcAft>
                <a:spcPts val="0"/>
              </a:spcAft>
              <a:buSzPts val="1600"/>
              <a:buChar char="●"/>
              <a:defRPr/>
            </a:lvl7pPr>
            <a:lvl8pPr marL="3657600" lvl="7" indent="-330200">
              <a:spcBef>
                <a:spcPts val="0"/>
              </a:spcBef>
              <a:spcAft>
                <a:spcPts val="0"/>
              </a:spcAft>
              <a:buSzPts val="1600"/>
              <a:buChar char="○"/>
              <a:defRPr/>
            </a:lvl8pPr>
            <a:lvl9pPr marL="4114800" lvl="8" indent="-330200">
              <a:spcBef>
                <a:spcPts val="0"/>
              </a:spcBef>
              <a:spcAft>
                <a:spcPts val="0"/>
              </a:spcAft>
              <a:buSzPts val="1600"/>
              <a:buChar char="■"/>
              <a:defRPr/>
            </a:lvl9pPr>
          </a:lstStyle>
          <a:p>
            <a:endParaRPr/>
          </a:p>
        </p:txBody>
      </p:sp>
      <p:sp>
        <p:nvSpPr>
          <p:cNvPr id="40" name="Google Shape;40;p9"/>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24168" y="5941599"/>
            <a:ext cx="6238800" cy="849900"/>
          </a:xfrm>
          <a:prstGeom prst="rect">
            <a:avLst/>
          </a:prstGeom>
        </p:spPr>
        <p:txBody>
          <a:bodyPr spcFirstLastPara="1" wrap="square" lIns="106325" tIns="106325" rIns="106325" bIns="106325" anchor="ctr" anchorCtr="0">
            <a:normAutofit/>
          </a:bodyPr>
          <a:lstStyle>
            <a:lvl1pPr marL="457200" lvl="0" indent="-228600">
              <a:lnSpc>
                <a:spcPct val="100000"/>
              </a:lnSpc>
              <a:spcBef>
                <a:spcPts val="0"/>
              </a:spcBef>
              <a:spcAft>
                <a:spcPts val="0"/>
              </a:spcAft>
              <a:buSzPts val="2100"/>
              <a:buNone/>
              <a:defRPr/>
            </a:lvl1pPr>
          </a:lstStyle>
          <a:p>
            <a:endParaRPr/>
          </a:p>
        </p:txBody>
      </p:sp>
      <p:sp>
        <p:nvSpPr>
          <p:cNvPr id="43" name="Google Shape;43;p10"/>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24168" y="1553489"/>
            <a:ext cx="8861400" cy="2757600"/>
          </a:xfrm>
          <a:prstGeom prst="rect">
            <a:avLst/>
          </a:prstGeom>
        </p:spPr>
        <p:txBody>
          <a:bodyPr spcFirstLastPara="1" wrap="square" lIns="106325" tIns="106325" rIns="106325" bIns="106325" anchor="b" anchorCtr="0">
            <a:normAutofit/>
          </a:bodyPr>
          <a:lstStyle>
            <a:lvl1pPr lvl="0" algn="ctr">
              <a:spcBef>
                <a:spcPts val="0"/>
              </a:spcBef>
              <a:spcAft>
                <a:spcPts val="0"/>
              </a:spcAft>
              <a:buSzPts val="13900"/>
              <a:buNone/>
              <a:defRPr sz="13900"/>
            </a:lvl1pPr>
            <a:lvl2pPr lvl="1" algn="ctr">
              <a:spcBef>
                <a:spcPts val="0"/>
              </a:spcBef>
              <a:spcAft>
                <a:spcPts val="0"/>
              </a:spcAft>
              <a:buSzPts val="13900"/>
              <a:buNone/>
              <a:defRPr sz="13900"/>
            </a:lvl2pPr>
            <a:lvl3pPr lvl="2" algn="ctr">
              <a:spcBef>
                <a:spcPts val="0"/>
              </a:spcBef>
              <a:spcAft>
                <a:spcPts val="0"/>
              </a:spcAft>
              <a:buSzPts val="13900"/>
              <a:buNone/>
              <a:defRPr sz="13900"/>
            </a:lvl3pPr>
            <a:lvl4pPr lvl="3" algn="ctr">
              <a:spcBef>
                <a:spcPts val="0"/>
              </a:spcBef>
              <a:spcAft>
                <a:spcPts val="0"/>
              </a:spcAft>
              <a:buSzPts val="13900"/>
              <a:buNone/>
              <a:defRPr sz="13900"/>
            </a:lvl4pPr>
            <a:lvl5pPr lvl="4" algn="ctr">
              <a:spcBef>
                <a:spcPts val="0"/>
              </a:spcBef>
              <a:spcAft>
                <a:spcPts val="0"/>
              </a:spcAft>
              <a:buSzPts val="13900"/>
              <a:buNone/>
              <a:defRPr sz="13900"/>
            </a:lvl5pPr>
            <a:lvl6pPr lvl="5" algn="ctr">
              <a:spcBef>
                <a:spcPts val="0"/>
              </a:spcBef>
              <a:spcAft>
                <a:spcPts val="0"/>
              </a:spcAft>
              <a:buSzPts val="13900"/>
              <a:buNone/>
              <a:defRPr sz="13900"/>
            </a:lvl6pPr>
            <a:lvl7pPr lvl="6" algn="ctr">
              <a:spcBef>
                <a:spcPts val="0"/>
              </a:spcBef>
              <a:spcAft>
                <a:spcPts val="0"/>
              </a:spcAft>
              <a:buSzPts val="13900"/>
              <a:buNone/>
              <a:defRPr sz="13900"/>
            </a:lvl7pPr>
            <a:lvl8pPr lvl="7" algn="ctr">
              <a:spcBef>
                <a:spcPts val="0"/>
              </a:spcBef>
              <a:spcAft>
                <a:spcPts val="0"/>
              </a:spcAft>
              <a:buSzPts val="13900"/>
              <a:buNone/>
              <a:defRPr sz="13900"/>
            </a:lvl8pPr>
            <a:lvl9pPr lvl="8" algn="ctr">
              <a:spcBef>
                <a:spcPts val="0"/>
              </a:spcBef>
              <a:spcAft>
                <a:spcPts val="0"/>
              </a:spcAft>
              <a:buSzPts val="13900"/>
              <a:buNone/>
              <a:defRPr sz="13900"/>
            </a:lvl9pPr>
          </a:lstStyle>
          <a:p>
            <a:r>
              <a:t>xx%</a:t>
            </a:r>
          </a:p>
        </p:txBody>
      </p:sp>
      <p:sp>
        <p:nvSpPr>
          <p:cNvPr id="46" name="Google Shape;46;p11"/>
          <p:cNvSpPr txBox="1">
            <a:spLocks noGrp="1"/>
          </p:cNvSpPr>
          <p:nvPr>
            <p:ph type="body" idx="1"/>
          </p:nvPr>
        </p:nvSpPr>
        <p:spPr>
          <a:xfrm>
            <a:off x="324168" y="4427119"/>
            <a:ext cx="8861400" cy="1826700"/>
          </a:xfrm>
          <a:prstGeom prst="rect">
            <a:avLst/>
          </a:prstGeom>
        </p:spPr>
        <p:txBody>
          <a:bodyPr spcFirstLastPara="1" wrap="square" lIns="106325" tIns="106325" rIns="106325" bIns="106325" anchor="t" anchorCtr="0">
            <a:normAutofit/>
          </a:bodyPr>
          <a:lstStyle>
            <a:lvl1pPr marL="457200" lvl="0" indent="-361950" algn="ctr">
              <a:spcBef>
                <a:spcPts val="0"/>
              </a:spcBef>
              <a:spcAft>
                <a:spcPts val="0"/>
              </a:spcAft>
              <a:buSzPts val="2100"/>
              <a:buChar char="●"/>
              <a:defRPr/>
            </a:lvl1pPr>
            <a:lvl2pPr marL="914400" lvl="1" indent="-330200" algn="ctr">
              <a:spcBef>
                <a:spcPts val="0"/>
              </a:spcBef>
              <a:spcAft>
                <a:spcPts val="0"/>
              </a:spcAft>
              <a:buSzPts val="1600"/>
              <a:buChar char="○"/>
              <a:defRPr/>
            </a:lvl2pPr>
            <a:lvl3pPr marL="1371600" lvl="2" indent="-330200" algn="ctr">
              <a:spcBef>
                <a:spcPts val="0"/>
              </a:spcBef>
              <a:spcAft>
                <a:spcPts val="0"/>
              </a:spcAft>
              <a:buSzPts val="1600"/>
              <a:buChar char="■"/>
              <a:defRPr/>
            </a:lvl3pPr>
            <a:lvl4pPr marL="1828800" lvl="3" indent="-330200" algn="ctr">
              <a:spcBef>
                <a:spcPts val="0"/>
              </a:spcBef>
              <a:spcAft>
                <a:spcPts val="0"/>
              </a:spcAft>
              <a:buSzPts val="1600"/>
              <a:buChar char="●"/>
              <a:defRPr/>
            </a:lvl4pPr>
            <a:lvl5pPr marL="2286000" lvl="4" indent="-330200" algn="ctr">
              <a:spcBef>
                <a:spcPts val="0"/>
              </a:spcBef>
              <a:spcAft>
                <a:spcPts val="0"/>
              </a:spcAft>
              <a:buSzPts val="1600"/>
              <a:buChar char="○"/>
              <a:defRPr/>
            </a:lvl5pPr>
            <a:lvl6pPr marL="2743200" lvl="5" indent="-330200" algn="ctr">
              <a:spcBef>
                <a:spcPts val="0"/>
              </a:spcBef>
              <a:spcAft>
                <a:spcPts val="0"/>
              </a:spcAft>
              <a:buSzPts val="1600"/>
              <a:buChar char="■"/>
              <a:defRPr/>
            </a:lvl6pPr>
            <a:lvl7pPr marL="3200400" lvl="6" indent="-330200" algn="ctr">
              <a:spcBef>
                <a:spcPts val="0"/>
              </a:spcBef>
              <a:spcAft>
                <a:spcPts val="0"/>
              </a:spcAft>
              <a:buSzPts val="1600"/>
              <a:buChar char="●"/>
              <a:defRPr/>
            </a:lvl7pPr>
            <a:lvl8pPr marL="3657600" lvl="7" indent="-330200" algn="ctr">
              <a:spcBef>
                <a:spcPts val="0"/>
              </a:spcBef>
              <a:spcAft>
                <a:spcPts val="0"/>
              </a:spcAft>
              <a:buSzPts val="1600"/>
              <a:buChar char="○"/>
              <a:defRPr/>
            </a:lvl8pPr>
            <a:lvl9pPr marL="4114800" lvl="8" indent="-330200" algn="ctr">
              <a:spcBef>
                <a:spcPts val="0"/>
              </a:spcBef>
              <a:spcAft>
                <a:spcPts val="0"/>
              </a:spcAft>
              <a:buSzPts val="1600"/>
              <a:buChar char="■"/>
              <a:defRPr/>
            </a:lvl9pPr>
          </a:lstStyle>
          <a:p>
            <a:endParaRPr/>
          </a:p>
        </p:txBody>
      </p:sp>
      <p:sp>
        <p:nvSpPr>
          <p:cNvPr id="47" name="Google Shape;47;p11"/>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811347" y="6549220"/>
            <a:ext cx="570600" cy="552900"/>
          </a:xfrm>
          <a:prstGeom prst="rect">
            <a:avLst/>
          </a:prstGeom>
        </p:spPr>
        <p:txBody>
          <a:bodyPr spcFirstLastPara="1" wrap="square" lIns="106325" tIns="106325" rIns="106325" bIns="1063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4168" y="625012"/>
            <a:ext cx="8861400" cy="804300"/>
          </a:xfrm>
          <a:prstGeom prst="rect">
            <a:avLst/>
          </a:prstGeom>
          <a:noFill/>
          <a:ln>
            <a:noFill/>
          </a:ln>
        </p:spPr>
        <p:txBody>
          <a:bodyPr spcFirstLastPara="1" wrap="square" lIns="106325" tIns="106325" rIns="106325" bIns="106325" anchor="t" anchorCtr="0">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a:endParaRPr/>
          </a:p>
        </p:txBody>
      </p:sp>
      <p:sp>
        <p:nvSpPr>
          <p:cNvPr id="7" name="Google Shape;7;p1"/>
          <p:cNvSpPr txBox="1">
            <a:spLocks noGrp="1"/>
          </p:cNvSpPr>
          <p:nvPr>
            <p:ph type="body" idx="1"/>
          </p:nvPr>
        </p:nvSpPr>
        <p:spPr>
          <a:xfrm>
            <a:off x="324168" y="1618585"/>
            <a:ext cx="8861400" cy="4798200"/>
          </a:xfrm>
          <a:prstGeom prst="rect">
            <a:avLst/>
          </a:prstGeom>
          <a:noFill/>
          <a:ln>
            <a:noFill/>
          </a:ln>
        </p:spPr>
        <p:txBody>
          <a:bodyPr spcFirstLastPara="1" wrap="square" lIns="106325" tIns="106325" rIns="106325" bIns="106325" anchor="t" anchorCtr="0">
            <a:normAutofit/>
          </a:bodyPr>
          <a:lstStyle>
            <a:lvl1pPr marL="457200" lvl="0" indent="-361950">
              <a:lnSpc>
                <a:spcPct val="115000"/>
              </a:lnSpc>
              <a:spcBef>
                <a:spcPts val="0"/>
              </a:spcBef>
              <a:spcAft>
                <a:spcPts val="0"/>
              </a:spcAft>
              <a:buClr>
                <a:schemeClr val="dk2"/>
              </a:buClr>
              <a:buSzPts val="2100"/>
              <a:buChar char="●"/>
              <a:defRPr sz="2100">
                <a:solidFill>
                  <a:schemeClr val="dk2"/>
                </a:solidFill>
              </a:defRPr>
            </a:lvl1pPr>
            <a:lvl2pPr marL="914400" lvl="1" indent="-330200">
              <a:lnSpc>
                <a:spcPct val="115000"/>
              </a:lnSpc>
              <a:spcBef>
                <a:spcPts val="0"/>
              </a:spcBef>
              <a:spcAft>
                <a:spcPts val="0"/>
              </a:spcAft>
              <a:buClr>
                <a:schemeClr val="dk2"/>
              </a:buClr>
              <a:buSzPts val="1600"/>
              <a:buChar char="○"/>
              <a:defRPr sz="1600">
                <a:solidFill>
                  <a:schemeClr val="dk2"/>
                </a:solidFill>
              </a:defRPr>
            </a:lvl2pPr>
            <a:lvl3pPr marL="1371600" lvl="2" indent="-330200">
              <a:lnSpc>
                <a:spcPct val="115000"/>
              </a:lnSpc>
              <a:spcBef>
                <a:spcPts val="0"/>
              </a:spcBef>
              <a:spcAft>
                <a:spcPts val="0"/>
              </a:spcAft>
              <a:buClr>
                <a:schemeClr val="dk2"/>
              </a:buClr>
              <a:buSzPts val="1600"/>
              <a:buChar char="■"/>
              <a:defRPr sz="1600">
                <a:solidFill>
                  <a:schemeClr val="dk2"/>
                </a:solidFill>
              </a:defRPr>
            </a:lvl3pPr>
            <a:lvl4pPr marL="1828800" lvl="3" indent="-330200">
              <a:lnSpc>
                <a:spcPct val="115000"/>
              </a:lnSpc>
              <a:spcBef>
                <a:spcPts val="0"/>
              </a:spcBef>
              <a:spcAft>
                <a:spcPts val="0"/>
              </a:spcAft>
              <a:buClr>
                <a:schemeClr val="dk2"/>
              </a:buClr>
              <a:buSzPts val="1600"/>
              <a:buChar char="●"/>
              <a:defRPr sz="1600">
                <a:solidFill>
                  <a:schemeClr val="dk2"/>
                </a:solidFill>
              </a:defRPr>
            </a:lvl4pPr>
            <a:lvl5pPr marL="2286000" lvl="4" indent="-330200">
              <a:lnSpc>
                <a:spcPct val="115000"/>
              </a:lnSpc>
              <a:spcBef>
                <a:spcPts val="0"/>
              </a:spcBef>
              <a:spcAft>
                <a:spcPts val="0"/>
              </a:spcAft>
              <a:buClr>
                <a:schemeClr val="dk2"/>
              </a:buClr>
              <a:buSzPts val="1600"/>
              <a:buChar char="○"/>
              <a:defRPr sz="1600">
                <a:solidFill>
                  <a:schemeClr val="dk2"/>
                </a:solidFill>
              </a:defRPr>
            </a:lvl5pPr>
            <a:lvl6pPr marL="2743200" lvl="5" indent="-330200">
              <a:lnSpc>
                <a:spcPct val="115000"/>
              </a:lnSpc>
              <a:spcBef>
                <a:spcPts val="0"/>
              </a:spcBef>
              <a:spcAft>
                <a:spcPts val="0"/>
              </a:spcAft>
              <a:buClr>
                <a:schemeClr val="dk2"/>
              </a:buClr>
              <a:buSzPts val="1600"/>
              <a:buChar char="■"/>
              <a:defRPr sz="1600">
                <a:solidFill>
                  <a:schemeClr val="dk2"/>
                </a:solidFill>
              </a:defRPr>
            </a:lvl6pPr>
            <a:lvl7pPr marL="3200400" lvl="6" indent="-330200">
              <a:lnSpc>
                <a:spcPct val="115000"/>
              </a:lnSpc>
              <a:spcBef>
                <a:spcPts val="0"/>
              </a:spcBef>
              <a:spcAft>
                <a:spcPts val="0"/>
              </a:spcAft>
              <a:buClr>
                <a:schemeClr val="dk2"/>
              </a:buClr>
              <a:buSzPts val="1600"/>
              <a:buChar char="●"/>
              <a:defRPr sz="1600">
                <a:solidFill>
                  <a:schemeClr val="dk2"/>
                </a:solidFill>
              </a:defRPr>
            </a:lvl7pPr>
            <a:lvl8pPr marL="3657600" lvl="7" indent="-330200">
              <a:lnSpc>
                <a:spcPct val="115000"/>
              </a:lnSpc>
              <a:spcBef>
                <a:spcPts val="0"/>
              </a:spcBef>
              <a:spcAft>
                <a:spcPts val="0"/>
              </a:spcAft>
              <a:buClr>
                <a:schemeClr val="dk2"/>
              </a:buClr>
              <a:buSzPts val="1600"/>
              <a:buChar char="○"/>
              <a:defRPr sz="1600">
                <a:solidFill>
                  <a:schemeClr val="dk2"/>
                </a:solidFill>
              </a:defRPr>
            </a:lvl8pPr>
            <a:lvl9pPr marL="4114800" lvl="8" indent="-330200">
              <a:lnSpc>
                <a:spcPct val="115000"/>
              </a:lnSpc>
              <a:spcBef>
                <a:spcPts val="0"/>
              </a:spcBef>
              <a:spcAft>
                <a:spcPts val="0"/>
              </a:spcAft>
              <a:buClr>
                <a:schemeClr val="dk2"/>
              </a:buClr>
              <a:buSzPts val="1600"/>
              <a:buChar char="■"/>
              <a:defRPr sz="1600">
                <a:solidFill>
                  <a:schemeClr val="dk2"/>
                </a:solidFill>
              </a:defRPr>
            </a:lvl9pPr>
          </a:lstStyle>
          <a:p>
            <a:endParaRPr/>
          </a:p>
        </p:txBody>
      </p:sp>
      <p:sp>
        <p:nvSpPr>
          <p:cNvPr id="8" name="Google Shape;8;p1"/>
          <p:cNvSpPr txBox="1">
            <a:spLocks noGrp="1"/>
          </p:cNvSpPr>
          <p:nvPr>
            <p:ph type="sldNum" idx="12"/>
          </p:nvPr>
        </p:nvSpPr>
        <p:spPr>
          <a:xfrm>
            <a:off x="8811347" y="6549220"/>
            <a:ext cx="570600" cy="552900"/>
          </a:xfrm>
          <a:prstGeom prst="rect">
            <a:avLst/>
          </a:prstGeom>
          <a:noFill/>
          <a:ln>
            <a:noFill/>
          </a:ln>
        </p:spPr>
        <p:txBody>
          <a:bodyPr spcFirstLastPara="1" wrap="square" lIns="106325" tIns="106325" rIns="106325" bIns="106325" anchor="ctr" anchorCtr="0">
            <a:normAutofit/>
          </a:bodyPr>
          <a:lstStyle>
            <a:lvl1pPr lvl="0" algn="r">
              <a:buNone/>
              <a:defRPr sz="1100">
                <a:solidFill>
                  <a:schemeClr val="dk2"/>
                </a:solidFill>
              </a:defRPr>
            </a:lvl1pPr>
            <a:lvl2pPr lvl="1" algn="r">
              <a:buNone/>
              <a:defRPr sz="1100">
                <a:solidFill>
                  <a:schemeClr val="dk2"/>
                </a:solidFill>
              </a:defRPr>
            </a:lvl2pPr>
            <a:lvl3pPr lvl="2" algn="r">
              <a:buNone/>
              <a:defRPr sz="1100">
                <a:solidFill>
                  <a:schemeClr val="dk2"/>
                </a:solidFill>
              </a:defRPr>
            </a:lvl3pPr>
            <a:lvl4pPr lvl="3" algn="r">
              <a:buNone/>
              <a:defRPr sz="1100">
                <a:solidFill>
                  <a:schemeClr val="dk2"/>
                </a:solidFill>
              </a:defRPr>
            </a:lvl4pPr>
            <a:lvl5pPr lvl="4" algn="r">
              <a:buNone/>
              <a:defRPr sz="1100">
                <a:solidFill>
                  <a:schemeClr val="dk2"/>
                </a:solidFill>
              </a:defRPr>
            </a:lvl5pPr>
            <a:lvl6pPr lvl="5" algn="r">
              <a:buNone/>
              <a:defRPr sz="1100">
                <a:solidFill>
                  <a:schemeClr val="dk2"/>
                </a:solidFill>
              </a:defRPr>
            </a:lvl6pPr>
            <a:lvl7pPr lvl="6" algn="r">
              <a:buNone/>
              <a:defRPr sz="1100">
                <a:solidFill>
                  <a:schemeClr val="dk2"/>
                </a:solidFill>
              </a:defRPr>
            </a:lvl7pPr>
            <a:lvl8pPr lvl="7" algn="r">
              <a:buNone/>
              <a:defRPr sz="1100">
                <a:solidFill>
                  <a:schemeClr val="dk2"/>
                </a:solidFill>
              </a:defRPr>
            </a:lvl8pPr>
            <a:lvl9pPr lvl="8" algn="r">
              <a:buNone/>
              <a:defRPr sz="11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nysed.gov/sites/default/files/programs/state-assessment/earth-space-sciences-pld.pdf"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53"/>
        <p:cNvGrpSpPr/>
        <p:nvPr/>
      </p:nvGrpSpPr>
      <p:grpSpPr>
        <a:xfrm>
          <a:off x="0" y="0"/>
          <a:ext cx="0" cy="0"/>
          <a:chOff x="0" y="0"/>
          <a:chExt cx="0" cy="0"/>
        </a:xfrm>
      </p:grpSpPr>
      <p:graphicFrame>
        <p:nvGraphicFramePr>
          <p:cNvPr id="54" name="Google Shape;54;p13"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609487" y="1329625"/>
          <a:ext cx="6290800" cy="4574651"/>
        </p:xfrm>
        <a:graphic>
          <a:graphicData uri="http://schemas.openxmlformats.org/drawingml/2006/table">
            <a:tbl>
              <a:tblPr>
                <a:noFill/>
                <a:tableStyleId>{1455F5BC-4023-4B6A-AF38-90DE3866AEF7}</a:tableStyleId>
              </a:tblPr>
              <a:tblGrid>
                <a:gridCol w="991900">
                  <a:extLst>
                    <a:ext uri="{9D8B030D-6E8A-4147-A177-3AD203B41FA5}">
                      <a16:colId xmlns:a16="http://schemas.microsoft.com/office/drawing/2014/main" val="20000"/>
                    </a:ext>
                  </a:extLst>
                </a:gridCol>
                <a:gridCol w="588800">
                  <a:extLst>
                    <a:ext uri="{9D8B030D-6E8A-4147-A177-3AD203B41FA5}">
                      <a16:colId xmlns:a16="http://schemas.microsoft.com/office/drawing/2014/main" val="20001"/>
                    </a:ext>
                  </a:extLst>
                </a:gridCol>
                <a:gridCol w="1056125">
                  <a:extLst>
                    <a:ext uri="{9D8B030D-6E8A-4147-A177-3AD203B41FA5}">
                      <a16:colId xmlns:a16="http://schemas.microsoft.com/office/drawing/2014/main" val="20002"/>
                    </a:ext>
                  </a:extLst>
                </a:gridCol>
                <a:gridCol w="1101000">
                  <a:extLst>
                    <a:ext uri="{9D8B030D-6E8A-4147-A177-3AD203B41FA5}">
                      <a16:colId xmlns:a16="http://schemas.microsoft.com/office/drawing/2014/main" val="20003"/>
                    </a:ext>
                  </a:extLst>
                </a:gridCol>
                <a:gridCol w="1185425">
                  <a:extLst>
                    <a:ext uri="{9D8B030D-6E8A-4147-A177-3AD203B41FA5}">
                      <a16:colId xmlns:a16="http://schemas.microsoft.com/office/drawing/2014/main" val="20004"/>
                    </a:ext>
                  </a:extLst>
                </a:gridCol>
                <a:gridCol w="1367550">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000" b="1">
                          <a:latin typeface="Calibri"/>
                          <a:ea typeface="Calibri"/>
                          <a:cs typeface="Calibri"/>
                          <a:sym typeface="Calibri"/>
                        </a:rPr>
                        <a:t>Earth &amp; Space Science: Space Systems</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000" b="1">
                          <a:latin typeface="Calibri"/>
                          <a:ea typeface="Calibri"/>
                          <a:cs typeface="Calibri"/>
                          <a:sym typeface="Calibri"/>
                        </a:rPr>
                        <a:t>Complete a model based on evidence to illustrate the lifespan of the Sun and/or the role of nuclear fusion in the Sun’s core to release energy that eventually reaches Earth (in the form of radiation).  [HS-ESS1-1]</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85100">
                <a:tc gridSpan="2">
                  <a:txBody>
                    <a:bodyPr/>
                    <a:lstStyle/>
                    <a:p>
                      <a:pPr marL="0" lvl="0" indent="0" algn="ctr" rtl="0">
                        <a:spcBef>
                          <a:spcPts val="0"/>
                        </a:spcBef>
                        <a:spcAft>
                          <a:spcPts val="0"/>
                        </a:spcAft>
                        <a:buNone/>
                      </a:pPr>
                      <a:r>
                        <a:rPr lang="en" sz="700" i="1">
                          <a:latin typeface="Calibri"/>
                          <a:ea typeface="Calibri"/>
                          <a:cs typeface="Calibri"/>
                          <a:sym typeface="Calibri"/>
                        </a:rPr>
                        <a:t>NYS Level 5</a:t>
                      </a:r>
                      <a:endParaRPr sz="7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700" i="1">
                          <a:latin typeface="Calibri"/>
                          <a:ea typeface="Calibri"/>
                          <a:cs typeface="Calibri"/>
                          <a:sym typeface="Calibri"/>
                        </a:rPr>
                        <a:t>NYS Level 4</a:t>
                      </a:r>
                      <a:endParaRPr sz="7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700" i="1">
                          <a:latin typeface="Calibri"/>
                          <a:ea typeface="Calibri"/>
                          <a:cs typeface="Calibri"/>
                          <a:sym typeface="Calibri"/>
                        </a:rPr>
                        <a:t>NYS Level 3</a:t>
                      </a:r>
                      <a:endParaRPr sz="700" i="1">
                        <a:latin typeface="Calibri"/>
                        <a:ea typeface="Calibri"/>
                        <a:cs typeface="Calibri"/>
                        <a:sym typeface="Calibri"/>
                      </a:endParaRPr>
                    </a:p>
                  </a:txBody>
                  <a:tcPr marL="95100" marR="95100" marT="34000" marB="34000" anchor="ctr">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700" i="1">
                          <a:latin typeface="Calibri"/>
                          <a:ea typeface="Calibri"/>
                          <a:cs typeface="Calibri"/>
                          <a:sym typeface="Calibri"/>
                        </a:rPr>
                        <a:t>NYS Level 2</a:t>
                      </a:r>
                      <a:endParaRPr sz="700" i="1">
                        <a:latin typeface="Calibri"/>
                        <a:ea typeface="Calibri"/>
                        <a:cs typeface="Calibri"/>
                        <a:sym typeface="Calibri"/>
                      </a:endParaRPr>
                    </a:p>
                  </a:txBody>
                  <a:tcPr marL="95100" marR="95100" marT="34000" marB="34000" anchor="ctr">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700" i="1">
                          <a:latin typeface="Calibri"/>
                          <a:ea typeface="Calibri"/>
                          <a:cs typeface="Calibri"/>
                          <a:sym typeface="Calibri"/>
                        </a:rPr>
                        <a:t>NYS Level 1</a:t>
                      </a:r>
                      <a:endParaRPr sz="700" i="1">
                        <a:latin typeface="Calibri"/>
                        <a:ea typeface="Calibri"/>
                        <a:cs typeface="Calibri"/>
                        <a:sym typeface="Calibri"/>
                      </a:endParaRPr>
                    </a:p>
                  </a:txBody>
                  <a:tcPr marL="95100" marR="95100" marT="34000" marB="34000"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CCCCCC"/>
                    </a:solidFill>
                  </a:tcPr>
                </a:tc>
                <a:extLst>
                  <a:ext uri="{0D108BD9-81ED-4DB2-BD59-A6C34878D82A}">
                    <a16:rowId xmlns:a16="http://schemas.microsoft.com/office/drawing/2014/main" val="10002"/>
                  </a:ext>
                </a:extLst>
              </a:tr>
              <a:tr h="645650">
                <a:tc gridSpan="2">
                  <a:txBody>
                    <a:bodyPr/>
                    <a:lstStyle/>
                    <a:p>
                      <a:pPr marL="0" lvl="0" indent="0" algn="l" rtl="0">
                        <a:spcBef>
                          <a:spcPts val="0"/>
                        </a:spcBef>
                        <a:spcAft>
                          <a:spcPts val="0"/>
                        </a:spcAft>
                        <a:buNone/>
                      </a:pPr>
                      <a:r>
                        <a:rPr lang="en" sz="700">
                          <a:latin typeface="Calibri"/>
                          <a:ea typeface="Calibri"/>
                          <a:cs typeface="Calibri"/>
                          <a:sym typeface="Calibri"/>
                        </a:rPr>
                        <a:t>Develop and critique models, based on evidence, that illustrate the lifespan of the Sun, the role of nuclear fusion, and how energy from the Sun reaches Earth in the form of electromagnetic radiation, using scale, proportion, and quantity to evaluate the models’ validity and limitations in order to revise them.   </a:t>
                      </a:r>
                      <a:endParaRPr sz="7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700">
                          <a:latin typeface="Calibri"/>
                          <a:ea typeface="Calibri"/>
                          <a:cs typeface="Calibri"/>
                          <a:sym typeface="Calibri"/>
                        </a:rPr>
                        <a:t>Develop a model based on evidence to illustrate the lifespan of the Sun and the role of nuclear fusion in the Sun’s core to release energy that eventually reaches Earth in the form of radiation. </a:t>
                      </a:r>
                      <a:endParaRPr sz="7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700">
                          <a:latin typeface="Calibri"/>
                          <a:ea typeface="Calibri"/>
                          <a:cs typeface="Calibri"/>
                          <a:sym typeface="Calibri"/>
                        </a:rPr>
                        <a:t>Complete a model based on evidence to illustrate the lifespan of the Sun and/or the role of nuclear fusion in the Sun’s core to release energy that eventually reaches Earth (in the form of radiation). </a:t>
                      </a:r>
                      <a:endParaRPr sz="700">
                        <a:latin typeface="Calibri"/>
                        <a:ea typeface="Calibri"/>
                        <a:cs typeface="Calibri"/>
                        <a:sym typeface="Calibri"/>
                      </a:endParaRPr>
                    </a:p>
                  </a:txBody>
                  <a:tcPr marL="95100" marR="95100" marT="67975" marB="67975">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700">
                          <a:latin typeface="Calibri"/>
                          <a:ea typeface="Calibri"/>
                          <a:cs typeface="Calibri"/>
                          <a:sym typeface="Calibri"/>
                        </a:rPr>
                        <a:t>Given a model, and/or information, describe the evidence that determines the lifespan of the Sun or illustrates the role of nuclear fusion in the Sun’s core to release energy or ways that the Sun’s radiation varies. </a:t>
                      </a:r>
                      <a:endParaRPr sz="700">
                        <a:latin typeface="Calibri"/>
                        <a:ea typeface="Calibri"/>
                        <a:cs typeface="Calibri"/>
                        <a:sym typeface="Calibri"/>
                      </a:endParaRPr>
                    </a:p>
                  </a:txBody>
                  <a:tcPr marL="95100" marR="95100" marT="67975" marB="67975">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700">
                          <a:latin typeface="Calibri"/>
                          <a:ea typeface="Calibri"/>
                          <a:cs typeface="Calibri"/>
                          <a:sym typeface="Calibri"/>
                        </a:rPr>
                        <a:t>Given a model, and/or information, identify the evidence, from those provided, that determines the lifespan of the Sun or illustrates the role of nuclear fusion in the Sun’s core to release energy or identify the correct pattern, from those provided, that shows variation in solar output. </a:t>
                      </a:r>
                      <a:endParaRPr sz="7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36425">
                <a:tc gridSpan="4">
                  <a:txBody>
                    <a:bodyPr/>
                    <a:lstStyle/>
                    <a:p>
                      <a:pPr marL="0" lvl="0" indent="0" algn="l" rtl="0">
                        <a:spcBef>
                          <a:spcPts val="0"/>
                        </a:spcBef>
                        <a:spcAft>
                          <a:spcPts val="0"/>
                        </a:spcAft>
                        <a:buNone/>
                      </a:pPr>
                      <a:r>
                        <a:rPr lang="en" sz="800" b="1">
                          <a:latin typeface="Calibri"/>
                          <a:ea typeface="Calibri"/>
                          <a:cs typeface="Calibri"/>
                          <a:sym typeface="Calibri"/>
                        </a:rPr>
                        <a:t>Developing &amp; Using Models</a:t>
                      </a:r>
                      <a:endParaRPr sz="800" b="1">
                        <a:latin typeface="Calibri"/>
                        <a:ea typeface="Calibri"/>
                        <a:cs typeface="Calibri"/>
                        <a:sym typeface="Calibri"/>
                      </a:endParaRPr>
                    </a:p>
                    <a:p>
                      <a:pPr marL="342900" lvl="0" indent="-177800" algn="l" rtl="0">
                        <a:spcBef>
                          <a:spcPts val="0"/>
                        </a:spcBef>
                        <a:spcAft>
                          <a:spcPts val="0"/>
                        </a:spcAft>
                        <a:buSzPts val="800"/>
                        <a:buFont typeface="Calibri"/>
                        <a:buChar char="➔"/>
                      </a:pPr>
                      <a:r>
                        <a:rPr lang="en" sz="800">
                          <a:latin typeface="Calibri"/>
                          <a:ea typeface="Calibri"/>
                          <a:cs typeface="Calibri"/>
                          <a:sym typeface="Calibri"/>
                        </a:rPr>
                        <a:t>Develop a model based on evidence to illustrate the relationships between systems or between components of a system.</a:t>
                      </a:r>
                      <a:endParaRPr sz="8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800" b="1">
                          <a:latin typeface="Calibri"/>
                          <a:ea typeface="Calibri"/>
                          <a:cs typeface="Calibri"/>
                          <a:sym typeface="Calibri"/>
                        </a:rPr>
                        <a:t>Scale, Proportion, &amp; Quantity</a:t>
                      </a:r>
                      <a:endParaRPr sz="800" b="1">
                        <a:latin typeface="Calibri"/>
                        <a:ea typeface="Calibri"/>
                        <a:cs typeface="Calibri"/>
                        <a:sym typeface="Calibri"/>
                      </a:endParaRPr>
                    </a:p>
                    <a:p>
                      <a:pPr marL="342900" marR="0" lvl="0" indent="-177800" algn="l" rtl="0">
                        <a:spcBef>
                          <a:spcPts val="0"/>
                        </a:spcBef>
                        <a:spcAft>
                          <a:spcPts val="0"/>
                        </a:spcAft>
                        <a:buSzPts val="800"/>
                        <a:buFont typeface="Calibri"/>
                        <a:buChar char="➔"/>
                      </a:pPr>
                      <a:r>
                        <a:rPr lang="en" sz="800">
                          <a:latin typeface="Calibri"/>
                          <a:ea typeface="Calibri"/>
                          <a:cs typeface="Calibri"/>
                          <a:sym typeface="Calibri"/>
                        </a:rPr>
                        <a:t>The significance of a phenomenon is dependent on the scale, proportion, and quantity at which it occurs.</a:t>
                      </a:r>
                      <a:endParaRPr sz="8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extLst>
                  <a:ext uri="{0D108BD9-81ED-4DB2-BD59-A6C34878D82A}">
                    <a16:rowId xmlns:a16="http://schemas.microsoft.com/office/drawing/2014/main" val="10004"/>
                  </a:ext>
                </a:extLst>
              </a:tr>
              <a:tr h="441350">
                <a:tc gridSpan="6">
                  <a:txBody>
                    <a:bodyPr/>
                    <a:lstStyle/>
                    <a:p>
                      <a:pPr marL="0" lvl="0" indent="0" algn="l" rtl="0">
                        <a:lnSpc>
                          <a:spcPct val="115000"/>
                        </a:lnSpc>
                        <a:spcBef>
                          <a:spcPts val="0"/>
                        </a:spcBef>
                        <a:spcAft>
                          <a:spcPts val="0"/>
                        </a:spcAft>
                        <a:buNone/>
                      </a:pPr>
                      <a:r>
                        <a:rPr lang="en" sz="800" b="1">
                          <a:solidFill>
                            <a:schemeClr val="dk1"/>
                          </a:solidFill>
                          <a:latin typeface="Calibri"/>
                          <a:ea typeface="Calibri"/>
                          <a:cs typeface="Calibri"/>
                          <a:sym typeface="Calibri"/>
                        </a:rPr>
                        <a:t>ESS1.A: The Universe and Its Stars</a:t>
                      </a:r>
                      <a:endParaRPr sz="800" b="1">
                        <a:solidFill>
                          <a:schemeClr val="dk1"/>
                        </a:solidFill>
                        <a:latin typeface="Calibri"/>
                        <a:ea typeface="Calibri"/>
                        <a:cs typeface="Calibri"/>
                        <a:sym typeface="Calibri"/>
                      </a:endParaRPr>
                    </a:p>
                    <a:p>
                      <a:pPr marL="342900" lvl="0" indent="-177800" algn="l" rtl="0">
                        <a:lnSpc>
                          <a:spcPct val="115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The star called the sun is changing and will burn out over a lifespan of approximately 10 billion years.</a:t>
                      </a:r>
                      <a:endParaRPr sz="8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800" b="1">
                          <a:solidFill>
                            <a:schemeClr val="dk1"/>
                          </a:solidFill>
                          <a:latin typeface="Calibri"/>
                          <a:ea typeface="Calibri"/>
                          <a:cs typeface="Calibri"/>
                          <a:sym typeface="Calibri"/>
                        </a:rPr>
                        <a:t>PS3.D: Energy in Chemical Processes and Everyday Life </a:t>
                      </a:r>
                      <a:endParaRPr sz="800" b="1">
                        <a:solidFill>
                          <a:schemeClr val="dk1"/>
                        </a:solidFill>
                        <a:latin typeface="Calibri"/>
                        <a:ea typeface="Calibri"/>
                        <a:cs typeface="Calibri"/>
                        <a:sym typeface="Calibri"/>
                      </a:endParaRPr>
                    </a:p>
                    <a:p>
                      <a:pPr marL="342900" lvl="0" indent="-177800" algn="l" rtl="0">
                        <a:lnSpc>
                          <a:spcPct val="115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Nuclear Fusion processes in the center of the sun release the energy that ultimately reaches Earth as radiation. </a:t>
                      </a:r>
                      <a:endParaRPr sz="8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41350">
                <a:tc>
                  <a:txBody>
                    <a:bodyPr/>
                    <a:lstStyle/>
                    <a:p>
                      <a:pPr marL="0" lvl="0" indent="0" algn="r" rtl="0">
                        <a:spcBef>
                          <a:spcPts val="0"/>
                        </a:spcBef>
                        <a:spcAft>
                          <a:spcPts val="0"/>
                        </a:spcAft>
                        <a:buNone/>
                      </a:pPr>
                      <a:r>
                        <a:rPr lang="en" sz="800" b="1">
                          <a:solidFill>
                            <a:srgbClr val="CC0000"/>
                          </a:solidFill>
                          <a:latin typeface="Calibri"/>
                          <a:ea typeface="Calibri"/>
                          <a:cs typeface="Calibri"/>
                          <a:sym typeface="Calibri"/>
                        </a:rPr>
                        <a:t>Clarification Statement</a:t>
                      </a:r>
                      <a:endParaRPr sz="8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700">
                          <a:latin typeface="Calibri"/>
                          <a:ea typeface="Calibri"/>
                          <a:cs typeface="Calibri"/>
                          <a:sym typeface="Calibri"/>
                        </a:rPr>
                        <a:t>Emphasis is on the energy transfer mechanisms that allow energy from nuclear fusion in the Sun’s core to reach Earth. Examples of evidence for the model could include observations of the masses and lifetimes of other stars, as well as the ways that the Sun’s radiation varies due to sudden solar flares (“space weather”), the 11-year sunspot cycle, and non-cyclic variations over centuries.</a:t>
                      </a:r>
                      <a:endParaRPr sz="700" b="1">
                        <a:solidFill>
                          <a:srgbClr val="CC0000"/>
                        </a:solidFill>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0">
                <a:tc>
                  <a:txBody>
                    <a:bodyPr/>
                    <a:lstStyle/>
                    <a:p>
                      <a:pPr marL="0" lvl="0" indent="0" algn="r" rtl="0">
                        <a:spcBef>
                          <a:spcPts val="0"/>
                        </a:spcBef>
                        <a:spcAft>
                          <a:spcPts val="0"/>
                        </a:spcAft>
                        <a:buClr>
                          <a:schemeClr val="dk1"/>
                        </a:buClr>
                        <a:buSzPts val="1000"/>
                        <a:buFont typeface="Arial"/>
                        <a:buNone/>
                      </a:pPr>
                      <a:r>
                        <a:rPr lang="en" sz="800" b="1">
                          <a:solidFill>
                            <a:srgbClr val="CC0000"/>
                          </a:solidFill>
                          <a:latin typeface="Calibri"/>
                          <a:ea typeface="Calibri"/>
                          <a:cs typeface="Calibri"/>
                          <a:sym typeface="Calibri"/>
                        </a:rPr>
                        <a:t>Assessment Boundary</a:t>
                      </a:r>
                      <a:endParaRPr sz="8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700">
                          <a:latin typeface="Calibri"/>
                          <a:ea typeface="Calibri"/>
                          <a:cs typeface="Calibri"/>
                          <a:sym typeface="Calibri"/>
                        </a:rPr>
                        <a:t>Assessment does not include details of the atomic and subatomic processes involved with the Sun’s nuclear fusion.</a:t>
                      </a:r>
                      <a:endParaRPr sz="700" b="1">
                        <a:solidFill>
                          <a:srgbClr val="CC0000"/>
                        </a:solidFill>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55" name="Google Shape;55;p13"/>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56" name="Google Shape;56;p13"/>
          <p:cNvPicPr preferRelativeResize="0"/>
          <p:nvPr/>
        </p:nvPicPr>
        <p:blipFill>
          <a:blip r:embed="rId3">
            <a:alphaModFix amt="50000"/>
          </a:blip>
          <a:stretch>
            <a:fillRect/>
          </a:stretch>
        </p:blipFill>
        <p:spPr>
          <a:xfrm>
            <a:off x="104375" y="6570428"/>
            <a:ext cx="2136049" cy="546525"/>
          </a:xfrm>
          <a:prstGeom prst="rect">
            <a:avLst/>
          </a:prstGeom>
          <a:noFill/>
          <a:ln>
            <a:noFill/>
          </a:ln>
        </p:spPr>
      </p:pic>
      <p:sp>
        <p:nvSpPr>
          <p:cNvPr id="57" name="Google Shape;57;p13">
            <a:hlinkClick r:id="" action="ppaction://noaction"/>
          </p:cNvPr>
          <p:cNvSpPr/>
          <p:nvPr/>
        </p:nvSpPr>
        <p:spPr>
          <a:xfrm>
            <a:off x="3830507" y="1236200"/>
            <a:ext cx="2547000" cy="567300"/>
          </a:xfrm>
          <a:prstGeom prst="leftArrow">
            <a:avLst>
              <a:gd name="adj1" fmla="val 50000"/>
              <a:gd name="adj2" fmla="val 50000"/>
            </a:avLst>
          </a:prstGeom>
          <a:solidFill>
            <a:srgbClr val="EFEFE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Grade Level &amp; Topic</a:t>
            </a:r>
            <a:endParaRPr sz="1600"/>
          </a:p>
        </p:txBody>
      </p:sp>
      <p:sp>
        <p:nvSpPr>
          <p:cNvPr id="58" name="Google Shape;58;p13">
            <a:hlinkClick r:id="" action="ppaction://noaction"/>
          </p:cNvPr>
          <p:cNvSpPr/>
          <p:nvPr/>
        </p:nvSpPr>
        <p:spPr>
          <a:xfrm flipH="1">
            <a:off x="578389" y="1751435"/>
            <a:ext cx="1031100" cy="567300"/>
          </a:xfrm>
          <a:prstGeom prst="leftArrow">
            <a:avLst>
              <a:gd name="adj1" fmla="val 50000"/>
              <a:gd name="adj2" fmla="val 50000"/>
            </a:avLst>
          </a:prstGeom>
          <a:solidFill>
            <a:srgbClr val="EFEFE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PE</a:t>
            </a:r>
            <a:endParaRPr sz="1600"/>
          </a:p>
        </p:txBody>
      </p:sp>
      <p:sp>
        <p:nvSpPr>
          <p:cNvPr id="59" name="Google Shape;59;p13">
            <a:hlinkClick r:id="rId4"/>
          </p:cNvPr>
          <p:cNvSpPr/>
          <p:nvPr/>
        </p:nvSpPr>
        <p:spPr>
          <a:xfrm flipH="1">
            <a:off x="578377" y="2758534"/>
            <a:ext cx="1031100" cy="567300"/>
          </a:xfrm>
          <a:prstGeom prst="leftArrow">
            <a:avLst>
              <a:gd name="adj1" fmla="val 50000"/>
              <a:gd name="adj2" fmla="val 50000"/>
            </a:avLst>
          </a:prstGeom>
          <a:solidFill>
            <a:srgbClr val="EEEEEE"/>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PLD</a:t>
            </a:r>
            <a:endParaRPr sz="1600"/>
          </a:p>
        </p:txBody>
      </p:sp>
      <p:sp>
        <p:nvSpPr>
          <p:cNvPr id="60" name="Google Shape;60;p13">
            <a:hlinkClick r:id="" action="ppaction://noaction"/>
          </p:cNvPr>
          <p:cNvSpPr/>
          <p:nvPr/>
        </p:nvSpPr>
        <p:spPr>
          <a:xfrm flipH="1">
            <a:off x="578389" y="3688278"/>
            <a:ext cx="1031100" cy="567300"/>
          </a:xfrm>
          <a:prstGeom prst="leftArrow">
            <a:avLst>
              <a:gd name="adj1" fmla="val 50000"/>
              <a:gd name="adj2" fmla="val 50000"/>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SEP</a:t>
            </a:r>
            <a:endParaRPr sz="1600"/>
          </a:p>
        </p:txBody>
      </p:sp>
      <p:sp>
        <p:nvSpPr>
          <p:cNvPr id="61" name="Google Shape;61;p13">
            <a:hlinkClick r:id="" action="ppaction://noaction"/>
          </p:cNvPr>
          <p:cNvSpPr/>
          <p:nvPr/>
        </p:nvSpPr>
        <p:spPr>
          <a:xfrm>
            <a:off x="7900275" y="3688278"/>
            <a:ext cx="1031100" cy="567300"/>
          </a:xfrm>
          <a:prstGeom prst="leftArrow">
            <a:avLst>
              <a:gd name="adj1" fmla="val 50000"/>
              <a:gd name="adj2" fmla="val 50000"/>
            </a:avLst>
          </a:prstGeom>
          <a:solidFill>
            <a:srgbClr val="D9EAD3"/>
          </a:solidFill>
          <a:ln w="2857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CCC</a:t>
            </a:r>
            <a:endParaRPr sz="1600"/>
          </a:p>
        </p:txBody>
      </p:sp>
      <p:sp>
        <p:nvSpPr>
          <p:cNvPr id="62" name="Google Shape;62;p13">
            <a:hlinkClick r:id="" action="ppaction://noaction"/>
          </p:cNvPr>
          <p:cNvSpPr/>
          <p:nvPr/>
        </p:nvSpPr>
        <p:spPr>
          <a:xfrm flipH="1">
            <a:off x="578377" y="4545934"/>
            <a:ext cx="1031100" cy="567300"/>
          </a:xfrm>
          <a:prstGeom prst="leftArrow">
            <a:avLst>
              <a:gd name="adj1" fmla="val 50000"/>
              <a:gd name="adj2" fmla="val 50000"/>
            </a:avLst>
          </a:prstGeom>
          <a:solidFill>
            <a:srgbClr val="FCE5CD"/>
          </a:solidFill>
          <a:ln w="28575" cap="flat" cmpd="sng">
            <a:solidFill>
              <a:srgbClr val="B45F0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DCI</a:t>
            </a:r>
            <a:endParaRPr sz="1600"/>
          </a:p>
        </p:txBody>
      </p:sp>
      <p:sp>
        <p:nvSpPr>
          <p:cNvPr id="63" name="Google Shape;63;p13">
            <a:hlinkClick r:id="rId4"/>
          </p:cNvPr>
          <p:cNvSpPr txBox="1"/>
          <p:nvPr/>
        </p:nvSpPr>
        <p:spPr>
          <a:xfrm>
            <a:off x="493800" y="3148675"/>
            <a:ext cx="844200" cy="5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t>Performance </a:t>
            </a:r>
            <a:endParaRPr sz="800" b="1"/>
          </a:p>
          <a:p>
            <a:pPr marL="0" lvl="0" indent="0" algn="l" rtl="0">
              <a:spcBef>
                <a:spcPts val="0"/>
              </a:spcBef>
              <a:spcAft>
                <a:spcPts val="0"/>
              </a:spcAft>
              <a:buNone/>
            </a:pPr>
            <a:r>
              <a:rPr lang="en" sz="800" b="1"/>
              <a:t>Level </a:t>
            </a:r>
            <a:endParaRPr sz="800" b="1"/>
          </a:p>
          <a:p>
            <a:pPr marL="0" lvl="0" indent="0" algn="l" rtl="0">
              <a:spcBef>
                <a:spcPts val="0"/>
              </a:spcBef>
              <a:spcAft>
                <a:spcPts val="0"/>
              </a:spcAft>
              <a:buNone/>
            </a:pPr>
            <a:r>
              <a:rPr lang="en" sz="800" b="1"/>
              <a:t>Descriptions</a:t>
            </a:r>
            <a:endParaRPr sz="800" b="1"/>
          </a:p>
        </p:txBody>
      </p:sp>
      <p:sp>
        <p:nvSpPr>
          <p:cNvPr id="64" name="Google Shape;64;p13">
            <a:hlinkClick r:id="" action="ppaction://noaction"/>
          </p:cNvPr>
          <p:cNvSpPr txBox="1"/>
          <p:nvPr/>
        </p:nvSpPr>
        <p:spPr>
          <a:xfrm>
            <a:off x="493812" y="4087675"/>
            <a:ext cx="844200" cy="5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t>Science &amp; Engineering Practices</a:t>
            </a:r>
            <a:endParaRPr sz="800" b="1"/>
          </a:p>
        </p:txBody>
      </p:sp>
      <p:sp>
        <p:nvSpPr>
          <p:cNvPr id="65" name="Google Shape;65;p13">
            <a:hlinkClick r:id="" action="ppaction://noaction"/>
          </p:cNvPr>
          <p:cNvSpPr txBox="1"/>
          <p:nvPr/>
        </p:nvSpPr>
        <p:spPr>
          <a:xfrm>
            <a:off x="493800" y="4954588"/>
            <a:ext cx="844200" cy="5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t>Disciplinary Core Ideas (Content)</a:t>
            </a:r>
            <a:endParaRPr sz="800" b="1"/>
          </a:p>
        </p:txBody>
      </p:sp>
      <p:sp>
        <p:nvSpPr>
          <p:cNvPr id="66" name="Google Shape;66;p13">
            <a:hlinkClick r:id="" action="ppaction://noaction"/>
          </p:cNvPr>
          <p:cNvSpPr txBox="1"/>
          <p:nvPr/>
        </p:nvSpPr>
        <p:spPr>
          <a:xfrm flipH="1">
            <a:off x="493800" y="2131800"/>
            <a:ext cx="844200" cy="56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t>Performance Expectation</a:t>
            </a:r>
            <a:endParaRPr sz="800" b="1"/>
          </a:p>
        </p:txBody>
      </p:sp>
      <p:sp>
        <p:nvSpPr>
          <p:cNvPr id="67" name="Google Shape;67;p13">
            <a:hlinkClick r:id="" action="ppaction://noaction"/>
          </p:cNvPr>
          <p:cNvSpPr txBox="1"/>
          <p:nvPr/>
        </p:nvSpPr>
        <p:spPr>
          <a:xfrm>
            <a:off x="8087137" y="4087675"/>
            <a:ext cx="937800" cy="567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t>Crosscutting Concepts</a:t>
            </a:r>
            <a:endParaRPr sz="800" b="1"/>
          </a:p>
        </p:txBody>
      </p:sp>
      <p:sp>
        <p:nvSpPr>
          <p:cNvPr id="68" name="Google Shape;68;p13">
            <a:hlinkClick r:id="" action="ppaction://noaction"/>
          </p:cNvPr>
          <p:cNvSpPr/>
          <p:nvPr/>
        </p:nvSpPr>
        <p:spPr>
          <a:xfrm>
            <a:off x="7691450" y="1803500"/>
            <a:ext cx="1305000" cy="567300"/>
          </a:xfrm>
          <a:prstGeom prst="leftArrow">
            <a:avLst>
              <a:gd name="adj1" fmla="val 50000"/>
              <a:gd name="adj2" fmla="val 50000"/>
            </a:avLst>
          </a:prstGeom>
          <a:solidFill>
            <a:srgbClr val="EFEFEF"/>
          </a:solidFill>
          <a:ln w="2857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PE Code</a:t>
            </a:r>
            <a:endParaRPr sz="1600"/>
          </a:p>
        </p:txBody>
      </p:sp>
      <p:sp>
        <p:nvSpPr>
          <p:cNvPr id="69" name="Google Shape;69;p13"/>
          <p:cNvSpPr/>
          <p:nvPr/>
        </p:nvSpPr>
        <p:spPr>
          <a:xfrm>
            <a:off x="6089400" y="1934900"/>
            <a:ext cx="714300" cy="304500"/>
          </a:xfrm>
          <a:prstGeom prst="ellipse">
            <a:avLst/>
          </a:prstGeom>
          <a:noFill/>
          <a:ln w="28575" cap="flat" cmpd="sng">
            <a:solidFill>
              <a:srgbClr val="CC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 name="Google Shape;70;p13">
            <a:hlinkClick r:id="" action="ppaction://noaction"/>
          </p:cNvPr>
          <p:cNvSpPr txBox="1"/>
          <p:nvPr/>
        </p:nvSpPr>
        <p:spPr>
          <a:xfrm>
            <a:off x="7784900" y="2220625"/>
            <a:ext cx="1305000" cy="567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t>Performance</a:t>
            </a:r>
            <a:endParaRPr sz="800" b="1"/>
          </a:p>
          <a:p>
            <a:pPr marL="0" lvl="0" indent="0" algn="r" rtl="0">
              <a:spcBef>
                <a:spcPts val="0"/>
              </a:spcBef>
              <a:spcAft>
                <a:spcPts val="0"/>
              </a:spcAft>
              <a:buNone/>
            </a:pPr>
            <a:r>
              <a:rPr lang="en" sz="800" b="1"/>
              <a:t>Expectation</a:t>
            </a:r>
            <a:endParaRPr sz="800" b="1"/>
          </a:p>
          <a:p>
            <a:pPr marL="0" lvl="0" indent="0" algn="r" rtl="0">
              <a:spcBef>
                <a:spcPts val="0"/>
              </a:spcBef>
              <a:spcAft>
                <a:spcPts val="0"/>
              </a:spcAft>
              <a:buNone/>
            </a:pPr>
            <a:r>
              <a:rPr lang="en" sz="800" b="1"/>
              <a:t>Code</a:t>
            </a:r>
            <a:endParaRPr sz="800" b="1"/>
          </a:p>
        </p:txBody>
      </p:sp>
      <p:sp>
        <p:nvSpPr>
          <p:cNvPr id="71" name="Google Shape;71;p13"/>
          <p:cNvSpPr txBox="1"/>
          <p:nvPr/>
        </p:nvSpPr>
        <p:spPr>
          <a:xfrm>
            <a:off x="578375" y="366100"/>
            <a:ext cx="8446500" cy="658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t>Guide to the NYSSLS: High School Earth &amp; Space Sciences</a:t>
            </a:r>
            <a:endParaRPr sz="2400"/>
          </a:p>
        </p:txBody>
      </p:sp>
      <p:sp>
        <p:nvSpPr>
          <p:cNvPr id="72" name="Google Shape;72;p13">
            <a:hlinkClick r:id="" action="ppaction://noaction"/>
          </p:cNvPr>
          <p:cNvSpPr/>
          <p:nvPr/>
        </p:nvSpPr>
        <p:spPr>
          <a:xfrm>
            <a:off x="7921839" y="5058385"/>
            <a:ext cx="1031100" cy="567300"/>
          </a:xfrm>
          <a:prstGeom prst="leftArrow">
            <a:avLst>
              <a:gd name="adj1" fmla="val 50000"/>
              <a:gd name="adj2" fmla="val 50000"/>
            </a:avLst>
          </a:prstGeom>
          <a:solidFill>
            <a:srgbClr val="EFEFEF"/>
          </a:solid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t>Other</a:t>
            </a:r>
            <a:endParaRPr sz="1600"/>
          </a:p>
        </p:txBody>
      </p:sp>
      <p:sp>
        <p:nvSpPr>
          <p:cNvPr id="73" name="Google Shape;73;p13">
            <a:hlinkClick r:id="" action="ppaction://noaction"/>
          </p:cNvPr>
          <p:cNvSpPr txBox="1"/>
          <p:nvPr/>
        </p:nvSpPr>
        <p:spPr>
          <a:xfrm>
            <a:off x="7668725" y="5503463"/>
            <a:ext cx="1305000" cy="567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t>Clarification Statements &amp; Assessment Boundaries</a:t>
            </a:r>
            <a:endParaRPr sz="800" b="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84"/>
        <p:cNvGrpSpPr/>
        <p:nvPr/>
      </p:nvGrpSpPr>
      <p:grpSpPr>
        <a:xfrm>
          <a:off x="0" y="0"/>
          <a:ext cx="0" cy="0"/>
          <a:chOff x="0" y="0"/>
          <a:chExt cx="0" cy="0"/>
        </a:xfrm>
      </p:grpSpPr>
      <p:graphicFrame>
        <p:nvGraphicFramePr>
          <p:cNvPr id="85" name="Google Shape;85;p15"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8427" y="211325"/>
          <a:ext cx="9272875" cy="6267491"/>
        </p:xfrm>
        <a:graphic>
          <a:graphicData uri="http://schemas.openxmlformats.org/drawingml/2006/table">
            <a:tbl>
              <a:tblPr>
                <a:noFill/>
                <a:tableStyleId>{1455F5BC-4023-4B6A-AF38-90DE3866AEF7}</a:tableStyleId>
              </a:tblPr>
              <a:tblGrid>
                <a:gridCol w="1442900">
                  <a:extLst>
                    <a:ext uri="{9D8B030D-6E8A-4147-A177-3AD203B41FA5}">
                      <a16:colId xmlns:a16="http://schemas.microsoft.com/office/drawing/2014/main" val="20000"/>
                    </a:ext>
                  </a:extLst>
                </a:gridCol>
                <a:gridCol w="824125">
                  <a:extLst>
                    <a:ext uri="{9D8B030D-6E8A-4147-A177-3AD203B41FA5}">
                      <a16:colId xmlns:a16="http://schemas.microsoft.com/office/drawing/2014/main" val="20001"/>
                    </a:ext>
                  </a:extLst>
                </a:gridCol>
                <a:gridCol w="1807250">
                  <a:extLst>
                    <a:ext uri="{9D8B030D-6E8A-4147-A177-3AD203B41FA5}">
                      <a16:colId xmlns:a16="http://schemas.microsoft.com/office/drawing/2014/main" val="20002"/>
                    </a:ext>
                  </a:extLst>
                </a:gridCol>
                <a:gridCol w="1999150">
                  <a:extLst>
                    <a:ext uri="{9D8B030D-6E8A-4147-A177-3AD203B41FA5}">
                      <a16:colId xmlns:a16="http://schemas.microsoft.com/office/drawing/2014/main" val="20003"/>
                    </a:ext>
                  </a:extLst>
                </a:gridCol>
                <a:gridCol w="2018175">
                  <a:extLst>
                    <a:ext uri="{9D8B030D-6E8A-4147-A177-3AD203B41FA5}">
                      <a16:colId xmlns:a16="http://schemas.microsoft.com/office/drawing/2014/main" val="20004"/>
                    </a:ext>
                  </a:extLst>
                </a:gridCol>
                <a:gridCol w="1181275">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Space Systems</a:t>
                      </a:r>
                      <a:endParaRPr sz="12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Construct an explanation of the Big Bang theory based on astronomical evidence of light spectra, or motion of distant galaxies, and/or the composition of matter in the universe (Cosmic Microwave Background Radiation (CMBR)).  [HS-ESS1-2]</a:t>
                      </a:r>
                      <a:endParaRPr sz="12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2827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47500">
                <a:tc gridSpan="2">
                  <a:txBody>
                    <a:bodyPr/>
                    <a:lstStyle/>
                    <a:p>
                      <a:pPr marL="0" lvl="0" indent="0" algn="l" rtl="0">
                        <a:spcBef>
                          <a:spcPts val="0"/>
                        </a:spcBef>
                        <a:spcAft>
                          <a:spcPts val="0"/>
                        </a:spcAft>
                        <a:buNone/>
                      </a:pPr>
                      <a:r>
                        <a:rPr lang="en" sz="800">
                          <a:latin typeface="Calibri"/>
                          <a:ea typeface="Calibri"/>
                          <a:cs typeface="Calibri"/>
                          <a:sym typeface="Calibri"/>
                        </a:rPr>
                        <a:t>Construct an explanation of the Big Bang theory using multiple sources, based on valid and reliable evidence of energy from light spectra, motions of distant galaxies, and the composition of matter in the universe (CMBR). </a:t>
                      </a:r>
                      <a:endParaRPr sz="8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800">
                          <a:latin typeface="Calibri"/>
                          <a:ea typeface="Calibri"/>
                          <a:cs typeface="Calibri"/>
                          <a:sym typeface="Calibri"/>
                        </a:rPr>
                        <a:t>Construct an explanation of the Big Bang theory   based on astronomical evidence of light spectra, motion of distant galaxies, and composition of matter in the universe. </a:t>
                      </a:r>
                      <a:endParaRPr sz="8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800">
                          <a:latin typeface="Calibri"/>
                          <a:ea typeface="Calibri"/>
                          <a:cs typeface="Calibri"/>
                          <a:sym typeface="Calibri"/>
                        </a:rPr>
                        <a:t>Construct an explanation of the Big Bang theory   based on astronomical evidence of light spectra, or motion of distant galaxies, and/or the composition of matter in the universe (CMBR). </a:t>
                      </a:r>
                      <a:endParaRPr sz="8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800">
                          <a:latin typeface="Calibri"/>
                          <a:ea typeface="Calibri"/>
                          <a:cs typeface="Calibri"/>
                          <a:sym typeface="Calibri"/>
                        </a:rPr>
                        <a:t>Identify the  explanation, that supports the Big Bang theory based on astronomical evidence of light spectra or  motion of distant galaxies or  the composition of matter in the universe (CMBR). </a:t>
                      </a:r>
                      <a:endParaRPr sz="8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800">
                          <a:latin typeface="Calibri"/>
                          <a:ea typeface="Calibri"/>
                          <a:cs typeface="Calibri"/>
                          <a:sym typeface="Calibri"/>
                        </a:rPr>
                        <a:t>Identify the evidence, from those provided, that supports the Big Bang theory, based on astronomical evidence. </a:t>
                      </a:r>
                      <a:endParaRPr sz="8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00525">
                <a:tc rowSpan="2" gridSpan="3">
                  <a:txBody>
                    <a:bodyPr/>
                    <a:lstStyle/>
                    <a:p>
                      <a:pPr marL="0" lvl="0" indent="0" algn="l" rtl="0">
                        <a:spcBef>
                          <a:spcPts val="0"/>
                        </a:spcBef>
                        <a:spcAft>
                          <a:spcPts val="0"/>
                        </a:spcAft>
                        <a:buNone/>
                      </a:pPr>
                      <a:r>
                        <a:rPr lang="en" sz="900" b="1">
                          <a:latin typeface="Calibri"/>
                          <a:ea typeface="Calibri"/>
                          <a:cs typeface="Calibri"/>
                          <a:sym typeface="Calibri"/>
                        </a:rPr>
                        <a:t>Constructing Explanations &amp; Designing Solutions</a:t>
                      </a:r>
                      <a:endParaRPr sz="900" b="1">
                        <a:latin typeface="Calibri"/>
                        <a:ea typeface="Calibri"/>
                        <a:cs typeface="Calibri"/>
                        <a:sym typeface="Calibri"/>
                      </a:endParaRPr>
                    </a:p>
                    <a:p>
                      <a:pPr marL="342900" lvl="0" indent="-184150" algn="l" rtl="0">
                        <a:spcBef>
                          <a:spcPts val="0"/>
                        </a:spcBef>
                        <a:spcAft>
                          <a:spcPts val="0"/>
                        </a:spcAft>
                        <a:buSzPts val="900"/>
                        <a:buFont typeface="Calibri"/>
                        <a:buChar char="➔"/>
                      </a:pPr>
                      <a:r>
                        <a:rPr lang="en" sz="900">
                          <a:latin typeface="Calibri"/>
                          <a:ea typeface="Calibri"/>
                          <a:cs typeface="Calibri"/>
                          <a:sym typeface="Calibri"/>
                        </a:rPr>
                        <a:t>Construct an explanation based on valid and reliable evidence obtained from a variety of sources (including students’ own investigations, models, theories, simulations, peer review) and the assumption that theories and laws that describe the natural world operate today as they did in the past and will continue to do so in the future.</a:t>
                      </a:r>
                      <a:endParaRPr sz="9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rowSpan="2" hMerge="1">
                  <a:txBody>
                    <a:bodyPr/>
                    <a:lstStyle/>
                    <a:p>
                      <a:endParaRPr lang="en-US"/>
                    </a:p>
                  </a:txBody>
                  <a:tcPr/>
                </a:tc>
                <a:tc rowSpan="2" hMerge="1">
                  <a:txBody>
                    <a:bodyPr/>
                    <a:lstStyle/>
                    <a:p>
                      <a:endParaRPr lang="en-US"/>
                    </a:p>
                  </a:txBody>
                  <a:tcPr/>
                </a:tc>
                <a:tc gridSpan="3">
                  <a:txBody>
                    <a:bodyPr/>
                    <a:lstStyle/>
                    <a:p>
                      <a:pPr marL="0" lvl="0" indent="0" algn="l" rtl="0">
                        <a:spcBef>
                          <a:spcPts val="0"/>
                        </a:spcBef>
                        <a:spcAft>
                          <a:spcPts val="0"/>
                        </a:spcAft>
                        <a:buNone/>
                      </a:pPr>
                      <a:r>
                        <a:rPr lang="en" sz="900" b="1">
                          <a:latin typeface="Calibri"/>
                          <a:ea typeface="Calibri"/>
                          <a:cs typeface="Calibri"/>
                          <a:sym typeface="Calibri"/>
                        </a:rPr>
                        <a:t>Energy and Matter </a:t>
                      </a:r>
                      <a:endParaRPr sz="900" b="1">
                        <a:latin typeface="Calibri"/>
                        <a:ea typeface="Calibri"/>
                        <a:cs typeface="Calibri"/>
                        <a:sym typeface="Calibri"/>
                      </a:endParaRPr>
                    </a:p>
                    <a:p>
                      <a:pPr marL="342900" lvl="0" indent="-184150" algn="l" rtl="0">
                        <a:spcBef>
                          <a:spcPts val="0"/>
                        </a:spcBef>
                        <a:spcAft>
                          <a:spcPts val="0"/>
                        </a:spcAft>
                        <a:buSzPts val="900"/>
                        <a:buFont typeface="Calibri"/>
                        <a:buChar char="➔"/>
                      </a:pPr>
                      <a:r>
                        <a:rPr lang="en" sz="900">
                          <a:latin typeface="Calibri"/>
                          <a:ea typeface="Calibri"/>
                          <a:cs typeface="Calibri"/>
                          <a:sym typeface="Calibri"/>
                        </a:rPr>
                        <a:t>Energy cannot be created or destroyed only moved between one place and another place, between objects and/or fields, or between systems. </a:t>
                      </a:r>
                      <a:endParaRPr sz="9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400525">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rowSpan="2" gridSpan="3">
                  <a:txBody>
                    <a:bodyPr/>
                    <a:lstStyle/>
                    <a:p>
                      <a:pPr marL="0" lvl="0" indent="0" algn="l" rtl="0">
                        <a:spcBef>
                          <a:spcPts val="0"/>
                        </a:spcBef>
                        <a:spcAft>
                          <a:spcPts val="0"/>
                        </a:spcAft>
                        <a:buNone/>
                      </a:pPr>
                      <a:r>
                        <a:rPr lang="en" sz="900" i="1" u="sng">
                          <a:solidFill>
                            <a:schemeClr val="dk1"/>
                          </a:solidFill>
                          <a:latin typeface="Calibri"/>
                          <a:ea typeface="Calibri"/>
                          <a:cs typeface="Calibri"/>
                          <a:sym typeface="Calibri"/>
                        </a:rPr>
                        <a:t>Connection to Engineering, Technology, and Applications of Science  </a:t>
                      </a:r>
                      <a:endParaRPr sz="900" i="1" u="sng">
                        <a:solidFill>
                          <a:schemeClr val="dk1"/>
                        </a:solidFill>
                        <a:latin typeface="Calibri"/>
                        <a:ea typeface="Calibri"/>
                        <a:cs typeface="Calibri"/>
                        <a:sym typeface="Calibri"/>
                      </a:endParaRPr>
                    </a:p>
                    <a:p>
                      <a:pPr marL="0" lvl="0" indent="0" algn="l" rtl="0">
                        <a:spcBef>
                          <a:spcPts val="0"/>
                        </a:spcBef>
                        <a:spcAft>
                          <a:spcPts val="0"/>
                        </a:spcAft>
                        <a:buNone/>
                      </a:pPr>
                      <a:r>
                        <a:rPr lang="en" sz="900" b="1">
                          <a:solidFill>
                            <a:schemeClr val="dk1"/>
                          </a:solidFill>
                          <a:latin typeface="Calibri"/>
                          <a:ea typeface="Calibri"/>
                          <a:cs typeface="Calibri"/>
                          <a:sym typeface="Calibri"/>
                        </a:rPr>
                        <a:t>Interdependence of Science, Engineering, and Technology </a:t>
                      </a:r>
                      <a:endParaRPr sz="900" b="1">
                        <a:solidFill>
                          <a:schemeClr val="dk1"/>
                        </a:solidFill>
                        <a:latin typeface="Calibri"/>
                        <a:ea typeface="Calibri"/>
                        <a:cs typeface="Calibri"/>
                        <a:sym typeface="Calibri"/>
                      </a:endParaRPr>
                    </a:p>
                    <a:p>
                      <a:pPr marL="342900" lvl="0" indent="-18415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Science and engineering complement each other in the cycle known as research and development (R&amp;D). Many R&amp;D projects may involve scientists, engineers, and others with wide ranges of expertise.</a:t>
                      </a:r>
                      <a:endParaRPr sz="900">
                        <a:solidFill>
                          <a:schemeClr val="dk1"/>
                        </a:solidFill>
                        <a:latin typeface="Calibri"/>
                        <a:ea typeface="Calibri"/>
                        <a:cs typeface="Calibri"/>
                        <a:sym typeface="Calibri"/>
                      </a:endParaRPr>
                    </a:p>
                    <a:p>
                      <a:pPr marL="0" lvl="0" indent="0" algn="l" rtl="0">
                        <a:spcBef>
                          <a:spcPts val="0"/>
                        </a:spcBef>
                        <a:spcAft>
                          <a:spcPts val="0"/>
                        </a:spcAft>
                        <a:buNone/>
                      </a:pPr>
                      <a:endParaRPr sz="600" u="sng">
                        <a:solidFill>
                          <a:schemeClr val="dk1"/>
                        </a:solidFill>
                        <a:latin typeface="Calibri"/>
                        <a:ea typeface="Calibri"/>
                        <a:cs typeface="Calibri"/>
                        <a:sym typeface="Calibri"/>
                      </a:endParaRPr>
                    </a:p>
                    <a:p>
                      <a:pPr marL="0" lvl="0" indent="0" algn="l" rtl="0">
                        <a:spcBef>
                          <a:spcPts val="0"/>
                        </a:spcBef>
                        <a:spcAft>
                          <a:spcPts val="0"/>
                        </a:spcAft>
                        <a:buNone/>
                      </a:pPr>
                      <a:r>
                        <a:rPr lang="en" sz="900" i="1" u="sng">
                          <a:solidFill>
                            <a:schemeClr val="dk1"/>
                          </a:solidFill>
                          <a:latin typeface="Calibri"/>
                          <a:ea typeface="Calibri"/>
                          <a:cs typeface="Calibri"/>
                          <a:sym typeface="Calibri"/>
                        </a:rPr>
                        <a:t>Connection to Nature of Science  </a:t>
                      </a:r>
                      <a:endParaRPr sz="900" i="1" u="sng">
                        <a:solidFill>
                          <a:schemeClr val="dk1"/>
                        </a:solidFill>
                        <a:latin typeface="Calibri"/>
                        <a:ea typeface="Calibri"/>
                        <a:cs typeface="Calibri"/>
                        <a:sym typeface="Calibri"/>
                      </a:endParaRPr>
                    </a:p>
                    <a:p>
                      <a:pPr marL="0" lvl="0" indent="0" algn="l" rtl="0">
                        <a:spcBef>
                          <a:spcPts val="0"/>
                        </a:spcBef>
                        <a:spcAft>
                          <a:spcPts val="0"/>
                        </a:spcAft>
                        <a:buNone/>
                      </a:pPr>
                      <a:r>
                        <a:rPr lang="en" sz="900" b="1">
                          <a:solidFill>
                            <a:schemeClr val="dk1"/>
                          </a:solidFill>
                          <a:latin typeface="Calibri"/>
                          <a:ea typeface="Calibri"/>
                          <a:cs typeface="Calibri"/>
                          <a:sym typeface="Calibri"/>
                        </a:rPr>
                        <a:t>Scientific Knowledge Assumes an Order and Consistency in Natural Systems </a:t>
                      </a:r>
                      <a:endParaRPr sz="900" b="1">
                        <a:solidFill>
                          <a:schemeClr val="dk1"/>
                        </a:solidFill>
                        <a:latin typeface="Calibri"/>
                        <a:ea typeface="Calibri"/>
                        <a:cs typeface="Calibri"/>
                        <a:sym typeface="Calibri"/>
                      </a:endParaRPr>
                    </a:p>
                    <a:p>
                      <a:pPr marL="342900" lvl="0" indent="-18415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Scientific knowledge is based on the assumption that natural laws operate today as they did in the past and they will continue to do so in the future.</a:t>
                      </a:r>
                      <a:endParaRPr sz="900">
                        <a:solidFill>
                          <a:schemeClr val="dk1"/>
                        </a:solidFill>
                        <a:latin typeface="Calibri"/>
                        <a:ea typeface="Calibri"/>
                        <a:cs typeface="Calibri"/>
                        <a:sym typeface="Calibri"/>
                      </a:endParaRPr>
                    </a:p>
                    <a:p>
                      <a:pPr marL="342900" lvl="0" indent="-18415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Science assumes the universe is a vast single system in which basic laws are consistent.</a:t>
                      </a:r>
                      <a:endParaRPr sz="900" b="1">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solidFill>
                      <a:srgbClr val="D9EAD3"/>
                    </a:solidFill>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0005"/>
                  </a:ext>
                </a:extLst>
              </a:tr>
              <a:tr h="471900">
                <a:tc gridSpan="3">
                  <a:txBody>
                    <a:bodyPr/>
                    <a:lstStyle/>
                    <a:p>
                      <a:pPr marL="0" lvl="0" indent="0" algn="l" rtl="0">
                        <a:spcBef>
                          <a:spcPts val="0"/>
                        </a:spcBef>
                        <a:spcAft>
                          <a:spcPts val="0"/>
                        </a:spcAft>
                        <a:buNone/>
                      </a:pPr>
                      <a:r>
                        <a:rPr lang="en" sz="900" i="1" u="sng">
                          <a:solidFill>
                            <a:schemeClr val="dk1"/>
                          </a:solidFill>
                          <a:latin typeface="Calibri"/>
                          <a:ea typeface="Calibri"/>
                          <a:cs typeface="Calibri"/>
                          <a:sym typeface="Calibri"/>
                        </a:rPr>
                        <a:t>Connections to Nature of Science  </a:t>
                      </a:r>
                      <a:endParaRPr sz="900" i="1" u="sng">
                        <a:solidFill>
                          <a:schemeClr val="dk1"/>
                        </a:solidFill>
                        <a:latin typeface="Calibri"/>
                        <a:ea typeface="Calibri"/>
                        <a:cs typeface="Calibri"/>
                        <a:sym typeface="Calibri"/>
                      </a:endParaRPr>
                    </a:p>
                    <a:p>
                      <a:pPr marL="0" lvl="0" indent="0" algn="l" rtl="0">
                        <a:spcBef>
                          <a:spcPts val="0"/>
                        </a:spcBef>
                        <a:spcAft>
                          <a:spcPts val="0"/>
                        </a:spcAft>
                        <a:buNone/>
                      </a:pPr>
                      <a:r>
                        <a:rPr lang="en" sz="900" b="1">
                          <a:solidFill>
                            <a:schemeClr val="dk1"/>
                          </a:solidFill>
                          <a:latin typeface="Calibri"/>
                          <a:ea typeface="Calibri"/>
                          <a:cs typeface="Calibri"/>
                          <a:sym typeface="Calibri"/>
                        </a:rPr>
                        <a:t>Science Models, Laws, Mechanisms, and Theories Explain Natural Phenomena </a:t>
                      </a:r>
                      <a:endParaRPr sz="900" b="1">
                        <a:solidFill>
                          <a:schemeClr val="dk1"/>
                        </a:solidFill>
                        <a:latin typeface="Calibri"/>
                        <a:ea typeface="Calibri"/>
                        <a:cs typeface="Calibri"/>
                        <a:sym typeface="Calibri"/>
                      </a:endParaRPr>
                    </a:p>
                    <a:p>
                      <a:pPr marL="342900" lvl="0" indent="-184150" algn="l" rtl="0">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 scientific theory is a substantiated explanation of some aspect of the natural world, based on a body of facts that have been repeatedly confirmed through observation and experiment and the science community validates each theory before it is accepted. If new evidence is discovered that the theory does not accommodate, the theory is generally modified in light of this new evidence.</a:t>
                      </a:r>
                      <a:endParaRPr sz="900" b="1" i="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solidFill>
                      <a:srgbClr val="CFE2F3"/>
                    </a:solidFill>
                  </a:tcPr>
                </a:tc>
                <a:tc hMerge="1">
                  <a:txBody>
                    <a:bodyPr/>
                    <a:lstStyle/>
                    <a:p>
                      <a:endParaRPr lang="en-US"/>
                    </a:p>
                  </a:txBody>
                  <a:tcPr/>
                </a:tc>
                <a:tc hMerge="1">
                  <a:txBody>
                    <a:bodyPr/>
                    <a:lstStyle/>
                    <a:p>
                      <a:endParaRPr lang="en-US"/>
                    </a:p>
                  </a:txBody>
                  <a:tcPr/>
                </a:tc>
                <a:tc gridSpan="3"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6"/>
                  </a:ext>
                </a:extLst>
              </a:tr>
              <a:tr h="547875">
                <a:tc gridSpan="6">
                  <a:txBody>
                    <a:bodyPr/>
                    <a:lstStyle/>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ESS1.A: The Universe and Its Stars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study of stars’ light spectra and brightness is used to identify compositional elements of stars, their movements, and their distances from Earth.</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Big Bang theory is supported by observations of distant galaxies receding from our own, of the measured composition of stars and non-stellar gases, and of the maps of spectra of the primordial radiation (cosmic microwave background) that still fills the universe. </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Other than the hydrogen and helium formed at the time of the Big Bang, nuclear fusion within stars produces all atomic nuclei lighter than and including iron, and the process releases electromagnetic energy. Heavier elements are produced when certain massive stars achieve a supernova stage and explode. </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PS4.B Electromagnetic Radiation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Atoms of each element emit and absorb characteristic frequencies of light. These characteristics allow identification of the presence of an element, even in microscopic quantities. </a:t>
                      </a:r>
                      <a:endParaRPr sz="9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5478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the astronomical evidence of the redshift of light from galaxies as an indication that the universe is currently expanding at an accelerated rate, the cosmic microwave background as the remnant radiation from the Big Bang, and the observed composition of ordinary matter of the universe, primarily found in stars and interstellar gases (from the spectra of electromagnetic radiation from stars), which matches that predicted by the Big Bang theory (3/4 hydrogen and 1/4 helium).</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86" name="Google Shape;86;p15"/>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87" name="Google Shape;87;p15"/>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77"/>
        <p:cNvGrpSpPr/>
        <p:nvPr/>
      </p:nvGrpSpPr>
      <p:grpSpPr>
        <a:xfrm>
          <a:off x="0" y="0"/>
          <a:ext cx="0" cy="0"/>
          <a:chOff x="0" y="0"/>
          <a:chExt cx="0" cy="0"/>
        </a:xfrm>
      </p:grpSpPr>
      <p:graphicFrame>
        <p:nvGraphicFramePr>
          <p:cNvPr id="78" name="Google Shape;78;p14"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4387" y="211325"/>
          <a:ext cx="9300975" cy="4869983"/>
        </p:xfrm>
        <a:graphic>
          <a:graphicData uri="http://schemas.openxmlformats.org/drawingml/2006/table">
            <a:tbl>
              <a:tblPr>
                <a:noFill/>
                <a:tableStyleId>{1455F5BC-4023-4B6A-AF38-90DE3866AEF7}</a:tableStyleId>
              </a:tblPr>
              <a:tblGrid>
                <a:gridCol w="1396275">
                  <a:extLst>
                    <a:ext uri="{9D8B030D-6E8A-4147-A177-3AD203B41FA5}">
                      <a16:colId xmlns:a16="http://schemas.microsoft.com/office/drawing/2014/main" val="20000"/>
                    </a:ext>
                  </a:extLst>
                </a:gridCol>
                <a:gridCol w="781950">
                  <a:extLst>
                    <a:ext uri="{9D8B030D-6E8A-4147-A177-3AD203B41FA5}">
                      <a16:colId xmlns:a16="http://schemas.microsoft.com/office/drawing/2014/main" val="20001"/>
                    </a:ext>
                  </a:extLst>
                </a:gridCol>
                <a:gridCol w="1508450">
                  <a:extLst>
                    <a:ext uri="{9D8B030D-6E8A-4147-A177-3AD203B41FA5}">
                      <a16:colId xmlns:a16="http://schemas.microsoft.com/office/drawing/2014/main" val="20002"/>
                    </a:ext>
                  </a:extLst>
                </a:gridCol>
                <a:gridCol w="1610200">
                  <a:extLst>
                    <a:ext uri="{9D8B030D-6E8A-4147-A177-3AD203B41FA5}">
                      <a16:colId xmlns:a16="http://schemas.microsoft.com/office/drawing/2014/main" val="20003"/>
                    </a:ext>
                  </a:extLst>
                </a:gridCol>
                <a:gridCol w="1752675">
                  <a:extLst>
                    <a:ext uri="{9D8B030D-6E8A-4147-A177-3AD203B41FA5}">
                      <a16:colId xmlns:a16="http://schemas.microsoft.com/office/drawing/2014/main" val="20004"/>
                    </a:ext>
                  </a:extLst>
                </a:gridCol>
                <a:gridCol w="2251425">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Space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Complete a model based on evidence to illustrate the lifespan of the Sun and/or the role of nuclear fusion in the Sun’s core to release energy that eventually reaches Earth (in the form of radiation).  [HS-ESS1-1]</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8510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T w="28575" cap="flat" cmpd="sng">
                      <a:solidFill>
                        <a:srgbClr val="9E9E9E"/>
                      </a:solidFill>
                      <a:prstDash val="solid"/>
                      <a:round/>
                      <a:headEnd type="none" w="sm" len="sm"/>
                      <a:tailEnd type="none" w="sm" len="sm"/>
                    </a:lnT>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CCCCCC"/>
                    </a:solidFill>
                  </a:tcPr>
                </a:tc>
                <a:extLst>
                  <a:ext uri="{0D108BD9-81ED-4DB2-BD59-A6C34878D82A}">
                    <a16:rowId xmlns:a16="http://schemas.microsoft.com/office/drawing/2014/main" val="10002"/>
                  </a:ext>
                </a:extLst>
              </a:tr>
              <a:tr h="645650">
                <a:tc gridSpan="2">
                  <a:txBody>
                    <a:bodyPr/>
                    <a:lstStyle/>
                    <a:p>
                      <a:pPr marL="0" lvl="0" indent="0" algn="l" rtl="0">
                        <a:spcBef>
                          <a:spcPts val="0"/>
                        </a:spcBef>
                        <a:spcAft>
                          <a:spcPts val="0"/>
                        </a:spcAft>
                        <a:buNone/>
                      </a:pPr>
                      <a:r>
                        <a:rPr lang="en" sz="900">
                          <a:latin typeface="Calibri"/>
                          <a:ea typeface="Calibri"/>
                          <a:cs typeface="Calibri"/>
                          <a:sym typeface="Calibri"/>
                        </a:rPr>
                        <a:t>Develop and critique models, based on evidence, that illustrate the lifespan of the Sun, the role of nuclear fusion, and how energy from the Sun reaches Earth in the form of electromagnetic radiation, using scale, proportion, and quantity to evaluate the models’ validity and limitations in order to revise them.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Develop a model based on evidence to illustrate the lifespan of the Sun and the role of nuclear fusion in the Sun’s core to release energy that eventually reaches Earth in the form of radiation.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Complete a model based on evidence to illustrate the lifespan of the Sun and/or the role of nuclear fusion in the Sun’s core to release energy that eventually reaches Earth (in the form of radiation). </a:t>
                      </a:r>
                      <a:endParaRPr sz="900">
                        <a:latin typeface="Calibri"/>
                        <a:ea typeface="Calibri"/>
                        <a:cs typeface="Calibri"/>
                        <a:sym typeface="Calibri"/>
                      </a:endParaRPr>
                    </a:p>
                  </a:txBody>
                  <a:tcPr marL="95100" marR="95100" marT="67975" marB="67975">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Given a model, and/or information, describe the evidence that determines the lifespan of the Sun or illustrates the role of nuclear fusion in the Sun’s core to release energy or ways that the Sun’s radiation varies. </a:t>
                      </a:r>
                      <a:endParaRPr sz="900">
                        <a:latin typeface="Calibri"/>
                        <a:ea typeface="Calibri"/>
                        <a:cs typeface="Calibri"/>
                        <a:sym typeface="Calibri"/>
                      </a:endParaRPr>
                    </a:p>
                  </a:txBody>
                  <a:tcPr marL="95100" marR="95100" marT="67975" marB="67975">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a model, and/or information, identify the evidence, from those provided, that determines the lifespan of the Sun or illustrates the role of nuclear fusion in the Sun’s core to release energy or identify the correct pattern, from those provided, that shows variation in solar output.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36425">
                <a:tc gridSpan="4">
                  <a:txBody>
                    <a:bodyPr/>
                    <a:lstStyle/>
                    <a:p>
                      <a:pPr marL="0" lvl="0" indent="0" algn="l" rtl="0">
                        <a:spcBef>
                          <a:spcPts val="0"/>
                        </a:spcBef>
                        <a:spcAft>
                          <a:spcPts val="0"/>
                        </a:spcAft>
                        <a:buNone/>
                      </a:pPr>
                      <a:r>
                        <a:rPr lang="en" sz="1000" b="1">
                          <a:latin typeface="Calibri"/>
                          <a:ea typeface="Calibri"/>
                          <a:cs typeface="Calibri"/>
                          <a:sym typeface="Calibri"/>
                        </a:rPr>
                        <a:t>Developing &amp; Using Models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Develop a model based on evidence to illustrate the relationships between systems or between components of a system.</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Scale, Proportion, &amp; Quantity</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The significance of a phenomenon is dependent on the scale, proportion, and quantity at which it occurs.</a:t>
                      </a:r>
                      <a:endParaRPr sz="10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extLst>
                  <a:ext uri="{0D108BD9-81ED-4DB2-BD59-A6C34878D82A}">
                    <a16:rowId xmlns:a16="http://schemas.microsoft.com/office/drawing/2014/main" val="10004"/>
                  </a:ext>
                </a:extLst>
              </a:tr>
              <a:tr h="44135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ESS1.A: The Universe and Its Stars</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star called the sun is changing and will burn out over a lifespan of approximately 10 billion years.</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PS3.D: Energy in Chemical Processes and Everyday Life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Nuclear Fusion processes in the center of the sun release the energy that ultimately reaches Earth as radiation.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413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the energy transfer mechanisms that allow energy from nuclear fusion in the Sun’s core to reach Earth. Examples of evidence for the model could include observations of the masses and lifetimes of other stars, as well as the ways that the Sun’s radiation varies due to sudden solar flares (“space weather”), the 11-year sunspot cycle, and non-cyclic variations over centuries.</a:t>
                      </a:r>
                      <a:endParaRPr sz="1000" b="1">
                        <a:solidFill>
                          <a:srgbClr val="CC0000"/>
                        </a:solidFill>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0">
                <a:tc>
                  <a:txBody>
                    <a:bodyPr/>
                    <a:lstStyle/>
                    <a:p>
                      <a:pPr marL="0" lvl="0" indent="0" algn="r" rtl="0">
                        <a:spcBef>
                          <a:spcPts val="0"/>
                        </a:spcBef>
                        <a:spcAft>
                          <a:spcPts val="0"/>
                        </a:spcAft>
                        <a:buClr>
                          <a:schemeClr val="dk1"/>
                        </a:buClr>
                        <a:buSzPts val="1000"/>
                        <a:buFont typeface="Arial"/>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does not include details of the atomic and subatomic processes involved with the Sun’s nuclear fusion.</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79" name="Google Shape;79;p14"/>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80" name="Google Shape;80;p14"/>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1"/>
        <p:cNvGrpSpPr/>
        <p:nvPr/>
      </p:nvGrpSpPr>
      <p:grpSpPr>
        <a:xfrm>
          <a:off x="0" y="0"/>
          <a:ext cx="0" cy="0"/>
          <a:chOff x="0" y="0"/>
          <a:chExt cx="0" cy="0"/>
        </a:xfrm>
      </p:grpSpPr>
      <p:graphicFrame>
        <p:nvGraphicFramePr>
          <p:cNvPr id="92" name="Google Shape;92;p16"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49" y="211325"/>
          <a:ext cx="9284050" cy="4357703"/>
        </p:xfrm>
        <a:graphic>
          <a:graphicData uri="http://schemas.openxmlformats.org/drawingml/2006/table">
            <a:tbl>
              <a:tblPr>
                <a:noFill/>
                <a:tableStyleId>{1455F5BC-4023-4B6A-AF38-90DE3866AEF7}</a:tableStyleId>
              </a:tblPr>
              <a:tblGrid>
                <a:gridCol w="1470500">
                  <a:extLst>
                    <a:ext uri="{9D8B030D-6E8A-4147-A177-3AD203B41FA5}">
                      <a16:colId xmlns:a16="http://schemas.microsoft.com/office/drawing/2014/main" val="20000"/>
                    </a:ext>
                  </a:extLst>
                </a:gridCol>
                <a:gridCol w="1056050">
                  <a:extLst>
                    <a:ext uri="{9D8B030D-6E8A-4147-A177-3AD203B41FA5}">
                      <a16:colId xmlns:a16="http://schemas.microsoft.com/office/drawing/2014/main" val="20001"/>
                    </a:ext>
                  </a:extLst>
                </a:gridCol>
                <a:gridCol w="1243200">
                  <a:extLst>
                    <a:ext uri="{9D8B030D-6E8A-4147-A177-3AD203B41FA5}">
                      <a16:colId xmlns:a16="http://schemas.microsoft.com/office/drawing/2014/main" val="20002"/>
                    </a:ext>
                  </a:extLst>
                </a:gridCol>
                <a:gridCol w="1943000">
                  <a:extLst>
                    <a:ext uri="{9D8B030D-6E8A-4147-A177-3AD203B41FA5}">
                      <a16:colId xmlns:a16="http://schemas.microsoft.com/office/drawing/2014/main" val="20003"/>
                    </a:ext>
                  </a:extLst>
                </a:gridCol>
                <a:gridCol w="1858800">
                  <a:extLst>
                    <a:ext uri="{9D8B030D-6E8A-4147-A177-3AD203B41FA5}">
                      <a16:colId xmlns:a16="http://schemas.microsoft.com/office/drawing/2014/main" val="20004"/>
                    </a:ext>
                  </a:extLst>
                </a:gridCol>
                <a:gridCol w="1712500">
                  <a:extLst>
                    <a:ext uri="{9D8B030D-6E8A-4147-A177-3AD203B41FA5}">
                      <a16:colId xmlns:a16="http://schemas.microsoft.com/office/drawing/2014/main" val="20005"/>
                    </a:ext>
                  </a:extLst>
                </a:gridCol>
              </a:tblGrid>
              <a:tr h="36015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Space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9925">
                <a:tc gridSpan="6">
                  <a:txBody>
                    <a:bodyPr/>
                    <a:lstStyle/>
                    <a:p>
                      <a:pPr marL="0" lvl="0" indent="0" algn="l" rtl="0">
                        <a:spcBef>
                          <a:spcPts val="0"/>
                        </a:spcBef>
                        <a:spcAft>
                          <a:spcPts val="0"/>
                        </a:spcAft>
                        <a:buNone/>
                      </a:pPr>
                      <a:r>
                        <a:rPr lang="en" sz="1200" b="1">
                          <a:latin typeface="Calibri"/>
                          <a:ea typeface="Calibri"/>
                          <a:cs typeface="Calibri"/>
                          <a:sym typeface="Calibri"/>
                        </a:rPr>
                        <a:t>Describe or identify one scientific idea from a source about how stars, over their life cycles, produce different elements depending on their masses or their life cycle.  [HS-ESS1-3]</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6805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673100">
                <a:tc gridSpan="2">
                  <a:txBody>
                    <a:bodyPr/>
                    <a:lstStyle/>
                    <a:p>
                      <a:pPr marL="0" lvl="0" indent="0" algn="l" rtl="0">
                        <a:spcBef>
                          <a:spcPts val="0"/>
                        </a:spcBef>
                        <a:spcAft>
                          <a:spcPts val="0"/>
                        </a:spcAft>
                        <a:buNone/>
                      </a:pPr>
                      <a:r>
                        <a:rPr lang="en" sz="900">
                          <a:latin typeface="Calibri"/>
                          <a:ea typeface="Calibri"/>
                          <a:cs typeface="Calibri"/>
                          <a:sym typeface="Calibri"/>
                        </a:rPr>
                        <a:t>Synthesize valid and reliable scientific information in order to communicate scientific ideas in multiple formats (i.e. orally, graphically, textually, or mathematically) about the way stars, over their life cycles, produce elements.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Communicate scientific ideas about the way stars, over their life cycles, produce elements.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Describe or identify one scientific idea from a source about how stars, over their life cycles, produce different elements depending on their masses or their life cycle.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the given scientific idea that describes how different elements are produced by different types of stars over their life cycle.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a scientific idea, identify the claim, from those provided, that describes how stars form elements over their life cycle.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38525">
                <a:tc gridSpan="4">
                  <a:txBody>
                    <a:bodyPr/>
                    <a:lstStyle/>
                    <a:p>
                      <a:pPr marL="0" lvl="0" indent="0" algn="l" rtl="0">
                        <a:spcBef>
                          <a:spcPts val="0"/>
                        </a:spcBef>
                        <a:spcAft>
                          <a:spcPts val="0"/>
                        </a:spcAft>
                        <a:buNone/>
                      </a:pPr>
                      <a:r>
                        <a:rPr lang="en" sz="1000" b="1">
                          <a:latin typeface="Calibri"/>
                          <a:ea typeface="Calibri"/>
                          <a:cs typeface="Calibri"/>
                          <a:sym typeface="Calibri"/>
                        </a:rPr>
                        <a:t>Obtaining, Evaluating, &amp; Communicating Information</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Communicate scientific ideas (e.g., about phenomena and/or the process of development and the design and performance of a proposed process or system) in multiple formats (including orally, graphically, textually, and mathematically). </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Energy &amp; Matter</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In nuclear processes, atoms are not conserved, but the total number of protons plus neutrons is conserved.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69470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ESS1.A: The Universe and Its Stars</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study of stars’ light spectra and brightness is used to identify compositional elements of stars, their movements, and their distances from Earth. </a:t>
                      </a:r>
                      <a:endParaRPr sz="1000">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Other than the hydrogen and helium formed at the time of the Big Bang, nuclear fusion within stars produces all atomic nuclei lighter than and including iron, and the process releases electromagnetic energy. Heavier elements are produced when certain massive stars achieve a supernova stage and explode</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141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how nucleosynthesis varies as a function of the mass of a star and the stage of its lifetime.</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141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Details of the many different nucleosynthesis pathways for stars of differing masses are not assessed.</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93" name="Google Shape;93;p16"/>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94" name="Google Shape;94;p16"/>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8"/>
        <p:cNvGrpSpPr/>
        <p:nvPr/>
      </p:nvGrpSpPr>
      <p:grpSpPr>
        <a:xfrm>
          <a:off x="0" y="0"/>
          <a:ext cx="0" cy="0"/>
          <a:chOff x="0" y="0"/>
          <a:chExt cx="0" cy="0"/>
        </a:xfrm>
      </p:grpSpPr>
      <p:graphicFrame>
        <p:nvGraphicFramePr>
          <p:cNvPr id="99" name="Google Shape;99;p17"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98" y="211325"/>
          <a:ext cx="9283975" cy="4799638"/>
        </p:xfrm>
        <a:graphic>
          <a:graphicData uri="http://schemas.openxmlformats.org/drawingml/2006/table">
            <a:tbl>
              <a:tblPr>
                <a:noFill/>
                <a:tableStyleId>{1455F5BC-4023-4B6A-AF38-90DE3866AEF7}</a:tableStyleId>
              </a:tblPr>
              <a:tblGrid>
                <a:gridCol w="1453650">
                  <a:extLst>
                    <a:ext uri="{9D8B030D-6E8A-4147-A177-3AD203B41FA5}">
                      <a16:colId xmlns:a16="http://schemas.microsoft.com/office/drawing/2014/main" val="20000"/>
                    </a:ext>
                  </a:extLst>
                </a:gridCol>
                <a:gridCol w="585675">
                  <a:extLst>
                    <a:ext uri="{9D8B030D-6E8A-4147-A177-3AD203B41FA5}">
                      <a16:colId xmlns:a16="http://schemas.microsoft.com/office/drawing/2014/main" val="20001"/>
                    </a:ext>
                  </a:extLst>
                </a:gridCol>
                <a:gridCol w="1812700">
                  <a:extLst>
                    <a:ext uri="{9D8B030D-6E8A-4147-A177-3AD203B41FA5}">
                      <a16:colId xmlns:a16="http://schemas.microsoft.com/office/drawing/2014/main" val="20002"/>
                    </a:ext>
                  </a:extLst>
                </a:gridCol>
                <a:gridCol w="1873725">
                  <a:extLst>
                    <a:ext uri="{9D8B030D-6E8A-4147-A177-3AD203B41FA5}">
                      <a16:colId xmlns:a16="http://schemas.microsoft.com/office/drawing/2014/main" val="20003"/>
                    </a:ext>
                  </a:extLst>
                </a:gridCol>
                <a:gridCol w="1869875">
                  <a:extLst>
                    <a:ext uri="{9D8B030D-6E8A-4147-A177-3AD203B41FA5}">
                      <a16:colId xmlns:a16="http://schemas.microsoft.com/office/drawing/2014/main" val="20004"/>
                    </a:ext>
                  </a:extLst>
                </a:gridCol>
                <a:gridCol w="1688350">
                  <a:extLst>
                    <a:ext uri="{9D8B030D-6E8A-4147-A177-3AD203B41FA5}">
                      <a16:colId xmlns:a16="http://schemas.microsoft.com/office/drawing/2014/main" val="20005"/>
                    </a:ext>
                  </a:extLst>
                </a:gridCol>
              </a:tblGrid>
              <a:tr h="34752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Space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7525">
                <a:tc gridSpan="6">
                  <a:txBody>
                    <a:bodyPr/>
                    <a:lstStyle/>
                    <a:p>
                      <a:pPr marL="0" lvl="0" indent="0" algn="l" rtl="0">
                        <a:spcBef>
                          <a:spcPts val="0"/>
                        </a:spcBef>
                        <a:spcAft>
                          <a:spcPts val="0"/>
                        </a:spcAft>
                        <a:buNone/>
                      </a:pPr>
                      <a:r>
                        <a:rPr lang="en" sz="1200" b="1">
                          <a:latin typeface="Calibri"/>
                          <a:ea typeface="Calibri"/>
                          <a:cs typeface="Calibri"/>
                          <a:sym typeface="Calibri"/>
                        </a:rPr>
                        <a:t>Use a mathematical or a computational representation(s) to describe the motion of orbiting object(s) in the solar system.  [HS-ESS1-4]</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6305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649525">
                <a:tc gridSpan="2">
                  <a:txBody>
                    <a:bodyPr/>
                    <a:lstStyle/>
                    <a:p>
                      <a:pPr marL="0" lvl="0" indent="0" algn="l" rtl="0">
                        <a:spcBef>
                          <a:spcPts val="0"/>
                        </a:spcBef>
                        <a:spcAft>
                          <a:spcPts val="0"/>
                        </a:spcAft>
                        <a:buNone/>
                      </a:pPr>
                      <a:r>
                        <a:rPr lang="en" sz="900">
                          <a:latin typeface="Calibri"/>
                          <a:ea typeface="Calibri"/>
                          <a:cs typeface="Calibri"/>
                          <a:sym typeface="Calibri"/>
                        </a:rPr>
                        <a:t>Use mathematical and computational analysis to predict the motions of orbiting bodies in the solar system and/or other parts of the universe.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Use mathematical or computational representations to predict the motion of orbiting objects in the solar system.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mathematical or a computational representation(s) to describe the motion of orbiting object(s) in the solar system.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a correct mathematical or computational representation that describes and/or predicts the motion of orbiting object(s) in the solar system.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Using mathematical reasoning and given data, predict the motion of an orbiting object in the solar system.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95675">
                <a:tc rowSpan="2" gridSpan="2">
                  <a:txBody>
                    <a:bodyPr/>
                    <a:lstStyle/>
                    <a:p>
                      <a:pPr marL="0" lvl="0" indent="0" algn="l" rtl="0">
                        <a:spcBef>
                          <a:spcPts val="0"/>
                        </a:spcBef>
                        <a:spcAft>
                          <a:spcPts val="0"/>
                        </a:spcAft>
                        <a:buNone/>
                      </a:pPr>
                      <a:r>
                        <a:rPr lang="en" sz="1000" b="1">
                          <a:latin typeface="Calibri"/>
                          <a:ea typeface="Calibri"/>
                          <a:cs typeface="Calibri"/>
                          <a:sym typeface="Calibri"/>
                        </a:rPr>
                        <a:t>Using Mathematical &amp; Computational Thinking</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Use mathematical or computational representations of phenomena to describe explanations. </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rowSpan="2" hMerge="1">
                  <a:txBody>
                    <a:bodyPr/>
                    <a:lstStyle/>
                    <a:p>
                      <a:endParaRPr lang="en-US"/>
                    </a:p>
                  </a:txBody>
                  <a:tcPr/>
                </a:tc>
                <a:tc gridSpan="4">
                  <a:txBody>
                    <a:bodyPr/>
                    <a:lstStyle/>
                    <a:p>
                      <a:pPr marL="0" lvl="0" indent="0" algn="l" rtl="0">
                        <a:spcBef>
                          <a:spcPts val="0"/>
                        </a:spcBef>
                        <a:spcAft>
                          <a:spcPts val="0"/>
                        </a:spcAft>
                        <a:buNone/>
                      </a:pPr>
                      <a:r>
                        <a:rPr lang="en" sz="1000" b="1">
                          <a:latin typeface="Calibri"/>
                          <a:ea typeface="Calibri"/>
                          <a:cs typeface="Calibri"/>
                          <a:sym typeface="Calibri"/>
                        </a:rPr>
                        <a:t>Scale, Proportion, &amp; Quantity</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Algebraic thinking is used to examine scientific data and predict the effect of a change in one variable on another (e.g., linear growth vs. exponential growth).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641675">
                <a:tc gridSpan="2" vMerge="1">
                  <a:txBody>
                    <a:bodyPr/>
                    <a:lstStyle/>
                    <a:p>
                      <a:endParaRPr lang="en-US"/>
                    </a:p>
                  </a:txBody>
                  <a:tcPr/>
                </a:tc>
                <a:tc hMerge="1" vMerge="1">
                  <a:txBody>
                    <a:bodyPr/>
                    <a:lstStyle/>
                    <a:p>
                      <a:endParaRPr lang="en-US"/>
                    </a:p>
                  </a:txBody>
                  <a:tcPr/>
                </a:tc>
                <a:tc gridSpan="4">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 to Engineering, Technology, and Applications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Interdependence of Science, Engineering, and Technology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Science and engineering complement each other in the cycle known as research and development (R&amp;D). Many R&amp;D projects may involve scientists, engineers, and others with wide ranges of expertise.</a:t>
                      </a:r>
                      <a:endParaRPr sz="1000" b="1">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53182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ESS1.B: Earth and the Solar System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Kepler’s laws describe common features of the motions of orbiting objects, including their elliptical paths around the sun. Orbits may change due to the gravitational effects from, or collisions with, other objects in the solar system.</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604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Newtonian gravitational laws governing orbital motions, which apply to human-made satellites as well as planets and moons.</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604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Mathematical representations for the gravitational attraction of bodies and Kepler’s Laws of orbital motions should not deal with more than two bodies, nor involve calculus.</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100" name="Google Shape;100;p17"/>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01" name="Google Shape;101;p17"/>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05"/>
        <p:cNvGrpSpPr/>
        <p:nvPr/>
      </p:nvGrpSpPr>
      <p:grpSpPr>
        <a:xfrm>
          <a:off x="0" y="0"/>
          <a:ext cx="0" cy="0"/>
          <a:chOff x="0" y="0"/>
          <a:chExt cx="0" cy="0"/>
        </a:xfrm>
      </p:grpSpPr>
      <p:graphicFrame>
        <p:nvGraphicFramePr>
          <p:cNvPr id="106" name="Google Shape;106;p18"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62" y="211325"/>
          <a:ext cx="9284050" cy="4824263"/>
        </p:xfrm>
        <a:graphic>
          <a:graphicData uri="http://schemas.openxmlformats.org/drawingml/2006/table">
            <a:tbl>
              <a:tblPr>
                <a:noFill/>
                <a:tableStyleId>{1455F5BC-4023-4B6A-AF38-90DE3866AEF7}</a:tableStyleId>
              </a:tblPr>
              <a:tblGrid>
                <a:gridCol w="1459075">
                  <a:extLst>
                    <a:ext uri="{9D8B030D-6E8A-4147-A177-3AD203B41FA5}">
                      <a16:colId xmlns:a16="http://schemas.microsoft.com/office/drawing/2014/main" val="20000"/>
                    </a:ext>
                  </a:extLst>
                </a:gridCol>
                <a:gridCol w="890450">
                  <a:extLst>
                    <a:ext uri="{9D8B030D-6E8A-4147-A177-3AD203B41FA5}">
                      <a16:colId xmlns:a16="http://schemas.microsoft.com/office/drawing/2014/main" val="20001"/>
                    </a:ext>
                  </a:extLst>
                </a:gridCol>
                <a:gridCol w="1320825">
                  <a:extLst>
                    <a:ext uri="{9D8B030D-6E8A-4147-A177-3AD203B41FA5}">
                      <a16:colId xmlns:a16="http://schemas.microsoft.com/office/drawing/2014/main" val="20002"/>
                    </a:ext>
                  </a:extLst>
                </a:gridCol>
                <a:gridCol w="1757000">
                  <a:extLst>
                    <a:ext uri="{9D8B030D-6E8A-4147-A177-3AD203B41FA5}">
                      <a16:colId xmlns:a16="http://schemas.microsoft.com/office/drawing/2014/main" val="20003"/>
                    </a:ext>
                  </a:extLst>
                </a:gridCol>
                <a:gridCol w="2036950">
                  <a:extLst>
                    <a:ext uri="{9D8B030D-6E8A-4147-A177-3AD203B41FA5}">
                      <a16:colId xmlns:a16="http://schemas.microsoft.com/office/drawing/2014/main" val="20004"/>
                    </a:ext>
                  </a:extLst>
                </a:gridCol>
                <a:gridCol w="1819750">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History of Earth</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Construct an explanation using evidence to support the claim that the phases of the Moon or eclipses  or tides  or seasons change cyclically  or that celestial events are the result of the relative motion and/or perspective of an observer.  [HS-ESS1-7]</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2892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49775">
                <a:tc gridSpan="2">
                  <a:txBody>
                    <a:bodyPr/>
                    <a:lstStyle/>
                    <a:p>
                      <a:pPr marL="0" lvl="0" indent="0" algn="l" rtl="0">
                        <a:spcBef>
                          <a:spcPts val="0"/>
                        </a:spcBef>
                        <a:spcAft>
                          <a:spcPts val="0"/>
                        </a:spcAft>
                        <a:buNone/>
                      </a:pPr>
                      <a:r>
                        <a:rPr lang="en" sz="900">
                          <a:latin typeface="Calibri"/>
                          <a:ea typeface="Calibri"/>
                          <a:cs typeface="Calibri"/>
                          <a:sym typeface="Calibri"/>
                        </a:rPr>
                        <a:t>Apply scientific ideas, principles, and evidence to support the claim that the phases of the Moon, eclipses, tides, and seasons change cyclically and that celestial events are the result of the relative motion and perspective of an observer.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Construct an explanation using evidence to support the claim that the phases of the Moon, eclipses, tides, and seasons change cyclically.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Construct an explanation using evidence to support the claim that the phases of the Moon or eclipses  or tides  or seasons change cyclically  or that celestial events are the result of the relative motion and/or perspective of an observer.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an evidence-based explanation, from those provided, that supports the claim that the phases of the Moon or  eclipses or  tides or seasons change cyclically  or that celestial events are the result of the relative motion and/or perspective of an observer.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Identify the evidence that supports the claim that the phases of the Moon or  eclipses or tides or  seasons change cyclically or that celestial events are the result of the relative motion and the perspective of an observer.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13100">
                <a:tc gridSpan="4">
                  <a:txBody>
                    <a:bodyPr/>
                    <a:lstStyle/>
                    <a:p>
                      <a:pPr marL="0" lvl="0" indent="0" algn="l" rtl="0">
                        <a:spcBef>
                          <a:spcPts val="0"/>
                        </a:spcBef>
                        <a:spcAft>
                          <a:spcPts val="0"/>
                        </a:spcAft>
                        <a:buNone/>
                      </a:pPr>
                      <a:r>
                        <a:rPr lang="en" sz="1000" b="1">
                          <a:latin typeface="Calibri"/>
                          <a:ea typeface="Calibri"/>
                          <a:cs typeface="Calibri"/>
                          <a:sym typeface="Calibri"/>
                        </a:rPr>
                        <a:t>Constructing Explanations &amp; Designing Solutions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Construct an explanation based on valid and reliable evidence obtained from a variety of sources (including students’ own investigations, models, theories, simulations, peer review) and the assumption that theories and laws that describe the natural world operate today as they did in the past and will continue to do so in the future.</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Patterns</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Different patterns may be observed at each of the scales at which a system is studied and can provide evidence for causality in explanations of phenomena.</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20132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ESS1.B: Earth and the Solar System</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t>
                      </a:r>
                      <a:r>
                        <a:rPr lang="en" sz="1000">
                          <a:solidFill>
                            <a:schemeClr val="dk1"/>
                          </a:solidFill>
                          <a:highlight>
                            <a:srgbClr val="FFFF00"/>
                          </a:highlight>
                          <a:latin typeface="Calibri"/>
                          <a:ea typeface="Calibri"/>
                          <a:cs typeface="Calibri"/>
                          <a:sym typeface="Calibri"/>
                        </a:rPr>
                        <a:t>NYSED</a:t>
                      </a:r>
                      <a:r>
                        <a:rPr lang="en" sz="1000">
                          <a:solidFill>
                            <a:schemeClr val="dk1"/>
                          </a:solidFill>
                          <a:latin typeface="Calibri"/>
                          <a:ea typeface="Calibri"/>
                          <a:cs typeface="Calibri"/>
                          <a:sym typeface="Calibri"/>
                        </a:rPr>
                        <a:t>) Earth and celestial phenomena can be described by principles of relative motion and perspective.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13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of the explanation should include how the relative positions of the moon in its orbit, Earth, and the Sun cause different phases, types of eclipses or strength of tides. Examples of evidence could include various representations of relative positions of the Sun, Earth and moon.</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013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does not include mathematical computations to support explanations but rather relies on conceptual modeling using diagrams to show how celestial bodies interact to create these cyclical changes.</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07" name="Google Shape;107;p18"/>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08" name="Google Shape;108;p18"/>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12"/>
        <p:cNvGrpSpPr/>
        <p:nvPr/>
      </p:nvGrpSpPr>
      <p:grpSpPr>
        <a:xfrm>
          <a:off x="0" y="0"/>
          <a:ext cx="0" cy="0"/>
          <a:chOff x="0" y="0"/>
          <a:chExt cx="0" cy="0"/>
        </a:xfrm>
      </p:grpSpPr>
      <p:graphicFrame>
        <p:nvGraphicFramePr>
          <p:cNvPr id="113" name="Google Shape;113;p19"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62" y="211325"/>
          <a:ext cx="9284050" cy="5008353"/>
        </p:xfrm>
        <a:graphic>
          <a:graphicData uri="http://schemas.openxmlformats.org/drawingml/2006/table">
            <a:tbl>
              <a:tblPr>
                <a:noFill/>
                <a:tableStyleId>{1455F5BC-4023-4B6A-AF38-90DE3866AEF7}</a:tableStyleId>
              </a:tblPr>
              <a:tblGrid>
                <a:gridCol w="1441000">
                  <a:extLst>
                    <a:ext uri="{9D8B030D-6E8A-4147-A177-3AD203B41FA5}">
                      <a16:colId xmlns:a16="http://schemas.microsoft.com/office/drawing/2014/main" val="20000"/>
                    </a:ext>
                  </a:extLst>
                </a:gridCol>
                <a:gridCol w="446450">
                  <a:extLst>
                    <a:ext uri="{9D8B030D-6E8A-4147-A177-3AD203B41FA5}">
                      <a16:colId xmlns:a16="http://schemas.microsoft.com/office/drawing/2014/main" val="20001"/>
                    </a:ext>
                  </a:extLst>
                </a:gridCol>
                <a:gridCol w="998075">
                  <a:extLst>
                    <a:ext uri="{9D8B030D-6E8A-4147-A177-3AD203B41FA5}">
                      <a16:colId xmlns:a16="http://schemas.microsoft.com/office/drawing/2014/main" val="20002"/>
                    </a:ext>
                  </a:extLst>
                </a:gridCol>
                <a:gridCol w="1648800">
                  <a:extLst>
                    <a:ext uri="{9D8B030D-6E8A-4147-A177-3AD203B41FA5}">
                      <a16:colId xmlns:a16="http://schemas.microsoft.com/office/drawing/2014/main" val="20003"/>
                    </a:ext>
                  </a:extLst>
                </a:gridCol>
                <a:gridCol w="1802425">
                  <a:extLst>
                    <a:ext uri="{9D8B030D-6E8A-4147-A177-3AD203B41FA5}">
                      <a16:colId xmlns:a16="http://schemas.microsoft.com/office/drawing/2014/main" val="20004"/>
                    </a:ext>
                  </a:extLst>
                </a:gridCol>
                <a:gridCol w="1700975">
                  <a:extLst>
                    <a:ext uri="{9D8B030D-6E8A-4147-A177-3AD203B41FA5}">
                      <a16:colId xmlns:a16="http://schemas.microsoft.com/office/drawing/2014/main" val="20005"/>
                    </a:ext>
                  </a:extLst>
                </a:gridCol>
                <a:gridCol w="1246325">
                  <a:extLst>
                    <a:ext uri="{9D8B030D-6E8A-4147-A177-3AD203B41FA5}">
                      <a16:colId xmlns:a16="http://schemas.microsoft.com/office/drawing/2014/main" val="20006"/>
                    </a:ext>
                  </a:extLst>
                </a:gridCol>
              </a:tblGrid>
              <a:tr h="411800">
                <a:tc gridSpan="7">
                  <a:txBody>
                    <a:bodyPr/>
                    <a:lstStyle/>
                    <a:p>
                      <a:pPr marL="0" lvl="0" indent="0" algn="l" rtl="0">
                        <a:spcBef>
                          <a:spcPts val="0"/>
                        </a:spcBef>
                        <a:spcAft>
                          <a:spcPts val="0"/>
                        </a:spcAft>
                        <a:buNone/>
                      </a:pPr>
                      <a:r>
                        <a:rPr lang="en" sz="1200" b="1">
                          <a:latin typeface="Calibri"/>
                          <a:ea typeface="Calibri"/>
                          <a:cs typeface="Calibri"/>
                          <a:sym typeface="Calibri"/>
                        </a:rPr>
                        <a:t>Earth &amp; Space Science: History of Earth</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83775">
                <a:tc gridSpan="7">
                  <a:txBody>
                    <a:bodyPr/>
                    <a:lstStyle/>
                    <a:p>
                      <a:pPr marL="0" lvl="0" indent="0" algn="l" rtl="0">
                        <a:spcBef>
                          <a:spcPts val="0"/>
                        </a:spcBef>
                        <a:spcAft>
                          <a:spcPts val="0"/>
                        </a:spcAft>
                        <a:buNone/>
                      </a:pPr>
                      <a:r>
                        <a:rPr lang="en" sz="1200" b="1">
                          <a:latin typeface="Calibri"/>
                          <a:ea typeface="Calibri"/>
                          <a:cs typeface="Calibri"/>
                          <a:sym typeface="Calibri"/>
                        </a:rPr>
                        <a:t>Evaluate evidence of the past and current movements of continental and/or oceanic crust and/or use the theory of plate tectonics, determine the pattern in the ages of crustal rocks. [HS-ESS1-5]</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95775">
                <a:tc gridSpan="3">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920700">
                <a:tc gridSpan="3">
                  <a:txBody>
                    <a:bodyPr/>
                    <a:lstStyle/>
                    <a:p>
                      <a:pPr marL="0" lvl="0" indent="0" algn="l" rtl="0">
                        <a:spcBef>
                          <a:spcPts val="0"/>
                        </a:spcBef>
                        <a:spcAft>
                          <a:spcPts val="0"/>
                        </a:spcAft>
                        <a:buNone/>
                      </a:pPr>
                      <a:r>
                        <a:rPr lang="en" sz="900">
                          <a:latin typeface="Calibri"/>
                          <a:ea typeface="Calibri"/>
                          <a:cs typeface="Calibri"/>
                          <a:sym typeface="Calibri"/>
                        </a:rPr>
                        <a:t>Using multiple sources of evidence, analyze the patterns in the data of the past and current movements of continental and oceanic crust to explain the ages of crustal rocks.  Evaluate evidence from current and historical scientific ideas and principles that contribute to the theory of plate tectonics.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Evaluate evidence of the past and current movements of continental and oceanic crust and the theory of plate tectonics to explain the ages of crustal rocks.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Evaluate evidence of the past and current movements of continental and/or oceanic crust and/or use the theory of plate tectonics, determine the pattern in the ages of crustal rocks.</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the correct pattern of the ages of crustal rocks, using past and current movements of continental crust and/or oceanic crust and/or the theory of plate tectonics.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Based on evidence of past and current crustal movements, identify the relative ages of continental and/or oceanic crust.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95250">
                <a:tc gridSpan="5">
                  <a:txBody>
                    <a:bodyPr/>
                    <a:lstStyle/>
                    <a:p>
                      <a:pPr marL="0" lvl="0" indent="0" algn="l" rtl="0">
                        <a:spcBef>
                          <a:spcPts val="0"/>
                        </a:spcBef>
                        <a:spcAft>
                          <a:spcPts val="0"/>
                        </a:spcAft>
                        <a:buNone/>
                      </a:pPr>
                      <a:r>
                        <a:rPr lang="en" sz="1000" b="1">
                          <a:latin typeface="Calibri"/>
                          <a:ea typeface="Calibri"/>
                          <a:cs typeface="Calibri"/>
                          <a:sym typeface="Calibri"/>
                        </a:rPr>
                        <a:t>Engaging in Argument from Evidence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Evaluate evidence behind currently accepted explanations or solutions to determine the merits of arguments. </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Patterns</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Empirical evidence is needed to identify patterns.</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1475625">
                <a:tc gridSpan="7">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ESS1.C:  The History of Planet Earth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Continental rocks, which can be older than 4 billion years, are generally much older than the rocks of the ocean floor, which are less than 200 million years old.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ESS2.B:  Plate Tectonics and Large-Scale System Interactions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Plate tectonics is the unifying theory that explains the past and current movements of the rocks at Earth’s surface and provides a framework for understanding its geologic history.</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PS1.C:  Nuclear Processes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t>
                      </a:r>
                      <a:r>
                        <a:rPr lang="en" sz="1000">
                          <a:solidFill>
                            <a:schemeClr val="dk1"/>
                          </a:solidFill>
                          <a:highlight>
                            <a:srgbClr val="FFFF00"/>
                          </a:highlight>
                          <a:latin typeface="Calibri"/>
                          <a:ea typeface="Calibri"/>
                          <a:cs typeface="Calibri"/>
                          <a:sym typeface="Calibri"/>
                        </a:rPr>
                        <a:t>NYSED</a:t>
                      </a:r>
                      <a:r>
                        <a:rPr lang="en" sz="1000">
                          <a:solidFill>
                            <a:schemeClr val="dk1"/>
                          </a:solidFill>
                          <a:latin typeface="Calibri"/>
                          <a:ea typeface="Calibri"/>
                          <a:cs typeface="Calibri"/>
                          <a:sym typeface="Calibri"/>
                        </a:rPr>
                        <a:t>) Spontaneous radioactive decay follows a characteristic exponential decay law allowing an element’s half-life to be used for radiometric dating of rocks and other materials.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526275">
                <a:tc>
                  <a:txBody>
                    <a:bodyPr/>
                    <a:lstStyle/>
                    <a:p>
                      <a:pPr marL="0" lvl="0" indent="0" algn="r" rtl="0">
                        <a:spcBef>
                          <a:spcPts val="0"/>
                        </a:spcBef>
                        <a:spcAft>
                          <a:spcPts val="0"/>
                        </a:spcAft>
                        <a:buClr>
                          <a:schemeClr val="dk1"/>
                        </a:buClr>
                        <a:buSzPts val="1000"/>
                        <a:buFont typeface="Arial"/>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6">
                  <a:txBody>
                    <a:bodyPr/>
                    <a:lstStyle/>
                    <a:p>
                      <a:pPr marL="0" lvl="0" indent="0" algn="l" rtl="0">
                        <a:spcBef>
                          <a:spcPts val="0"/>
                        </a:spcBef>
                        <a:spcAft>
                          <a:spcPts val="0"/>
                        </a:spcAft>
                        <a:buNone/>
                      </a:pPr>
                      <a:r>
                        <a:rPr lang="en" sz="1000">
                          <a:latin typeface="Calibri"/>
                          <a:ea typeface="Calibri"/>
                          <a:cs typeface="Calibri"/>
                          <a:sym typeface="Calibri"/>
                        </a:rPr>
                        <a:t>Emphasis is on the ability of plate tectonics to explain the ages of crustal rocks. Examples include evidence of the ages of oceanic crust increasing with distance from mid-ocean ridges as a result of plate spreading and that the North American continental crust contains a much older central ancient core compared to the surrounding continental crust as a result of complex and numerous plate interactions.</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114" name="Google Shape;114;p19"/>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15" name="Google Shape;115;p19"/>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19"/>
        <p:cNvGrpSpPr/>
        <p:nvPr/>
      </p:nvGrpSpPr>
      <p:grpSpPr>
        <a:xfrm>
          <a:off x="0" y="0"/>
          <a:ext cx="0" cy="0"/>
          <a:chOff x="0" y="0"/>
          <a:chExt cx="0" cy="0"/>
        </a:xfrm>
      </p:grpSpPr>
      <p:graphicFrame>
        <p:nvGraphicFramePr>
          <p:cNvPr id="120" name="Google Shape;120;p20"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8400" y="230601"/>
          <a:ext cx="9272925" cy="6542283"/>
        </p:xfrm>
        <a:graphic>
          <a:graphicData uri="http://schemas.openxmlformats.org/drawingml/2006/table">
            <a:tbl>
              <a:tblPr>
                <a:noFill/>
                <a:tableStyleId>{1455F5BC-4023-4B6A-AF38-90DE3866AEF7}</a:tableStyleId>
              </a:tblPr>
              <a:tblGrid>
                <a:gridCol w="1443475">
                  <a:extLst>
                    <a:ext uri="{9D8B030D-6E8A-4147-A177-3AD203B41FA5}">
                      <a16:colId xmlns:a16="http://schemas.microsoft.com/office/drawing/2014/main" val="20000"/>
                    </a:ext>
                  </a:extLst>
                </a:gridCol>
                <a:gridCol w="368875">
                  <a:extLst>
                    <a:ext uri="{9D8B030D-6E8A-4147-A177-3AD203B41FA5}">
                      <a16:colId xmlns:a16="http://schemas.microsoft.com/office/drawing/2014/main" val="20001"/>
                    </a:ext>
                  </a:extLst>
                </a:gridCol>
                <a:gridCol w="1322700">
                  <a:extLst>
                    <a:ext uri="{9D8B030D-6E8A-4147-A177-3AD203B41FA5}">
                      <a16:colId xmlns:a16="http://schemas.microsoft.com/office/drawing/2014/main" val="20002"/>
                    </a:ext>
                  </a:extLst>
                </a:gridCol>
                <a:gridCol w="2199000">
                  <a:extLst>
                    <a:ext uri="{9D8B030D-6E8A-4147-A177-3AD203B41FA5}">
                      <a16:colId xmlns:a16="http://schemas.microsoft.com/office/drawing/2014/main" val="20003"/>
                    </a:ext>
                  </a:extLst>
                </a:gridCol>
                <a:gridCol w="2290300">
                  <a:extLst>
                    <a:ext uri="{9D8B030D-6E8A-4147-A177-3AD203B41FA5}">
                      <a16:colId xmlns:a16="http://schemas.microsoft.com/office/drawing/2014/main" val="20004"/>
                    </a:ext>
                  </a:extLst>
                </a:gridCol>
                <a:gridCol w="1648575">
                  <a:extLst>
                    <a:ext uri="{9D8B030D-6E8A-4147-A177-3AD203B41FA5}">
                      <a16:colId xmlns:a16="http://schemas.microsoft.com/office/drawing/2014/main" val="20005"/>
                    </a:ext>
                  </a:extLst>
                </a:gridCol>
              </a:tblGrid>
              <a:tr h="365025">
                <a:tc gridSpan="6">
                  <a:txBody>
                    <a:bodyPr/>
                    <a:lstStyle/>
                    <a:p>
                      <a:pPr marL="0" lvl="0" indent="0" algn="l" rtl="0">
                        <a:spcBef>
                          <a:spcPts val="0"/>
                        </a:spcBef>
                        <a:spcAft>
                          <a:spcPts val="0"/>
                        </a:spcAft>
                        <a:buNone/>
                      </a:pPr>
                      <a:r>
                        <a:rPr lang="en" sz="1000" b="1">
                          <a:latin typeface="Calibri"/>
                          <a:ea typeface="Calibri"/>
                          <a:cs typeface="Calibri"/>
                          <a:sym typeface="Calibri"/>
                        </a:rPr>
                        <a:t>Earth &amp; Space Science: History of Earth</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0725">
                <a:tc gridSpan="6">
                  <a:txBody>
                    <a:bodyPr/>
                    <a:lstStyle/>
                    <a:p>
                      <a:pPr marL="0" lvl="0" indent="0" algn="l" rtl="0">
                        <a:spcBef>
                          <a:spcPts val="0"/>
                        </a:spcBef>
                        <a:spcAft>
                          <a:spcPts val="0"/>
                        </a:spcAft>
                        <a:buNone/>
                      </a:pPr>
                      <a:r>
                        <a:rPr lang="en" sz="1000" b="1">
                          <a:latin typeface="Calibri"/>
                          <a:ea typeface="Calibri"/>
                          <a:cs typeface="Calibri"/>
                          <a:sym typeface="Calibri"/>
                        </a:rPr>
                        <a:t>Using evidence and scientific reasoning from ancient Earth materials, or meteorites, or other planetary surfaces, construct an account of Earth’s formation and/or early history, or use evidence from radiometric dating of rocks and/or other materials to construct an account of the formation or early history of objects in the solar system. [HS-ESS1-6]</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8547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1248125">
                <a:tc gridSpan="2">
                  <a:txBody>
                    <a:bodyPr/>
                    <a:lstStyle/>
                    <a:p>
                      <a:pPr marL="0" lvl="0" indent="0" algn="l" rtl="0">
                        <a:spcBef>
                          <a:spcPts val="0"/>
                        </a:spcBef>
                        <a:spcAft>
                          <a:spcPts val="0"/>
                        </a:spcAft>
                        <a:buNone/>
                      </a:pPr>
                      <a:r>
                        <a:rPr lang="en" sz="900">
                          <a:latin typeface="Calibri"/>
                          <a:ea typeface="Calibri"/>
                          <a:cs typeface="Calibri"/>
                          <a:sym typeface="Calibri"/>
                        </a:rPr>
                        <a:t>Analyze empirical evidence from multiple sources, to construct an explanation of Earth’s formation and early history, based upon the assumption that theories and laws that describe the natural world operate today as they did in the past and will continue to do so in the future.</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Apply scientific reasoning and evidence from ancient Earth materials, meteorites, and other planetary surfaces to construct an account of Earth’s formation and early history.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Using evidence and scientific reasoning from ancient Earth materials, or meteorites, or other planetary surfaces, construct an account of Earth’s formation and/or early history, or use evidence from radiometric dating of rocks and/or other materials to construct an account of the formation or early history of objects in the solar system.</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Describe or identify the evidence from ancient Earth materials, or meteorites, or other planetary surfaces (other objects in the solar system) to support/refute a given explanation of Earth’s formation and/or early history, or use evidence from radiometric dating to support/refute a given explanation of the formation of a solar system object.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Identify the evidence (radiometric dating, impact cratering), from those provided, that supports/refutes a given explanation of Earth’s or another planetary surface formation or early history.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63875">
                <a:tc gridSpan="5">
                  <a:txBody>
                    <a:bodyPr/>
                    <a:lstStyle/>
                    <a:p>
                      <a:pPr marL="0" lvl="0" indent="0" algn="l" rtl="0">
                        <a:spcBef>
                          <a:spcPts val="0"/>
                        </a:spcBef>
                        <a:spcAft>
                          <a:spcPts val="0"/>
                        </a:spcAft>
                        <a:buNone/>
                      </a:pPr>
                      <a:r>
                        <a:rPr lang="en" sz="1000" b="1">
                          <a:latin typeface="Calibri"/>
                          <a:ea typeface="Calibri"/>
                          <a:cs typeface="Calibri"/>
                          <a:sym typeface="Calibri"/>
                        </a:rPr>
                        <a:t>Constructing Explanations &amp; Designing Solutions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Apply scientific reasoning to link evidence to the claims to assess the extent to which the reasoning and data support the explanation or conclusion.</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lvl="0" indent="0" algn="l" rtl="0">
                        <a:spcBef>
                          <a:spcPts val="0"/>
                        </a:spcBef>
                        <a:spcAft>
                          <a:spcPts val="0"/>
                        </a:spcAft>
                        <a:buNone/>
                      </a:pPr>
                      <a:r>
                        <a:rPr lang="en" sz="1000" b="1">
                          <a:solidFill>
                            <a:schemeClr val="dk1"/>
                          </a:solidFill>
                          <a:latin typeface="Calibri"/>
                          <a:ea typeface="Calibri"/>
                          <a:cs typeface="Calibri"/>
                          <a:sym typeface="Calibri"/>
                        </a:rPr>
                        <a:t>Stability &amp; Change</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Much of science deals with constructing explanations of how things change and how they remain stable</a:t>
                      </a:r>
                      <a:endParaRPr sz="1000"/>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extLst>
                  <a:ext uri="{0D108BD9-81ED-4DB2-BD59-A6C34878D82A}">
                    <a16:rowId xmlns:a16="http://schemas.microsoft.com/office/drawing/2014/main" val="10004"/>
                  </a:ext>
                </a:extLst>
              </a:tr>
              <a:tr h="977450">
                <a:tc gridSpan="5">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Nature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Science Models, Laws, Mechanisms, and Theories Explain Natural Phenomena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 scientific theory is a substantiated explanation of some aspect of the natural world, based on a body of facts that have been repeatedly confirmed through observation and experiment and the science community validates each theory before it is accepted. If new evidence is discovered that the theory does not accommodate, the theory is generally modified in light of this new evidence. </a:t>
                      </a:r>
                      <a:endParaRPr sz="1000">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Models, mechanisms, and explanations collectively serve as tools in the development of a scientific theory. </a:t>
                      </a:r>
                      <a:endParaRPr sz="1000" b="1" i="1" u="sng">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0005"/>
                  </a:ext>
                </a:extLst>
              </a:tr>
              <a:tr h="123935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ESS1.C:  The History of Planet Earth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Although active geologic processes, such as plate tectonics and erosion, have destroyed or altered most of the very early rock record on Earth, other objects in the solar system, such as lunar rocks, asteroids, and meteorites, have changed little over billions of years. Studying these objects can provide information about Earth’s formation and early history.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PS1.C:  Nuclear Processes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t>
                      </a:r>
                      <a:r>
                        <a:rPr lang="en" sz="1000">
                          <a:solidFill>
                            <a:schemeClr val="dk1"/>
                          </a:solidFill>
                          <a:highlight>
                            <a:srgbClr val="FFFF00"/>
                          </a:highlight>
                          <a:latin typeface="Calibri"/>
                          <a:ea typeface="Calibri"/>
                          <a:cs typeface="Calibri"/>
                          <a:sym typeface="Calibri"/>
                        </a:rPr>
                        <a:t>NYSED</a:t>
                      </a:r>
                      <a:r>
                        <a:rPr lang="en" sz="1000">
                          <a:solidFill>
                            <a:schemeClr val="dk1"/>
                          </a:solidFill>
                          <a:latin typeface="Calibri"/>
                          <a:ea typeface="Calibri"/>
                          <a:cs typeface="Calibri"/>
                          <a:sym typeface="Calibri"/>
                        </a:rPr>
                        <a:t>) Spontaneous radioactive decay follows a characteristic exponential decay law allowing an element’s half-life to be used for radiometric dating of rocks and other materials.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5557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using available evidence within the solar system to reconstruct the early history of Earth, which formed along with the rest of the solar system 4.6 billion years ago. Examples of evidence include the absolute ages of ancient materials (obtained by radiometric dating of meteorites, moon rocks, and Earth’s rocks and minerals), the sizes and compositions of solar system objects, and the impact cratering record of planetary surfaces.</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21" name="Google Shape;121;p20"/>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22" name="Google Shape;122;p20"/>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26"/>
        <p:cNvGrpSpPr/>
        <p:nvPr/>
      </p:nvGrpSpPr>
      <p:grpSpPr>
        <a:xfrm>
          <a:off x="0" y="0"/>
          <a:ext cx="0" cy="0"/>
          <a:chOff x="0" y="0"/>
          <a:chExt cx="0" cy="0"/>
        </a:xfrm>
      </p:grpSpPr>
      <p:graphicFrame>
        <p:nvGraphicFramePr>
          <p:cNvPr id="127" name="Google Shape;127;p21"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74" y="230751"/>
          <a:ext cx="9284000" cy="5685323"/>
        </p:xfrm>
        <a:graphic>
          <a:graphicData uri="http://schemas.openxmlformats.org/drawingml/2006/table">
            <a:tbl>
              <a:tblPr>
                <a:noFill/>
                <a:tableStyleId>{1455F5BC-4023-4B6A-AF38-90DE3866AEF7}</a:tableStyleId>
              </a:tblPr>
              <a:tblGrid>
                <a:gridCol w="1492050">
                  <a:extLst>
                    <a:ext uri="{9D8B030D-6E8A-4147-A177-3AD203B41FA5}">
                      <a16:colId xmlns:a16="http://schemas.microsoft.com/office/drawing/2014/main" val="20000"/>
                    </a:ext>
                  </a:extLst>
                </a:gridCol>
                <a:gridCol w="368875">
                  <a:extLst>
                    <a:ext uri="{9D8B030D-6E8A-4147-A177-3AD203B41FA5}">
                      <a16:colId xmlns:a16="http://schemas.microsoft.com/office/drawing/2014/main" val="20001"/>
                    </a:ext>
                  </a:extLst>
                </a:gridCol>
                <a:gridCol w="1278275">
                  <a:extLst>
                    <a:ext uri="{9D8B030D-6E8A-4147-A177-3AD203B41FA5}">
                      <a16:colId xmlns:a16="http://schemas.microsoft.com/office/drawing/2014/main" val="20002"/>
                    </a:ext>
                  </a:extLst>
                </a:gridCol>
                <a:gridCol w="1870450">
                  <a:extLst>
                    <a:ext uri="{9D8B030D-6E8A-4147-A177-3AD203B41FA5}">
                      <a16:colId xmlns:a16="http://schemas.microsoft.com/office/drawing/2014/main" val="20003"/>
                    </a:ext>
                  </a:extLst>
                </a:gridCol>
                <a:gridCol w="2526375">
                  <a:extLst>
                    <a:ext uri="{9D8B030D-6E8A-4147-A177-3AD203B41FA5}">
                      <a16:colId xmlns:a16="http://schemas.microsoft.com/office/drawing/2014/main" val="20004"/>
                    </a:ext>
                  </a:extLst>
                </a:gridCol>
                <a:gridCol w="1747975">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History of Earth</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Use a model to explain how Earth’s internal and/or surface processes (constructive and/or destructive) operate at different spatial or temporal scales to form continental and/or ocean-floor features or to explain the distribution of rocks and/or minerals within Earth’s crust.  [HS-ESS2-1]</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04375">
                <a:tc gridSpan="2">
                  <a:txBody>
                    <a:bodyPr/>
                    <a:lstStyle/>
                    <a:p>
                      <a:pPr marL="0" lvl="0" indent="0" algn="l" rtl="0">
                        <a:spcBef>
                          <a:spcPts val="0"/>
                        </a:spcBef>
                        <a:spcAft>
                          <a:spcPts val="0"/>
                        </a:spcAft>
                        <a:buNone/>
                      </a:pPr>
                      <a:r>
                        <a:rPr lang="en" sz="900">
                          <a:latin typeface="Calibri"/>
                          <a:ea typeface="Calibri"/>
                          <a:cs typeface="Calibri"/>
                          <a:sym typeface="Calibri"/>
                        </a:rPr>
                        <a:t>Develop a complex model which allows for manipulation and testing that demonstrates the relationships between Earth’s internal and surface processes responsible for the formation of continental and ocean-floor features across varying spatial and temporal scales.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Develop a model to illustrate how Earth’s internal and surface processes operate at different spatial and temporal scales to form continental and ocean-floor features.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model to explain how Earth’s internal and/or surface processes (constructive and/or destructive) operate at different spatial or temporal scales to form continental and/or ocean-floor features or to explain the distribution of rocks and/or minerals within Earth’s crust.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Use a model to identify Earth’s internal and/or surface process(es) (constructive and/or destructive) that operate at different spatial or temporal scales to form continental and/or ocean-floor features or to identify an Earth surface or internal process that forms continental or oceanic floor features or to explain the distribution of rocks and/or minerals within Earth’s crust.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model to determine whether a continental or ocean-floor feature results from Earth’s internal and/or surface process(es) (constructive and/or destructive) or to identify the distribution of rocks and/or minerals within Earth’s crust.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27350">
                <a:tc gridSpan="3">
                  <a:txBody>
                    <a:bodyPr/>
                    <a:lstStyle/>
                    <a:p>
                      <a:pPr marL="0" lvl="0" indent="0" algn="l" rtl="0">
                        <a:spcBef>
                          <a:spcPts val="0"/>
                        </a:spcBef>
                        <a:spcAft>
                          <a:spcPts val="0"/>
                        </a:spcAft>
                        <a:buNone/>
                      </a:pPr>
                      <a:r>
                        <a:rPr lang="en" sz="1000" b="1">
                          <a:latin typeface="Calibri"/>
                          <a:ea typeface="Calibri"/>
                          <a:cs typeface="Calibri"/>
                          <a:sym typeface="Calibri"/>
                        </a:rPr>
                        <a:t>Developing &amp; Using Models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Develop a model based on evidence to illustrate the relationships between systems or between components of a system.</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Change and rates of change can be quantified and modeled over very short or very long periods of time. Some system changes are irreversible.</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40155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ESS2.A:  Earth Materials and Systems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Earth’s systems, being dynamic and interacting, cause feedback effects that can increase or decrease the original changes. (HS-ESS2-1) (Note: This Disciplinary Core Idea is also addressed by HS-ESS2-2)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ESS2.B:  Plate Tectonics and Large-Scale System Interactions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Plate tectonics is the unifying theory that explains the past and current movements of the rocks at Earth’s surface and provides a framework for understanding its geologic history. </a:t>
                      </a:r>
                      <a:endParaRPr sz="1000">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Plate movements are responsible for most continental and ocean-floor features and for the distribution of most rocks and minerals within Earth’s crust.</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how the appearance of land features (such as mountains, valleys, and plateaus) and seafloor features (such as trenches, ridges, and seamounts) are a result of both constructive processes (such as volcanism, tectonic uplift, and deposition) and destructive processes (such as weathering, subduction, and coastal erosion).</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does not include recalling the details of the formation of specific geographic features of Earth’s surface.</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28" name="Google Shape;128;p21"/>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29" name="Google Shape;129;p21"/>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33"/>
        <p:cNvGrpSpPr/>
        <p:nvPr/>
      </p:nvGrpSpPr>
      <p:grpSpPr>
        <a:xfrm>
          <a:off x="0" y="0"/>
          <a:ext cx="0" cy="0"/>
          <a:chOff x="0" y="0"/>
          <a:chExt cx="0" cy="0"/>
        </a:xfrm>
      </p:grpSpPr>
      <p:graphicFrame>
        <p:nvGraphicFramePr>
          <p:cNvPr id="134" name="Google Shape;134;p22"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92963" y="230751"/>
          <a:ext cx="9205850" cy="5551683"/>
        </p:xfrm>
        <a:graphic>
          <a:graphicData uri="http://schemas.openxmlformats.org/drawingml/2006/table">
            <a:tbl>
              <a:tblPr>
                <a:noFill/>
                <a:tableStyleId>{1455F5BC-4023-4B6A-AF38-90DE3866AEF7}</a:tableStyleId>
              </a:tblPr>
              <a:tblGrid>
                <a:gridCol w="1439300">
                  <a:extLst>
                    <a:ext uri="{9D8B030D-6E8A-4147-A177-3AD203B41FA5}">
                      <a16:colId xmlns:a16="http://schemas.microsoft.com/office/drawing/2014/main" val="20000"/>
                    </a:ext>
                  </a:extLst>
                </a:gridCol>
                <a:gridCol w="694825">
                  <a:extLst>
                    <a:ext uri="{9D8B030D-6E8A-4147-A177-3AD203B41FA5}">
                      <a16:colId xmlns:a16="http://schemas.microsoft.com/office/drawing/2014/main" val="20001"/>
                    </a:ext>
                  </a:extLst>
                </a:gridCol>
                <a:gridCol w="1271050">
                  <a:extLst>
                    <a:ext uri="{9D8B030D-6E8A-4147-A177-3AD203B41FA5}">
                      <a16:colId xmlns:a16="http://schemas.microsoft.com/office/drawing/2014/main" val="20002"/>
                    </a:ext>
                  </a:extLst>
                </a:gridCol>
                <a:gridCol w="1637025">
                  <a:extLst>
                    <a:ext uri="{9D8B030D-6E8A-4147-A177-3AD203B41FA5}">
                      <a16:colId xmlns:a16="http://schemas.microsoft.com/office/drawing/2014/main" val="20003"/>
                    </a:ext>
                  </a:extLst>
                </a:gridCol>
                <a:gridCol w="2718725">
                  <a:extLst>
                    <a:ext uri="{9D8B030D-6E8A-4147-A177-3AD203B41FA5}">
                      <a16:colId xmlns:a16="http://schemas.microsoft.com/office/drawing/2014/main" val="20004"/>
                    </a:ext>
                  </a:extLst>
                </a:gridCol>
                <a:gridCol w="1444925">
                  <a:extLst>
                    <a:ext uri="{9D8B030D-6E8A-4147-A177-3AD203B41FA5}">
                      <a16:colId xmlns:a16="http://schemas.microsoft.com/office/drawing/2014/main" val="20005"/>
                    </a:ext>
                  </a:extLst>
                </a:gridCol>
              </a:tblGrid>
              <a:tr h="33702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Earth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7775">
                <a:tc gridSpan="6">
                  <a:txBody>
                    <a:bodyPr/>
                    <a:lstStyle/>
                    <a:p>
                      <a:pPr marL="0" lvl="0" indent="0" algn="l" rtl="0">
                        <a:spcBef>
                          <a:spcPts val="0"/>
                        </a:spcBef>
                        <a:spcAft>
                          <a:spcPts val="0"/>
                        </a:spcAft>
                        <a:buNone/>
                      </a:pPr>
                      <a:r>
                        <a:rPr lang="en" sz="1200" b="1">
                          <a:latin typeface="Calibri"/>
                          <a:ea typeface="Calibri"/>
                          <a:cs typeface="Calibri"/>
                          <a:sym typeface="Calibri"/>
                        </a:rPr>
                        <a:t>Analyze geoscience data/information to support the claim that a change to Earth’s surface or an Earth system can create a feedback that cause changes to one or more Earth’s system(s).  [HS-ESS2-2]</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6022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861800">
                <a:tc gridSpan="2">
                  <a:txBody>
                    <a:bodyPr/>
                    <a:lstStyle/>
                    <a:p>
                      <a:pPr marL="0" lvl="0" indent="0" algn="l" rtl="0">
                        <a:spcBef>
                          <a:spcPts val="0"/>
                        </a:spcBef>
                        <a:spcAft>
                          <a:spcPts val="0"/>
                        </a:spcAft>
                        <a:buNone/>
                      </a:pPr>
                      <a:r>
                        <a:rPr lang="en" sz="900">
                          <a:latin typeface="Calibri"/>
                          <a:ea typeface="Calibri"/>
                          <a:cs typeface="Calibri"/>
                          <a:sym typeface="Calibri"/>
                        </a:rPr>
                        <a:t>Compare and contrast various geoscience data sets to examine consistency of measurements and observations in order to make the claim that changes to Earth’s surface can create feedbacks that influence the stability of Earth’s systems over time.</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Analyze geoscience data to make the claim that one change to Earth’s surface can create feedbacks that cause changes to Earth’s systems.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Analyze geoscience data/information to support the claim that a change to Earth’s surface or an Earth system can create a feedback that cause changes to one or more Earth’s system(s).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the geoscience data/information that provides evidence for a given claim that a change to Earth’s surface or an Earth system results in a change to another Earth system or provides evidence to support/refute a given claim that a change to an Earth’s surface or one Earth system results in a change to another Earth system.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Using geoscience data/information, identify one change in Earth’s surface or an Earth system and how it will result in a change to another Earth system.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68100">
                <a:tc rowSpan="2" gridSpan="3">
                  <a:txBody>
                    <a:bodyPr/>
                    <a:lstStyle/>
                    <a:p>
                      <a:pPr marL="0" lvl="0" indent="0" algn="l" rtl="0">
                        <a:spcBef>
                          <a:spcPts val="0"/>
                        </a:spcBef>
                        <a:spcAft>
                          <a:spcPts val="0"/>
                        </a:spcAft>
                        <a:buNone/>
                      </a:pPr>
                      <a:r>
                        <a:rPr lang="en" sz="1000" b="1">
                          <a:latin typeface="Calibri"/>
                          <a:ea typeface="Calibri"/>
                          <a:cs typeface="Calibri"/>
                          <a:sym typeface="Calibri"/>
                        </a:rPr>
                        <a:t>Analyzing &amp; Interpreting Data</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Analyze data using tools, technologies, and/or models (e.g., computational, mathematical) in order to make valid and reliable scientific claims or determine an optimal design solution.</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rowSpan="2" hMerge="1">
                  <a:txBody>
                    <a:bodyPr/>
                    <a:lstStyle/>
                    <a:p>
                      <a:endParaRPr lang="en-US"/>
                    </a:p>
                  </a:txBody>
                  <a:tcPr/>
                </a:tc>
                <a:tc rowSpan="2"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Feedback (negative or positive) can stabilize or destabilize a system.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725375">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marL="0" lvl="0" indent="0" algn="l" rtl="0">
                        <a:spcBef>
                          <a:spcPts val="0"/>
                        </a:spcBef>
                        <a:spcAft>
                          <a:spcPts val="0"/>
                        </a:spcAft>
                        <a:buClr>
                          <a:schemeClr val="dk1"/>
                        </a:buClr>
                        <a:buSzPts val="1000"/>
                        <a:buFont typeface="Arial"/>
                        <a:buNone/>
                      </a:pPr>
                      <a:r>
                        <a:rPr lang="en" sz="1000" i="1" u="sng">
                          <a:solidFill>
                            <a:schemeClr val="dk1"/>
                          </a:solidFill>
                          <a:latin typeface="Calibri"/>
                          <a:ea typeface="Calibri"/>
                          <a:cs typeface="Calibri"/>
                          <a:sym typeface="Calibri"/>
                        </a:rPr>
                        <a:t>Connections to Engineering, Technology, and Applications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000"/>
                        <a:buFont typeface="Arial"/>
                        <a:buNone/>
                      </a:pPr>
                      <a:r>
                        <a:rPr lang="en" sz="1000" b="1">
                          <a:solidFill>
                            <a:schemeClr val="dk1"/>
                          </a:solidFill>
                          <a:latin typeface="Calibri"/>
                          <a:ea typeface="Calibri"/>
                          <a:cs typeface="Calibri"/>
                          <a:sym typeface="Calibri"/>
                        </a:rPr>
                        <a:t>Connections to Engineering, Technology, and Applications of Science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New technologies can have deep impacts on society and the environment, including some that were not anticipated. Analysis of costs and benefits is a critical aspect of decisions about technology. </a:t>
                      </a:r>
                      <a:endParaRPr sz="1000" b="1">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79682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ESS2.A:  Earth Materials and Systems </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Earth’s systems, being dynamic and interacting, cause feedback effects that can increase or decrease the original changes</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ESS2.D: Weather &amp; Climate</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foundation for Earth’s global climate systems is the electromagnetic radiation from the sun, as well as its reflection, absorption, storage, and redistribution among the atmosphere, ocean, and land systems, and this energy’s re-radiation into space.</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7968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should include climate feedbacks, such as how an increase in greenhouse gases causes a rise in global temperatures that melts glacial ice, which reduces the amount of sunlight reflected from Earth’s surface, increasing surface temperatures and further reducing the amount of ice. Examples could also be taken from other system interactions, such as how the loss of ground vegetation causes an increase in water runoff and soil erosion; how dammed rivers increase groundwater recharge, decrease sediment transport, and increase coastal erosion; or how the loss of wetlands causes a decrease in local humidity that further reduces the wetland extent.</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35" name="Google Shape;135;p22"/>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36" name="Google Shape;136;p22"/>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0"/>
        <p:cNvGrpSpPr/>
        <p:nvPr/>
      </p:nvGrpSpPr>
      <p:grpSpPr>
        <a:xfrm>
          <a:off x="0" y="0"/>
          <a:ext cx="0" cy="0"/>
          <a:chOff x="0" y="0"/>
          <a:chExt cx="0" cy="0"/>
        </a:xfrm>
      </p:grpSpPr>
      <p:graphicFrame>
        <p:nvGraphicFramePr>
          <p:cNvPr id="141" name="Google Shape;141;p23"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6750" y="230726"/>
          <a:ext cx="9276225" cy="6433863"/>
        </p:xfrm>
        <a:graphic>
          <a:graphicData uri="http://schemas.openxmlformats.org/drawingml/2006/table">
            <a:tbl>
              <a:tblPr>
                <a:noFill/>
                <a:tableStyleId>{1455F5BC-4023-4B6A-AF38-90DE3866AEF7}</a:tableStyleId>
              </a:tblPr>
              <a:tblGrid>
                <a:gridCol w="1485925">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576075">
                  <a:extLst>
                    <a:ext uri="{9D8B030D-6E8A-4147-A177-3AD203B41FA5}">
                      <a16:colId xmlns:a16="http://schemas.microsoft.com/office/drawing/2014/main" val="20002"/>
                    </a:ext>
                  </a:extLst>
                </a:gridCol>
                <a:gridCol w="2399350">
                  <a:extLst>
                    <a:ext uri="{9D8B030D-6E8A-4147-A177-3AD203B41FA5}">
                      <a16:colId xmlns:a16="http://schemas.microsoft.com/office/drawing/2014/main" val="20003"/>
                    </a:ext>
                  </a:extLst>
                </a:gridCol>
                <a:gridCol w="1593050">
                  <a:extLst>
                    <a:ext uri="{9D8B030D-6E8A-4147-A177-3AD203B41FA5}">
                      <a16:colId xmlns:a16="http://schemas.microsoft.com/office/drawing/2014/main" val="20004"/>
                    </a:ext>
                  </a:extLst>
                </a:gridCol>
                <a:gridCol w="1062350">
                  <a:extLst>
                    <a:ext uri="{9D8B030D-6E8A-4147-A177-3AD203B41FA5}">
                      <a16:colId xmlns:a16="http://schemas.microsoft.com/office/drawing/2014/main" val="20005"/>
                    </a:ext>
                  </a:extLst>
                </a:gridCol>
                <a:gridCol w="1776625">
                  <a:extLst>
                    <a:ext uri="{9D8B030D-6E8A-4147-A177-3AD203B41FA5}">
                      <a16:colId xmlns:a16="http://schemas.microsoft.com/office/drawing/2014/main" val="20006"/>
                    </a:ext>
                  </a:extLst>
                </a:gridCol>
              </a:tblGrid>
              <a:tr h="346975">
                <a:tc gridSpan="7">
                  <a:txBody>
                    <a:bodyPr/>
                    <a:lstStyle/>
                    <a:p>
                      <a:pPr marL="0" lvl="0" indent="0" algn="l" rtl="0">
                        <a:spcBef>
                          <a:spcPts val="0"/>
                        </a:spcBef>
                        <a:spcAft>
                          <a:spcPts val="0"/>
                        </a:spcAft>
                        <a:buNone/>
                      </a:pPr>
                      <a:r>
                        <a:rPr lang="en" sz="1000" b="1">
                          <a:latin typeface="Calibri"/>
                          <a:ea typeface="Calibri"/>
                          <a:cs typeface="Calibri"/>
                          <a:sym typeface="Calibri"/>
                        </a:rPr>
                        <a:t>Earth &amp; Space Science: Earth Systems</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23375">
                <a:tc gridSpan="7">
                  <a:txBody>
                    <a:bodyPr/>
                    <a:lstStyle/>
                    <a:p>
                      <a:pPr marL="0" lvl="0" indent="0" algn="l" rtl="0">
                        <a:spcBef>
                          <a:spcPts val="0"/>
                        </a:spcBef>
                        <a:spcAft>
                          <a:spcPts val="0"/>
                        </a:spcAft>
                        <a:buNone/>
                      </a:pPr>
                      <a:r>
                        <a:rPr lang="en" sz="1000" b="1">
                          <a:latin typeface="Calibri"/>
                          <a:ea typeface="Calibri"/>
                          <a:cs typeface="Calibri"/>
                          <a:sym typeface="Calibri"/>
                        </a:rPr>
                        <a:t>Given a model, describe the cycling of matter (e.g., minerals and rock cycle) by thermal convection based on evidence of Earth’s interior or given a model with evidence, describe stages of recycling of Earth materials by surface processes or by convection currents in the mantle or identify the location of the formation of rock types using evidence from a given model.  [HS-ESS2-3]</a:t>
                      </a:r>
                      <a:endParaRPr sz="10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70425">
                <a:tc>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gridSpan="2">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988100">
                <a:tc>
                  <a:txBody>
                    <a:bodyPr/>
                    <a:lstStyle/>
                    <a:p>
                      <a:pPr marL="0" lvl="0" indent="0" algn="l" rtl="0">
                        <a:spcBef>
                          <a:spcPts val="0"/>
                        </a:spcBef>
                        <a:spcAft>
                          <a:spcPts val="0"/>
                        </a:spcAft>
                        <a:buNone/>
                      </a:pPr>
                      <a:r>
                        <a:rPr lang="en" sz="800">
                          <a:latin typeface="Calibri"/>
                          <a:ea typeface="Calibri"/>
                          <a:cs typeface="Calibri"/>
                          <a:sym typeface="Calibri"/>
                        </a:rPr>
                        <a:t>Develop a complex model of Earth’s interior using multiple pieces of evidence to illustrate the relationships between systems and/or the components of a system in order to describe the cycling of matter by thermal convection. </a:t>
                      </a:r>
                      <a:endParaRPr sz="800">
                        <a:latin typeface="Calibri"/>
                        <a:ea typeface="Calibri"/>
                        <a:cs typeface="Calibri"/>
                        <a:sym typeface="Calibri"/>
                      </a:endParaRPr>
                    </a:p>
                  </a:txBody>
                  <a:tcPr marL="95100" marR="95100" marT="34000" marB="34000">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2">
                  <a:txBody>
                    <a:bodyPr/>
                    <a:lstStyle/>
                    <a:p>
                      <a:pPr marL="0" lvl="0" indent="0" algn="l" rtl="0">
                        <a:spcBef>
                          <a:spcPts val="0"/>
                        </a:spcBef>
                        <a:spcAft>
                          <a:spcPts val="0"/>
                        </a:spcAft>
                        <a:buNone/>
                      </a:pPr>
                      <a:r>
                        <a:rPr lang="en" sz="800">
                          <a:latin typeface="Calibri"/>
                          <a:ea typeface="Calibri"/>
                          <a:cs typeface="Calibri"/>
                          <a:sym typeface="Calibri"/>
                        </a:rPr>
                        <a:t>Develop a model based on evidence of Earth’s interior to describe the cycling of matter by thermal convection.</a:t>
                      </a:r>
                      <a:endParaRPr sz="800">
                        <a:latin typeface="Calibri"/>
                        <a:ea typeface="Calibri"/>
                        <a:cs typeface="Calibri"/>
                        <a:sym typeface="Calibri"/>
                      </a:endParaRPr>
                    </a:p>
                  </a:txBody>
                  <a:tcPr marL="95100" marR="95100" marT="34000" marB="34000">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800">
                          <a:latin typeface="Calibri"/>
                          <a:ea typeface="Calibri"/>
                          <a:cs typeface="Calibri"/>
                          <a:sym typeface="Calibri"/>
                        </a:rPr>
                        <a:t>Given a model, describe the cycling of matter (e.g., minerals and rock cycle) by thermal convection based on evidence of Earth’s interior or given a model with evidence, describe stages of recycling of Earth materials by surface processes or by convection currents in the mantle or identify the location of the formation of rock types using evidence from a given model. </a:t>
                      </a:r>
                      <a:endParaRPr sz="800">
                        <a:latin typeface="Calibri"/>
                        <a:ea typeface="Calibri"/>
                        <a:cs typeface="Calibri"/>
                        <a:sym typeface="Calibri"/>
                      </a:endParaRPr>
                    </a:p>
                  </a:txBody>
                  <a:tcPr marL="95100" marR="95100" marT="34000" marB="340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2">
                  <a:txBody>
                    <a:bodyPr/>
                    <a:lstStyle/>
                    <a:p>
                      <a:pPr marL="0" lvl="0" indent="0" algn="l" rtl="0">
                        <a:spcBef>
                          <a:spcPts val="0"/>
                        </a:spcBef>
                        <a:spcAft>
                          <a:spcPts val="0"/>
                        </a:spcAft>
                        <a:buNone/>
                      </a:pPr>
                      <a:r>
                        <a:rPr lang="en" sz="800">
                          <a:latin typeface="Calibri"/>
                          <a:ea typeface="Calibri"/>
                          <a:cs typeface="Calibri"/>
                          <a:sym typeface="Calibri"/>
                        </a:rPr>
                        <a:t>Given a model of Earth’s interior, identify the evidence that shows the cycling of matter by thermal convection or given a model with evidence, identify stages of recycling of Earth materials by surface processes or by convection currents in the mantle or identify a rock or mineral using evidence from a given a model of physical and chemical properties of rocks or minerals. </a:t>
                      </a:r>
                      <a:endParaRPr sz="800">
                        <a:latin typeface="Calibri"/>
                        <a:ea typeface="Calibri"/>
                        <a:cs typeface="Calibri"/>
                        <a:sym typeface="Calibri"/>
                      </a:endParaRPr>
                    </a:p>
                  </a:txBody>
                  <a:tcPr marL="95100" marR="95100" marT="34000" marB="340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800">
                          <a:latin typeface="Calibri"/>
                          <a:ea typeface="Calibri"/>
                          <a:cs typeface="Calibri"/>
                          <a:sym typeface="Calibri"/>
                        </a:rPr>
                        <a:t>Given a model of Earth’s interior, identify the evidence, from those provided, that shows the cycling of matter by thermal convection or given a model with evidence, identify a stage of recycling of Earth materials by surface processes or by convection currents in the mantle. </a:t>
                      </a:r>
                      <a:endParaRPr sz="800">
                        <a:latin typeface="Calibri"/>
                        <a:ea typeface="Calibri"/>
                        <a:cs typeface="Calibri"/>
                        <a:sym typeface="Calibri"/>
                      </a:endParaRPr>
                    </a:p>
                  </a:txBody>
                  <a:tcPr marL="95100" marR="95100" marT="34000" marB="34000">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21500">
                <a:tc gridSpan="5">
                  <a:txBody>
                    <a:bodyPr/>
                    <a:lstStyle/>
                    <a:p>
                      <a:pPr marL="0" lvl="0" indent="0" algn="l" rtl="0">
                        <a:spcBef>
                          <a:spcPts val="0"/>
                        </a:spcBef>
                        <a:spcAft>
                          <a:spcPts val="0"/>
                        </a:spcAft>
                        <a:buNone/>
                      </a:pPr>
                      <a:r>
                        <a:rPr lang="en" sz="900" b="1">
                          <a:latin typeface="Calibri"/>
                          <a:ea typeface="Calibri"/>
                          <a:cs typeface="Calibri"/>
                          <a:sym typeface="Calibri"/>
                        </a:rPr>
                        <a:t>Developing &amp; Using Models</a:t>
                      </a:r>
                      <a:endParaRPr sz="900">
                        <a:latin typeface="Calibri"/>
                        <a:ea typeface="Calibri"/>
                        <a:cs typeface="Calibri"/>
                        <a:sym typeface="Calibri"/>
                      </a:endParaRPr>
                    </a:p>
                    <a:p>
                      <a:pPr marL="342900" lvl="0" indent="-184150" algn="l" rtl="0">
                        <a:spcBef>
                          <a:spcPts val="0"/>
                        </a:spcBef>
                        <a:spcAft>
                          <a:spcPts val="0"/>
                        </a:spcAft>
                        <a:buSzPts val="900"/>
                        <a:buFont typeface="Calibri"/>
                        <a:buChar char="➔"/>
                      </a:pPr>
                      <a:r>
                        <a:rPr lang="en" sz="900">
                          <a:latin typeface="Calibri"/>
                          <a:ea typeface="Calibri"/>
                          <a:cs typeface="Calibri"/>
                          <a:sym typeface="Calibri"/>
                        </a:rPr>
                        <a:t>Develop a model based on evidence to illustrate the relationships between systems or between components of a system.</a:t>
                      </a:r>
                      <a:endParaRPr sz="900" b="1">
                        <a:latin typeface="Calibri"/>
                        <a:ea typeface="Calibri"/>
                        <a:cs typeface="Calibri"/>
                        <a:sym typeface="Calibri"/>
                      </a:endParaRPr>
                    </a:p>
                  </a:txBody>
                  <a:tcPr marL="95100" marR="95100" marT="67975" marB="67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gridSpan="2">
                  <a:txBody>
                    <a:bodyPr/>
                    <a:lstStyle/>
                    <a:p>
                      <a:pPr marL="0" lvl="0" indent="0" algn="l" rtl="0">
                        <a:spcBef>
                          <a:spcPts val="0"/>
                        </a:spcBef>
                        <a:spcAft>
                          <a:spcPts val="0"/>
                        </a:spcAft>
                        <a:buNone/>
                      </a:pPr>
                      <a:r>
                        <a:rPr lang="en" sz="900" i="1" u="sng">
                          <a:latin typeface="Calibri"/>
                          <a:ea typeface="Calibri"/>
                          <a:cs typeface="Calibri"/>
                          <a:sym typeface="Calibri"/>
                        </a:rPr>
                        <a:t>Connections to Engineering, Technology, and Applications of Science  </a:t>
                      </a:r>
                      <a:endParaRPr sz="900" i="1" u="sng">
                        <a:latin typeface="Calibri"/>
                        <a:ea typeface="Calibri"/>
                        <a:cs typeface="Calibri"/>
                        <a:sym typeface="Calibri"/>
                      </a:endParaRPr>
                    </a:p>
                    <a:p>
                      <a:pPr marL="0" lvl="0" indent="0" algn="l" rtl="0">
                        <a:spcBef>
                          <a:spcPts val="0"/>
                        </a:spcBef>
                        <a:spcAft>
                          <a:spcPts val="0"/>
                        </a:spcAft>
                        <a:buNone/>
                      </a:pPr>
                      <a:r>
                        <a:rPr lang="en" sz="900" b="1">
                          <a:latin typeface="Calibri"/>
                          <a:ea typeface="Calibri"/>
                          <a:cs typeface="Calibri"/>
                          <a:sym typeface="Calibri"/>
                        </a:rPr>
                        <a:t>Interdependence of Science, Engineering, and Technology</a:t>
                      </a:r>
                      <a:endParaRPr sz="900" b="1">
                        <a:latin typeface="Calibri"/>
                        <a:ea typeface="Calibri"/>
                        <a:cs typeface="Calibri"/>
                        <a:sym typeface="Calibri"/>
                      </a:endParaRPr>
                    </a:p>
                    <a:p>
                      <a:pPr marL="342900" lvl="0" indent="-184150" algn="l" rtl="0">
                        <a:spcBef>
                          <a:spcPts val="0"/>
                        </a:spcBef>
                        <a:spcAft>
                          <a:spcPts val="0"/>
                        </a:spcAft>
                        <a:buSzPts val="900"/>
                        <a:buFont typeface="Calibri"/>
                        <a:buChar char="➔"/>
                      </a:pPr>
                      <a:r>
                        <a:rPr lang="en" sz="900">
                          <a:latin typeface="Calibri"/>
                          <a:ea typeface="Calibri"/>
                          <a:cs typeface="Calibri"/>
                          <a:sym typeface="Calibri"/>
                        </a:rPr>
                        <a:t>Science and engineering complement each other in the cycle known as research and development (R&amp;D). Many R&amp;D projects may involve scientists, engineers, and others with wide ranges of expertise. </a:t>
                      </a:r>
                      <a:endParaRPr sz="900">
                        <a:latin typeface="Calibri"/>
                        <a:ea typeface="Calibri"/>
                        <a:cs typeface="Calibri"/>
                        <a:sym typeface="Calibri"/>
                      </a:endParaRPr>
                    </a:p>
                  </a:txBody>
                  <a:tcPr marL="95100" marR="95100" marT="67975" marB="67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rowSpan="2" hMerge="1">
                  <a:txBody>
                    <a:bodyPr/>
                    <a:lstStyle/>
                    <a:p>
                      <a:endParaRPr lang="en-US"/>
                    </a:p>
                  </a:txBody>
                  <a:tcPr/>
                </a:tc>
                <a:extLst>
                  <a:ext uri="{0D108BD9-81ED-4DB2-BD59-A6C34878D82A}">
                    <a16:rowId xmlns:a16="http://schemas.microsoft.com/office/drawing/2014/main" val="10004"/>
                  </a:ext>
                </a:extLst>
              </a:tr>
              <a:tr h="810175">
                <a:tc gridSpan="5">
                  <a:txBody>
                    <a:bodyPr/>
                    <a:lstStyle/>
                    <a:p>
                      <a:pPr marL="0" lvl="0" indent="0" algn="l" rtl="0">
                        <a:lnSpc>
                          <a:spcPct val="115000"/>
                        </a:lnSpc>
                        <a:spcBef>
                          <a:spcPts val="0"/>
                        </a:spcBef>
                        <a:spcAft>
                          <a:spcPts val="0"/>
                        </a:spcAft>
                        <a:buNone/>
                      </a:pPr>
                      <a:r>
                        <a:rPr lang="en" sz="900" i="1" u="sng">
                          <a:solidFill>
                            <a:schemeClr val="dk1"/>
                          </a:solidFill>
                          <a:latin typeface="Calibri"/>
                          <a:ea typeface="Calibri"/>
                          <a:cs typeface="Calibri"/>
                          <a:sym typeface="Calibri"/>
                        </a:rPr>
                        <a:t>Connections to Nature of Science  </a:t>
                      </a:r>
                      <a:endParaRPr sz="900" i="1" u="sng">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Scientific Knowledge is Based on Empirical Evidence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Science knowledge is based on empirical evidence. </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Science disciplines share common rules of evidence used to evaluate explanations about natural systems. </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Science includes the process of coordinating patterns of evidence with current theory.</a:t>
                      </a:r>
                      <a:endParaRPr sz="900" b="1" i="1" u="sng">
                        <a:solidFill>
                          <a:schemeClr val="dk1"/>
                        </a:solidFill>
                        <a:latin typeface="Calibri"/>
                        <a:ea typeface="Calibri"/>
                        <a:cs typeface="Calibri"/>
                        <a:sym typeface="Calibri"/>
                      </a:endParaRPr>
                    </a:p>
                  </a:txBody>
                  <a:tcPr marL="95100" marR="95100" marT="67975" marB="67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1406125">
                <a:tc gridSpan="7">
                  <a:txBody>
                    <a:bodyPr/>
                    <a:lstStyle/>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ESS2.A:  Earth Materials and Systems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Evidence from deep probes and seismic waves, reconstructions of historical changes in Earth’s surface and its magnetic field, and an understanding of physical and chemical processes lead to a model of Earth with a hot but solid inner core, a liquid outer core, a solid mantle and crust. Motions of the mantle and its plates occur primarily through thermal convection, which involves the cycling of matter due to the outward flow of energy from Earth’s interior and gravitational movement of denser materials toward the interior. </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ESS2.B:  Plate Tectonics and Large-Scale System Interactions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t>
                      </a:r>
                      <a:r>
                        <a:rPr lang="en" sz="900">
                          <a:solidFill>
                            <a:schemeClr val="dk1"/>
                          </a:solidFill>
                          <a:highlight>
                            <a:srgbClr val="FFFF00"/>
                          </a:highlight>
                          <a:latin typeface="Calibri"/>
                          <a:ea typeface="Calibri"/>
                          <a:cs typeface="Calibri"/>
                          <a:sym typeface="Calibri"/>
                        </a:rPr>
                        <a:t>NYSED</a:t>
                      </a:r>
                      <a:r>
                        <a:rPr lang="en" sz="900">
                          <a:solidFill>
                            <a:schemeClr val="dk1"/>
                          </a:solidFill>
                          <a:latin typeface="Calibri"/>
                          <a:ea typeface="Calibri"/>
                          <a:cs typeface="Calibri"/>
                          <a:sym typeface="Calibri"/>
                        </a:rPr>
                        <a:t>) Residual heat from Earth’s formation and the radioactive decay of unstable isotopes in Earth’s interior continually generate energy that is absorbed by Earth’s mantle and crust, driving mantle convection. Plate tectonics can be viewed as the surface expression of mantle convection. </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a:t>
                      </a:r>
                      <a:r>
                        <a:rPr lang="en" sz="900">
                          <a:solidFill>
                            <a:schemeClr val="dk1"/>
                          </a:solidFill>
                          <a:highlight>
                            <a:srgbClr val="FFFF00"/>
                          </a:highlight>
                          <a:latin typeface="Calibri"/>
                          <a:ea typeface="Calibri"/>
                          <a:cs typeface="Calibri"/>
                          <a:sym typeface="Calibri"/>
                        </a:rPr>
                        <a:t>NYSED</a:t>
                      </a:r>
                      <a:r>
                        <a:rPr lang="en" sz="900">
                          <a:solidFill>
                            <a:schemeClr val="dk1"/>
                          </a:solidFill>
                          <a:latin typeface="Calibri"/>
                          <a:ea typeface="Calibri"/>
                          <a:cs typeface="Calibri"/>
                          <a:sym typeface="Calibri"/>
                        </a:rPr>
                        <a:t>) Minerals are the building blocks of igneous, metamorphic, and sedimentary rocks and can be identified using physical and chemical characteristics. These rock types are evidence of stages of constant recycling of Earth material by surface processes and convection currents in the mantle.</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PS4.A:  Wave Properties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Geologists use seismic waves and their reflection at interfaces between layers to probe structures deep in the planet.</a:t>
                      </a:r>
                      <a:endParaRPr sz="900" b="1">
                        <a:solidFill>
                          <a:schemeClr val="dk1"/>
                        </a:solidFill>
                        <a:latin typeface="Calibri"/>
                        <a:ea typeface="Calibri"/>
                        <a:cs typeface="Calibri"/>
                        <a:sym typeface="Calibri"/>
                      </a:endParaRPr>
                    </a:p>
                  </a:txBody>
                  <a:tcPr marL="95100" marR="95100" marT="67975" marB="67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5251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34000" marB="34000">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6">
                  <a:txBody>
                    <a:bodyPr/>
                    <a:lstStyle/>
                    <a:p>
                      <a:pPr marL="0" lvl="0" indent="0" algn="l" rtl="0">
                        <a:spcBef>
                          <a:spcPts val="0"/>
                        </a:spcBef>
                        <a:spcAft>
                          <a:spcPts val="0"/>
                        </a:spcAft>
                        <a:buNone/>
                      </a:pPr>
                      <a:r>
                        <a:rPr lang="en" sz="1000">
                          <a:latin typeface="Calibri"/>
                          <a:ea typeface="Calibri"/>
                          <a:cs typeface="Calibri"/>
                          <a:sym typeface="Calibri"/>
                        </a:rPr>
                        <a:t>Emphasis is on both a one-dimensional model of Earth, with radial layers determined by density, and a three dimensional model, which is controlled by mantle convection and the resulting plate tectonics. Rocks and minerals can be identified and classified using various tests and protocols that determine their physical and chemical properties. Examples of evidence include maps of Earth’s three-dimensional structure obtained from seismic waves, records of the rate of change of Earth’s magnetic field (as constraints on convection in the outer core), and identification of the composition of Earth’s layers from high-pressure laboratory experiments.</a:t>
                      </a:r>
                      <a:endParaRPr sz="1000" b="1">
                        <a:solidFill>
                          <a:srgbClr val="CC0000"/>
                        </a:solidFill>
                        <a:latin typeface="Calibri"/>
                        <a:ea typeface="Calibri"/>
                        <a:cs typeface="Calibri"/>
                        <a:sym typeface="Calibri"/>
                      </a:endParaRPr>
                    </a:p>
                  </a:txBody>
                  <a:tcPr marL="89900" marR="89900" marT="34000" marB="34000"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42" name="Google Shape;142;p23"/>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43" name="Google Shape;143;p23"/>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47"/>
        <p:cNvGrpSpPr/>
        <p:nvPr/>
      </p:nvGrpSpPr>
      <p:grpSpPr>
        <a:xfrm>
          <a:off x="0" y="0"/>
          <a:ext cx="0" cy="0"/>
          <a:chOff x="0" y="0"/>
          <a:chExt cx="0" cy="0"/>
        </a:xfrm>
      </p:grpSpPr>
      <p:graphicFrame>
        <p:nvGraphicFramePr>
          <p:cNvPr id="148" name="Google Shape;148;p24"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75" y="230726"/>
          <a:ext cx="9284025" cy="5357803"/>
        </p:xfrm>
        <a:graphic>
          <a:graphicData uri="http://schemas.openxmlformats.org/drawingml/2006/table">
            <a:tbl>
              <a:tblPr>
                <a:noFill/>
                <a:tableStyleId>{1455F5BC-4023-4B6A-AF38-90DE3866AEF7}</a:tableStyleId>
              </a:tblPr>
              <a:tblGrid>
                <a:gridCol w="1460125">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1181350">
                  <a:extLst>
                    <a:ext uri="{9D8B030D-6E8A-4147-A177-3AD203B41FA5}">
                      <a16:colId xmlns:a16="http://schemas.microsoft.com/office/drawing/2014/main" val="20002"/>
                    </a:ext>
                  </a:extLst>
                </a:gridCol>
                <a:gridCol w="2468025">
                  <a:extLst>
                    <a:ext uri="{9D8B030D-6E8A-4147-A177-3AD203B41FA5}">
                      <a16:colId xmlns:a16="http://schemas.microsoft.com/office/drawing/2014/main" val="20003"/>
                    </a:ext>
                  </a:extLst>
                </a:gridCol>
                <a:gridCol w="1911250">
                  <a:extLst>
                    <a:ext uri="{9D8B030D-6E8A-4147-A177-3AD203B41FA5}">
                      <a16:colId xmlns:a16="http://schemas.microsoft.com/office/drawing/2014/main" val="20004"/>
                    </a:ext>
                  </a:extLst>
                </a:gridCol>
                <a:gridCol w="1880425">
                  <a:extLst>
                    <a:ext uri="{9D8B030D-6E8A-4147-A177-3AD203B41FA5}">
                      <a16:colId xmlns:a16="http://schemas.microsoft.com/office/drawing/2014/main" val="20005"/>
                    </a:ext>
                  </a:extLst>
                </a:gridCol>
              </a:tblGrid>
              <a:tr h="32542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Earth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7275">
                <a:tc gridSpan="6">
                  <a:txBody>
                    <a:bodyPr/>
                    <a:lstStyle/>
                    <a:p>
                      <a:pPr marL="0" lvl="0" indent="0" algn="l" rtl="0">
                        <a:spcBef>
                          <a:spcPts val="0"/>
                        </a:spcBef>
                        <a:spcAft>
                          <a:spcPts val="0"/>
                        </a:spcAft>
                        <a:buNone/>
                      </a:pPr>
                      <a:r>
                        <a:rPr lang="en" sz="1200" b="1">
                          <a:latin typeface="Calibri"/>
                          <a:ea typeface="Calibri"/>
                          <a:cs typeface="Calibri"/>
                          <a:sym typeface="Calibri"/>
                        </a:rPr>
                        <a:t>Using a given plan, conduct an investigation of the physical and chemical properties of water and water’s effects on Earth materials and surface processes or given a plan, and the results of an investigation, describe how the properties of water affect an Earth material and a surface process. [HS-ESS2-5]</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5472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921375">
                <a:tc gridSpan="2">
                  <a:txBody>
                    <a:bodyPr/>
                    <a:lstStyle/>
                    <a:p>
                      <a:pPr marL="0" lvl="0" indent="0" algn="l" rtl="0">
                        <a:spcBef>
                          <a:spcPts val="0"/>
                        </a:spcBef>
                        <a:spcAft>
                          <a:spcPts val="0"/>
                        </a:spcAft>
                        <a:buNone/>
                      </a:pPr>
                      <a:r>
                        <a:rPr lang="en" sz="900">
                          <a:latin typeface="Calibri"/>
                          <a:ea typeface="Calibri"/>
                          <a:cs typeface="Calibri"/>
                          <a:sym typeface="Calibri"/>
                        </a:rPr>
                        <a:t>Plan and conduct an investigation to demonstrate how the water’s structure, in all of its phases, affects its properties, and how water effects on Earth materials and surface processes. </a:t>
                      </a:r>
                      <a:endParaRPr sz="900">
                        <a:latin typeface="Calibri"/>
                        <a:ea typeface="Calibri"/>
                        <a:cs typeface="Calibri"/>
                        <a:sym typeface="Calibri"/>
                      </a:endParaRPr>
                    </a:p>
                  </a:txBody>
                  <a:tcPr marL="95100" marR="95100" marT="128400" marB="128400">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Plan and conduct an investigation of the properties of water and its effects on Earth materials and surface processes. </a:t>
                      </a:r>
                      <a:endParaRPr sz="900">
                        <a:latin typeface="Calibri"/>
                        <a:ea typeface="Calibri"/>
                        <a:cs typeface="Calibri"/>
                        <a:sym typeface="Calibri"/>
                      </a:endParaRPr>
                    </a:p>
                  </a:txBody>
                  <a:tcPr marL="95100" marR="95100" marT="128400" marB="128400">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Using a given plan, conduct an investigation of the physical and chemical properties of water and water’s effects on Earth materials and surface processes or given a plan, and the results of an investigation, describe how the properties of water affect an Earth material and a surface process.</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Given the results of an investigation or information of the chemical and/or physical properties of water (in its different forms), describe an effect that water would have on an Earth material or a surface process. </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the results of an investigation or information about the chemical and/or physical properties of water (in its different forms) identify an effect that water would have on an Earth material or surface process. </a:t>
                      </a:r>
                      <a:endParaRPr sz="900">
                        <a:latin typeface="Calibri"/>
                        <a:ea typeface="Calibri"/>
                        <a:cs typeface="Calibri"/>
                        <a:sym typeface="Calibri"/>
                      </a:endParaRPr>
                    </a:p>
                  </a:txBody>
                  <a:tcPr marL="95100" marR="95100" marT="128400" marB="128400">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00425">
                <a:tc gridSpan="4">
                  <a:txBody>
                    <a:bodyPr/>
                    <a:lstStyle/>
                    <a:p>
                      <a:pPr marL="0" lvl="0" indent="0" algn="l" rtl="0">
                        <a:spcBef>
                          <a:spcPts val="0"/>
                        </a:spcBef>
                        <a:spcAft>
                          <a:spcPts val="0"/>
                        </a:spcAft>
                        <a:buNone/>
                      </a:pPr>
                      <a:r>
                        <a:rPr lang="en" sz="1000" b="1">
                          <a:latin typeface="Calibri"/>
                          <a:ea typeface="Calibri"/>
                          <a:cs typeface="Calibri"/>
                          <a:sym typeface="Calibri"/>
                        </a:rPr>
                        <a:t>Planning &amp; Carrying Out Investigations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Plan and conduct an investigation individually and collaboratively to produce data to serve as the basis for evidence, and in the design: decide on types, how much, and accuracy of data needed to produce reliable measurements and consider limitations on the precision of the data (e.g., number of trials, cost, risk, time), and refine the design accordingly.</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Structure and Function </a:t>
                      </a:r>
                      <a:r>
                        <a:rPr lang="en" sz="1000">
                          <a:latin typeface="Calibri"/>
                          <a:ea typeface="Calibri"/>
                          <a:cs typeface="Calibri"/>
                          <a:sym typeface="Calibri"/>
                        </a:rPr>
                        <a:t> </a:t>
                      </a:r>
                      <a:endParaRPr sz="1000">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The functions and properties of natural and designed objects and systems can be inferred from their overall structure, the way their components are shaped and used, and the molecular substructures of its various materials.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63717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ESS2.C:  The Roles of Water in Earth’s Surface Processes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abundance of liquid water on Earth’s surface and its unique combination of physical and chemical properties are central to the planet’s dynamics. These properties include water’s exceptional capacity to absorb, store, and release large amounts of energy, transmit sunlight, expand upon freezing, dissolve and transport materials, and lower the viscosities and melting points of rocks.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6371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mechanical and chemical investigations with water and a variety of solid materials to provide the evidence for connections between the hydrologic cycle and system interactions commonly known as the rock cycle. Examples of mechanical investigations include stream transportation (erosion) and deposition using a stream table, infiltration and runoff by measuring permeability and porosity of different materials, or frost wedging by the expansion of water as it freezes. Examples of chemical investigations include chemical weathering and recrystallization (by testing the solubility of different materials) or melt generation (by examining how water lowers the melting temperature of most solids).</a:t>
                      </a:r>
                      <a:endParaRPr sz="1000" b="1">
                        <a:solidFill>
                          <a:srgbClr val="CC0000"/>
                        </a:solidFill>
                        <a:latin typeface="Calibri"/>
                        <a:ea typeface="Calibri"/>
                        <a:cs typeface="Calibri"/>
                        <a:sym typeface="Calibri"/>
                      </a:endParaRPr>
                    </a:p>
                  </a:txBody>
                  <a:tcPr marL="89900" marR="89900" marT="67975" marB="67975" anchor="ctr">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149" name="Google Shape;149;p24"/>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50" name="Google Shape;150;p24"/>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54"/>
        <p:cNvGrpSpPr/>
        <p:nvPr/>
      </p:nvGrpSpPr>
      <p:grpSpPr>
        <a:xfrm>
          <a:off x="0" y="0"/>
          <a:ext cx="0" cy="0"/>
          <a:chOff x="0" y="0"/>
          <a:chExt cx="0" cy="0"/>
        </a:xfrm>
      </p:grpSpPr>
      <p:graphicFrame>
        <p:nvGraphicFramePr>
          <p:cNvPr id="155" name="Google Shape;155;p25"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76" y="230726"/>
          <a:ext cx="9284000" cy="4252903"/>
        </p:xfrm>
        <a:graphic>
          <a:graphicData uri="http://schemas.openxmlformats.org/drawingml/2006/table">
            <a:tbl>
              <a:tblPr>
                <a:noFill/>
                <a:tableStyleId>{1455F5BC-4023-4B6A-AF38-90DE3866AEF7}</a:tableStyleId>
              </a:tblPr>
              <a:tblGrid>
                <a:gridCol w="1465175">
                  <a:extLst>
                    <a:ext uri="{9D8B030D-6E8A-4147-A177-3AD203B41FA5}">
                      <a16:colId xmlns:a16="http://schemas.microsoft.com/office/drawing/2014/main" val="20000"/>
                    </a:ext>
                  </a:extLst>
                </a:gridCol>
                <a:gridCol w="431900">
                  <a:extLst>
                    <a:ext uri="{9D8B030D-6E8A-4147-A177-3AD203B41FA5}">
                      <a16:colId xmlns:a16="http://schemas.microsoft.com/office/drawing/2014/main" val="20001"/>
                    </a:ext>
                  </a:extLst>
                </a:gridCol>
                <a:gridCol w="1652450">
                  <a:extLst>
                    <a:ext uri="{9D8B030D-6E8A-4147-A177-3AD203B41FA5}">
                      <a16:colId xmlns:a16="http://schemas.microsoft.com/office/drawing/2014/main" val="20002"/>
                    </a:ext>
                  </a:extLst>
                </a:gridCol>
                <a:gridCol w="1913550">
                  <a:extLst>
                    <a:ext uri="{9D8B030D-6E8A-4147-A177-3AD203B41FA5}">
                      <a16:colId xmlns:a16="http://schemas.microsoft.com/office/drawing/2014/main" val="20003"/>
                    </a:ext>
                  </a:extLst>
                </a:gridCol>
                <a:gridCol w="1948950">
                  <a:extLst>
                    <a:ext uri="{9D8B030D-6E8A-4147-A177-3AD203B41FA5}">
                      <a16:colId xmlns:a16="http://schemas.microsoft.com/office/drawing/2014/main" val="20004"/>
                    </a:ext>
                  </a:extLst>
                </a:gridCol>
                <a:gridCol w="1871975">
                  <a:extLst>
                    <a:ext uri="{9D8B030D-6E8A-4147-A177-3AD203B41FA5}">
                      <a16:colId xmlns:a16="http://schemas.microsoft.com/office/drawing/2014/main" val="20005"/>
                    </a:ext>
                  </a:extLst>
                </a:gridCol>
              </a:tblGrid>
              <a:tr h="34762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Earth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92825">
                <a:tc gridSpan="6">
                  <a:txBody>
                    <a:bodyPr/>
                    <a:lstStyle/>
                    <a:p>
                      <a:pPr marL="0" lvl="0" indent="0" algn="l" rtl="0">
                        <a:spcBef>
                          <a:spcPts val="0"/>
                        </a:spcBef>
                        <a:spcAft>
                          <a:spcPts val="0"/>
                        </a:spcAft>
                        <a:buNone/>
                      </a:pPr>
                      <a:r>
                        <a:rPr lang="en" sz="1200" b="1">
                          <a:latin typeface="Calibri"/>
                          <a:ea typeface="Calibri"/>
                          <a:cs typeface="Calibri"/>
                          <a:sym typeface="Calibri"/>
                        </a:rPr>
                        <a:t>Use/complete a quantitative model to describe the cycling of carbon between two Earth spheres (hydrosphere, atmosphere, geosphere, and biosphere).  [HS-ESS2-6]</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9262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872500">
                <a:tc gridSpan="2">
                  <a:txBody>
                    <a:bodyPr/>
                    <a:lstStyle/>
                    <a:p>
                      <a:pPr marL="0" lvl="0" indent="0" algn="l" rtl="0">
                        <a:spcBef>
                          <a:spcPts val="0"/>
                        </a:spcBef>
                        <a:spcAft>
                          <a:spcPts val="0"/>
                        </a:spcAft>
                        <a:buNone/>
                      </a:pPr>
                      <a:r>
                        <a:rPr lang="en" sz="900">
                          <a:latin typeface="Calibri"/>
                          <a:ea typeface="Calibri"/>
                          <a:cs typeface="Calibri"/>
                          <a:sym typeface="Calibri"/>
                        </a:rPr>
                        <a:t>Develop and analyze data from a quantitative model of the carbon cycle to predict how a change in carbon levels in one system will affect other Earth systems. </a:t>
                      </a:r>
                      <a:endParaRPr sz="900">
                        <a:latin typeface="Calibri"/>
                        <a:ea typeface="Calibri"/>
                        <a:cs typeface="Calibri"/>
                        <a:sym typeface="Calibri"/>
                      </a:endParaRPr>
                    </a:p>
                  </a:txBody>
                  <a:tcPr marL="95100" marR="95100" marT="128400" marB="128400">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Develop a quantitative model to describe the cycling of carbon among the hydrosphere, atmosphere, geosphere, and biosphere. </a:t>
                      </a:r>
                      <a:endParaRPr sz="900">
                        <a:latin typeface="Calibri"/>
                        <a:ea typeface="Calibri"/>
                        <a:cs typeface="Calibri"/>
                        <a:sym typeface="Calibri"/>
                      </a:endParaRPr>
                    </a:p>
                  </a:txBody>
                  <a:tcPr marL="95100" marR="95100" marT="128400" marB="128400">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Use/complete a quantitative model to describe the cycling of carbon between two Earth spheres (hydrosphere, atmosphere, geosphere, and biosphere). </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Use a quantitative/ qualitative model to identify the cycling of carbon between two Earth spheres (hydrosphere, atmosphere, geosphere, and biosphere). </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quantitative/qualitative model that shows the cycling of carbon between two Earth spheres to identify the relative concentrations of carbon present in each sphere. </a:t>
                      </a:r>
                      <a:endParaRPr sz="900">
                        <a:latin typeface="Calibri"/>
                        <a:ea typeface="Calibri"/>
                        <a:cs typeface="Calibri"/>
                        <a:sym typeface="Calibri"/>
                      </a:endParaRPr>
                    </a:p>
                  </a:txBody>
                  <a:tcPr marL="95100" marR="95100" marT="128400" marB="128400">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25350">
                <a:tc gridSpan="3">
                  <a:txBody>
                    <a:bodyPr/>
                    <a:lstStyle/>
                    <a:p>
                      <a:pPr marL="0" lvl="0" indent="0" algn="l" rtl="0">
                        <a:spcBef>
                          <a:spcPts val="0"/>
                        </a:spcBef>
                        <a:spcAft>
                          <a:spcPts val="0"/>
                        </a:spcAft>
                        <a:buNone/>
                      </a:pPr>
                      <a:r>
                        <a:rPr lang="en" sz="1000" b="1">
                          <a:latin typeface="Calibri"/>
                          <a:ea typeface="Calibri"/>
                          <a:cs typeface="Calibri"/>
                          <a:sym typeface="Calibri"/>
                        </a:rPr>
                        <a:t>Developing &amp; Using Models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Develop a model based on evidence to illustrate the relationships between systems or between components of a system.</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Energy &amp; Matter</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The total amount of energy and matter in closed systems is conserved.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53935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ESS2.D: Weather &amp; Climate</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Gradual atmospheric changes were due to plants and other organisms that captured carbon dioxide and released oxygen. </a:t>
                      </a:r>
                      <a:endParaRPr sz="1000">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Changes in the atmosphere due to human activity have increased carbon dioxide concentrations and thus affect climate.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953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modeling biogeochemical cycles that include the cycling of carbon through the ocean, atmosphere, soil, and biosphere (including humans), providing the foundation for living organisms.</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59"/>
        <p:cNvGrpSpPr/>
        <p:nvPr/>
      </p:nvGrpSpPr>
      <p:grpSpPr>
        <a:xfrm>
          <a:off x="0" y="0"/>
          <a:ext cx="0" cy="0"/>
          <a:chOff x="0" y="0"/>
          <a:chExt cx="0" cy="0"/>
        </a:xfrm>
      </p:grpSpPr>
      <p:graphicFrame>
        <p:nvGraphicFramePr>
          <p:cNvPr id="160" name="Google Shape;160;p26"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24025" y="230751"/>
          <a:ext cx="9261675" cy="4853673"/>
        </p:xfrm>
        <a:graphic>
          <a:graphicData uri="http://schemas.openxmlformats.org/drawingml/2006/table">
            <a:tbl>
              <a:tblPr>
                <a:noFill/>
                <a:tableStyleId>{1455F5BC-4023-4B6A-AF38-90DE3866AEF7}</a:tableStyleId>
              </a:tblPr>
              <a:tblGrid>
                <a:gridCol w="1467025">
                  <a:extLst>
                    <a:ext uri="{9D8B030D-6E8A-4147-A177-3AD203B41FA5}">
                      <a16:colId xmlns:a16="http://schemas.microsoft.com/office/drawing/2014/main" val="20000"/>
                    </a:ext>
                  </a:extLst>
                </a:gridCol>
                <a:gridCol w="1164275">
                  <a:extLst>
                    <a:ext uri="{9D8B030D-6E8A-4147-A177-3AD203B41FA5}">
                      <a16:colId xmlns:a16="http://schemas.microsoft.com/office/drawing/2014/main" val="20001"/>
                    </a:ext>
                  </a:extLst>
                </a:gridCol>
                <a:gridCol w="1397900">
                  <a:extLst>
                    <a:ext uri="{9D8B030D-6E8A-4147-A177-3AD203B41FA5}">
                      <a16:colId xmlns:a16="http://schemas.microsoft.com/office/drawing/2014/main" val="20002"/>
                    </a:ext>
                  </a:extLst>
                </a:gridCol>
                <a:gridCol w="1828150">
                  <a:extLst>
                    <a:ext uri="{9D8B030D-6E8A-4147-A177-3AD203B41FA5}">
                      <a16:colId xmlns:a16="http://schemas.microsoft.com/office/drawing/2014/main" val="20003"/>
                    </a:ext>
                  </a:extLst>
                </a:gridCol>
                <a:gridCol w="1709700">
                  <a:extLst>
                    <a:ext uri="{9D8B030D-6E8A-4147-A177-3AD203B41FA5}">
                      <a16:colId xmlns:a16="http://schemas.microsoft.com/office/drawing/2014/main" val="20004"/>
                    </a:ext>
                  </a:extLst>
                </a:gridCol>
                <a:gridCol w="1694625">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Earth Systems</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Support a given argument by describing the evidence for the coevolution of feedbacks between Earth’s systems and life on Earth.  [HS-ESS2-7]</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0">
                <a:tc gridSpan="2">
                  <a:txBody>
                    <a:bodyPr/>
                    <a:lstStyle/>
                    <a:p>
                      <a:pPr marL="0" lvl="0" indent="0" algn="l" rtl="0">
                        <a:spcBef>
                          <a:spcPts val="0"/>
                        </a:spcBef>
                        <a:spcAft>
                          <a:spcPts val="0"/>
                        </a:spcAft>
                        <a:buNone/>
                      </a:pPr>
                      <a:r>
                        <a:rPr lang="en" sz="900">
                          <a:latin typeface="Calibri"/>
                          <a:ea typeface="Calibri"/>
                          <a:cs typeface="Calibri"/>
                          <a:sym typeface="Calibri"/>
                        </a:rPr>
                        <a:t>Compare and evaluate competing scientifically-based arguments in light of currently accepted explanations, new evidence, limitations, constraints, and ethical issues about the coevolution of Earth’s systems and life on Earth. </a:t>
                      </a:r>
                      <a:endParaRPr sz="900">
                        <a:latin typeface="Calibri"/>
                        <a:ea typeface="Calibri"/>
                        <a:cs typeface="Calibri"/>
                        <a:sym typeface="Calibri"/>
                      </a:endParaRPr>
                    </a:p>
                  </a:txBody>
                  <a:tcPr marL="95100" marR="95100" marT="128400" marB="128400">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Construct an argument based on evidence about the coevolution of Earth’s systems and life on Earth.</a:t>
                      </a:r>
                      <a:endParaRPr sz="900">
                        <a:latin typeface="Calibri"/>
                        <a:ea typeface="Calibri"/>
                        <a:cs typeface="Calibri"/>
                        <a:sym typeface="Calibri"/>
                      </a:endParaRPr>
                    </a:p>
                  </a:txBody>
                  <a:tcPr marL="95100" marR="95100" marT="128400" marB="128400">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Support a given argument by describing the evidence for the coevolution of feedbacks between Earth’s systems and life on Earth. </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solidFill>
                            <a:schemeClr val="dk1"/>
                          </a:solidFill>
                          <a:latin typeface="Calibri"/>
                          <a:ea typeface="Calibri"/>
                          <a:cs typeface="Calibri"/>
                          <a:sym typeface="Calibri"/>
                        </a:rPr>
                        <a:t>Support a given argument by identifying the evidence for the coevolution of feedbacks between Earth’s systems and life on Earth.</a:t>
                      </a:r>
                      <a:endParaRPr sz="900">
                        <a:latin typeface="Calibri"/>
                        <a:ea typeface="Calibri"/>
                        <a:cs typeface="Calibri"/>
                        <a:sym typeface="Calibri"/>
                      </a:endParaRPr>
                    </a:p>
                  </a:txBody>
                  <a:tcPr marL="95100" marR="95100" marT="128400" marB="1284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Identify the correct example, from those provided, of the coevolution of two Earth’s systems and the effect on life on Earth. </a:t>
                      </a:r>
                      <a:endParaRPr sz="900">
                        <a:latin typeface="Calibri"/>
                        <a:ea typeface="Calibri"/>
                        <a:cs typeface="Calibri"/>
                        <a:sym typeface="Calibri"/>
                      </a:endParaRPr>
                    </a:p>
                  </a:txBody>
                  <a:tcPr marL="95100" marR="95100" marT="128400" marB="128400">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0">
                <a:tc gridSpan="3">
                  <a:txBody>
                    <a:bodyPr/>
                    <a:lstStyle/>
                    <a:p>
                      <a:pPr marL="0" lvl="0" indent="0" algn="l" rtl="0">
                        <a:spcBef>
                          <a:spcPts val="0"/>
                        </a:spcBef>
                        <a:spcAft>
                          <a:spcPts val="0"/>
                        </a:spcAft>
                        <a:buNone/>
                      </a:pPr>
                      <a:r>
                        <a:rPr lang="en" sz="1000" b="1">
                          <a:latin typeface="Calibri"/>
                          <a:ea typeface="Calibri"/>
                          <a:cs typeface="Calibri"/>
                          <a:sym typeface="Calibri"/>
                        </a:rPr>
                        <a:t>Engaging in Argument from Evidence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Construct an oral and written argument or counter arguments based on data and evidence. </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Much of science deals with constructing explanations of how things change and how they remain stable.</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ESS2.D: Weather &amp; Climate</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Gradual atmospheric changes were due to plants and other organisms that captured carbon dioxide and released oxygen.</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ESS2.E:  Biogeology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many dynamic and delicate feedbacks between the biosphere and other Earth systems cause a continual coevolution of Earth’s surface and the life that exists on it.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1622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the dynamic causes, effects, and feedbacks between the biosphere and Earth’s other systems, whereby geoscience factors control the evolution of life, which in turn continuously alters Earth’s surface. Examples include how the outgassing of water from Earth’s interior caused the development of Earth’s early oceans leading to the evolution of microorganisms and stromatolites; how photosynthetic life altered the atmosphere through the production of oxygen, which in turn increased weathering rates and allowed for the evolution of animal life; how microbial life on land increased the formation of soil, which in turn allowed for the evolution of land plants; or how the evolution of corals created reefs that altered patterns of erosion and deposition along coastlines and provided habitats for the evolution of new life forms.</a:t>
                      </a:r>
                      <a:endParaRPr sz="1000">
                        <a:latin typeface="Calibri"/>
                        <a:ea typeface="Calibri"/>
                        <a:cs typeface="Calibri"/>
                        <a:sym typeface="Calibri"/>
                      </a:endParaRPr>
                    </a:p>
                  </a:txBody>
                  <a:tcPr marL="89900" marR="89900" marT="67975" marB="67975" anchor="ctr">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does not include a comprehensive understanding of the mechanisms of how the biosphere interacts with all of Earth’s other systems.</a:t>
                      </a:r>
                      <a:endParaRPr sz="1000">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61" name="Google Shape;161;p26"/>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62" name="Google Shape;162;p26"/>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66"/>
        <p:cNvGrpSpPr/>
        <p:nvPr/>
      </p:nvGrpSpPr>
      <p:grpSpPr>
        <a:xfrm>
          <a:off x="0" y="0"/>
          <a:ext cx="0" cy="0"/>
          <a:chOff x="0" y="0"/>
          <a:chExt cx="0" cy="0"/>
        </a:xfrm>
      </p:grpSpPr>
      <p:graphicFrame>
        <p:nvGraphicFramePr>
          <p:cNvPr id="167" name="Google Shape;167;p27"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8450" y="230726"/>
          <a:ext cx="9272825" cy="6509953"/>
        </p:xfrm>
        <a:graphic>
          <a:graphicData uri="http://schemas.openxmlformats.org/drawingml/2006/table">
            <a:tbl>
              <a:tblPr>
                <a:noFill/>
                <a:tableStyleId>{1455F5BC-4023-4B6A-AF38-90DE3866AEF7}</a:tableStyleId>
              </a:tblPr>
              <a:tblGrid>
                <a:gridCol w="1470550">
                  <a:extLst>
                    <a:ext uri="{9D8B030D-6E8A-4147-A177-3AD203B41FA5}">
                      <a16:colId xmlns:a16="http://schemas.microsoft.com/office/drawing/2014/main" val="20000"/>
                    </a:ext>
                  </a:extLst>
                </a:gridCol>
                <a:gridCol w="431900">
                  <a:extLst>
                    <a:ext uri="{9D8B030D-6E8A-4147-A177-3AD203B41FA5}">
                      <a16:colId xmlns:a16="http://schemas.microsoft.com/office/drawing/2014/main" val="20001"/>
                    </a:ext>
                  </a:extLst>
                </a:gridCol>
                <a:gridCol w="1349200">
                  <a:extLst>
                    <a:ext uri="{9D8B030D-6E8A-4147-A177-3AD203B41FA5}">
                      <a16:colId xmlns:a16="http://schemas.microsoft.com/office/drawing/2014/main" val="20002"/>
                    </a:ext>
                  </a:extLst>
                </a:gridCol>
                <a:gridCol w="3036000">
                  <a:extLst>
                    <a:ext uri="{9D8B030D-6E8A-4147-A177-3AD203B41FA5}">
                      <a16:colId xmlns:a16="http://schemas.microsoft.com/office/drawing/2014/main" val="20003"/>
                    </a:ext>
                  </a:extLst>
                </a:gridCol>
                <a:gridCol w="1723025">
                  <a:extLst>
                    <a:ext uri="{9D8B030D-6E8A-4147-A177-3AD203B41FA5}">
                      <a16:colId xmlns:a16="http://schemas.microsoft.com/office/drawing/2014/main" val="20004"/>
                    </a:ext>
                  </a:extLst>
                </a:gridCol>
                <a:gridCol w="1262150">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Weather &amp; Climate</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1425">
                <a:tc gridSpan="6">
                  <a:txBody>
                    <a:bodyPr/>
                    <a:lstStyle/>
                    <a:p>
                      <a:pPr marL="0" lvl="0" indent="0" algn="l" rtl="0">
                        <a:spcBef>
                          <a:spcPts val="0"/>
                        </a:spcBef>
                        <a:spcAft>
                          <a:spcPts val="0"/>
                        </a:spcAft>
                        <a:buNone/>
                      </a:pPr>
                      <a:r>
                        <a:rPr lang="en" sz="1200" b="1">
                          <a:latin typeface="Calibri"/>
                          <a:ea typeface="Calibri"/>
                          <a:cs typeface="Calibri"/>
                          <a:sym typeface="Calibri"/>
                        </a:rPr>
                        <a:t>Use a model/information to identify factor(s) that affect the flow of energy into or out of an Earth system and describe one effect this would have on climate occurring over various timescales or use a model/information to describe how one change in the flow of energy in and out of an Earth system results in a change of climate.  [HS-ESS2-4]</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47025">
                <a:tc gridSpan="2">
                  <a:txBody>
                    <a:bodyPr/>
                    <a:lstStyle/>
                    <a:p>
                      <a:pPr marL="0" lvl="0" indent="0" algn="l" rtl="0">
                        <a:spcBef>
                          <a:spcPts val="0"/>
                        </a:spcBef>
                        <a:spcAft>
                          <a:spcPts val="0"/>
                        </a:spcAft>
                        <a:buNone/>
                      </a:pPr>
                      <a:r>
                        <a:rPr lang="en" sz="900">
                          <a:latin typeface="Calibri"/>
                          <a:ea typeface="Calibri"/>
                          <a:cs typeface="Calibri"/>
                          <a:sym typeface="Calibri"/>
                        </a:rPr>
                        <a:t>Evaluate and analyze data from climate change models to describe climate factors and the causational or correlational effect they have on climate change over different time scales. </a:t>
                      </a:r>
                      <a:endParaRPr sz="900">
                        <a:latin typeface="Calibri"/>
                        <a:ea typeface="Calibri"/>
                        <a:cs typeface="Calibri"/>
                        <a:sym typeface="Calibri"/>
                      </a:endParaRPr>
                    </a:p>
                  </a:txBody>
                  <a:tcPr marL="95100" marR="95100" marT="34000" marB="34000">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Use a model to describe how variations in the flow of energy into and out of Earth’s systems result in changes in climate. </a:t>
                      </a:r>
                      <a:endParaRPr sz="900">
                        <a:latin typeface="Calibri"/>
                        <a:ea typeface="Calibri"/>
                        <a:cs typeface="Calibri"/>
                        <a:sym typeface="Calibri"/>
                      </a:endParaRPr>
                    </a:p>
                  </a:txBody>
                  <a:tcPr marL="95100" marR="95100" marT="34000" marB="34000">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model/information to identify factor(s) that affect the flow of energy into or out of an Earth system and describe one effect this would have on climate occurring over various timescales or use a model/information to describe how one change in the flow of energy in and out of an Earth system results in a change of climate. </a:t>
                      </a:r>
                      <a:endParaRPr sz="900">
                        <a:latin typeface="Calibri"/>
                        <a:ea typeface="Calibri"/>
                        <a:cs typeface="Calibri"/>
                        <a:sym typeface="Calibri"/>
                      </a:endParaRPr>
                    </a:p>
                  </a:txBody>
                  <a:tcPr marL="95100" marR="95100" marT="34000" marB="340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Use a model/information to identify how (a) factor(s) affect(s) the flow of energy into or out of an Earth system and identify the resulting effect on climate over a timescale. </a:t>
                      </a:r>
                      <a:endParaRPr sz="900">
                        <a:latin typeface="Calibri"/>
                        <a:ea typeface="Calibri"/>
                        <a:cs typeface="Calibri"/>
                        <a:sym typeface="Calibri"/>
                      </a:endParaRPr>
                    </a:p>
                  </a:txBody>
                  <a:tcPr marL="95100" marR="95100" marT="34000" marB="34000">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a model/information to identify an energy flow into or out of an Earth system that results in a change in the climate. </a:t>
                      </a:r>
                      <a:endParaRPr sz="900">
                        <a:latin typeface="Calibri"/>
                        <a:ea typeface="Calibri"/>
                        <a:cs typeface="Calibri"/>
                        <a:sym typeface="Calibri"/>
                      </a:endParaRPr>
                    </a:p>
                  </a:txBody>
                  <a:tcPr marL="95100" marR="95100" marT="34000" marB="34000">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03200">
                <a:tc gridSpan="4">
                  <a:txBody>
                    <a:bodyPr/>
                    <a:lstStyle/>
                    <a:p>
                      <a:pPr marL="0" lvl="0" indent="0" algn="l" rtl="0">
                        <a:spcBef>
                          <a:spcPts val="0"/>
                        </a:spcBef>
                        <a:spcAft>
                          <a:spcPts val="0"/>
                        </a:spcAft>
                        <a:buNone/>
                      </a:pPr>
                      <a:r>
                        <a:rPr lang="en" sz="1000" b="1">
                          <a:latin typeface="Calibri"/>
                          <a:ea typeface="Calibri"/>
                          <a:cs typeface="Calibri"/>
                          <a:sym typeface="Calibri"/>
                        </a:rPr>
                        <a:t>Developing &amp; Using Models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Use a model to provide mechanistic accounts of phenomena.</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rowSpan="2" gridSpan="2">
                  <a:txBody>
                    <a:bodyPr/>
                    <a:lstStyle/>
                    <a:p>
                      <a:pPr marL="0" lvl="0" indent="0" algn="l" rtl="0">
                        <a:spcBef>
                          <a:spcPts val="0"/>
                        </a:spcBef>
                        <a:spcAft>
                          <a:spcPts val="0"/>
                        </a:spcAft>
                        <a:buNone/>
                      </a:pPr>
                      <a:r>
                        <a:rPr lang="en" sz="1000" b="1">
                          <a:solidFill>
                            <a:schemeClr val="dk1"/>
                          </a:solidFill>
                          <a:latin typeface="Calibri"/>
                          <a:ea typeface="Calibri"/>
                          <a:cs typeface="Calibri"/>
                          <a:sym typeface="Calibri"/>
                        </a:rPr>
                        <a:t>Cause &amp; Effect</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Empirical evidence is required to differentiate between cause and correlation and make claims about specific causes and effects. </a:t>
                      </a:r>
                      <a:endParaRPr sz="10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rowSpan="2" hMerge="1">
                  <a:txBody>
                    <a:bodyPr/>
                    <a:lstStyle/>
                    <a:p>
                      <a:endParaRPr lang="en-US"/>
                    </a:p>
                  </a:txBody>
                  <a:tcPr/>
                </a:tc>
                <a:extLst>
                  <a:ext uri="{0D108BD9-81ED-4DB2-BD59-A6C34878D82A}">
                    <a16:rowId xmlns:a16="http://schemas.microsoft.com/office/drawing/2014/main" val="10004"/>
                  </a:ext>
                </a:extLst>
              </a:tr>
              <a:tr h="268925">
                <a:tc gridSpan="4">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Nature of Science</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Scientific Knowledge is Based on Empirical Evidence</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Scientific Knowledge is Based on Empirical Evidence</a:t>
                      </a:r>
                      <a:endParaRPr sz="1000" b="1" i="1" u="sng">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0005"/>
                  </a:ext>
                </a:extLst>
              </a:tr>
              <a:tr h="818750">
                <a:tc gridSpan="6">
                  <a:txBody>
                    <a:bodyPr/>
                    <a:lstStyle/>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ESS1.B:  Earth and the Solar System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Cyclical changes in the shape of Earth’s orbit around the sun, together with changes in the tilt of the planet’s axis of rotation, both occurring over hundreds of thousands of years, have altered the intensity and distribution of sunlight falling on the earth. These phenomena cause a cycle of ice ages and other gradual climate changes. </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ESS2.A:  Earth Materials and Systems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geological record shows that changes to global and regional climate can be caused by interactions among changes in the sun’s energy output or Earth’s orbit, tectonic events, ocean circulation, volcanic activity, glaciers, vegetation, and human activities. These changes can occur on a variety of time scales from sudden (e.g., volcanic ash clouds) to intermediate (ice ages) to very long-term tectonic cycles. </a:t>
                      </a:r>
                      <a:endParaRPr sz="9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900" b="1">
                          <a:solidFill>
                            <a:schemeClr val="dk1"/>
                          </a:solidFill>
                          <a:latin typeface="Calibri"/>
                          <a:ea typeface="Calibri"/>
                          <a:cs typeface="Calibri"/>
                          <a:sym typeface="Calibri"/>
                        </a:rPr>
                        <a:t>ESS2.D:  Weather and Climate  </a:t>
                      </a:r>
                      <a:endParaRPr sz="900" b="1">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The foundation for Earth’s global climate systems is the electromagnetic radiation from the sun, as well as its reflection, absorption, storage, and redistribution among the atmosphere, ocean, and land systems, and this energy’s re-radiation into space. </a:t>
                      </a:r>
                      <a:endParaRPr sz="900">
                        <a:solidFill>
                          <a:schemeClr val="dk1"/>
                        </a:solidFill>
                        <a:latin typeface="Calibri"/>
                        <a:ea typeface="Calibri"/>
                        <a:cs typeface="Calibri"/>
                        <a:sym typeface="Calibri"/>
                      </a:endParaRPr>
                    </a:p>
                    <a:p>
                      <a:pPr marL="342900" lvl="0" indent="-184150" algn="l" rtl="0">
                        <a:lnSpc>
                          <a:spcPct val="115000"/>
                        </a:lnSpc>
                        <a:spcBef>
                          <a:spcPts val="0"/>
                        </a:spcBef>
                        <a:spcAft>
                          <a:spcPts val="0"/>
                        </a:spcAft>
                        <a:buClr>
                          <a:schemeClr val="dk1"/>
                        </a:buClr>
                        <a:buSzPts val="900"/>
                        <a:buFont typeface="Calibri"/>
                        <a:buChar char="●"/>
                      </a:pPr>
                      <a:r>
                        <a:rPr lang="en" sz="900">
                          <a:solidFill>
                            <a:schemeClr val="dk1"/>
                          </a:solidFill>
                          <a:latin typeface="Calibri"/>
                          <a:ea typeface="Calibri"/>
                          <a:cs typeface="Calibri"/>
                          <a:sym typeface="Calibri"/>
                        </a:rPr>
                        <a:t>Changes in the atmosphere due to human activity have increased carbon dioxide concentrations and thus affect climate. </a:t>
                      </a:r>
                      <a:endParaRPr sz="9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366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the causes of climate change differ by timescale, over 1-10 years: large volcanic eruption, ocean circulation; 10-100s of years: changes in human activity, ocean circulation, solar output; 10-100s of thousands of years: changes to Earth's orbit and the orientation of its axis; and 10-100s of millions of years: long-term changes in atmospheric composition and plate tectonic movement.</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1700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of the results of changes in climate is limited to changes in surface temperatures, precipitation patterns, glacial ice volumes, sea levels, and biosphere distribution.</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168" name="Google Shape;168;p27"/>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69" name="Google Shape;169;p27"/>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3"/>
        <p:cNvGrpSpPr/>
        <p:nvPr/>
      </p:nvGrpSpPr>
      <p:grpSpPr>
        <a:xfrm>
          <a:off x="0" y="0"/>
          <a:ext cx="0" cy="0"/>
          <a:chOff x="0" y="0"/>
          <a:chExt cx="0" cy="0"/>
        </a:xfrm>
      </p:grpSpPr>
      <p:graphicFrame>
        <p:nvGraphicFramePr>
          <p:cNvPr id="174" name="Google Shape;174;p28"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50" y="230726"/>
          <a:ext cx="9284075" cy="4598738"/>
        </p:xfrm>
        <a:graphic>
          <a:graphicData uri="http://schemas.openxmlformats.org/drawingml/2006/table">
            <a:tbl>
              <a:tblPr>
                <a:noFill/>
                <a:tableStyleId>{1455F5BC-4023-4B6A-AF38-90DE3866AEF7}</a:tableStyleId>
              </a:tblPr>
              <a:tblGrid>
                <a:gridCol w="1456275">
                  <a:extLst>
                    <a:ext uri="{9D8B030D-6E8A-4147-A177-3AD203B41FA5}">
                      <a16:colId xmlns:a16="http://schemas.microsoft.com/office/drawing/2014/main" val="20000"/>
                    </a:ext>
                  </a:extLst>
                </a:gridCol>
                <a:gridCol w="429650">
                  <a:extLst>
                    <a:ext uri="{9D8B030D-6E8A-4147-A177-3AD203B41FA5}">
                      <a16:colId xmlns:a16="http://schemas.microsoft.com/office/drawing/2014/main" val="20001"/>
                    </a:ext>
                  </a:extLst>
                </a:gridCol>
                <a:gridCol w="1595575">
                  <a:extLst>
                    <a:ext uri="{9D8B030D-6E8A-4147-A177-3AD203B41FA5}">
                      <a16:colId xmlns:a16="http://schemas.microsoft.com/office/drawing/2014/main" val="20002"/>
                    </a:ext>
                  </a:extLst>
                </a:gridCol>
                <a:gridCol w="1867675">
                  <a:extLst>
                    <a:ext uri="{9D8B030D-6E8A-4147-A177-3AD203B41FA5}">
                      <a16:colId xmlns:a16="http://schemas.microsoft.com/office/drawing/2014/main" val="20003"/>
                    </a:ext>
                  </a:extLst>
                </a:gridCol>
                <a:gridCol w="2114350">
                  <a:extLst>
                    <a:ext uri="{9D8B030D-6E8A-4147-A177-3AD203B41FA5}">
                      <a16:colId xmlns:a16="http://schemas.microsoft.com/office/drawing/2014/main" val="20004"/>
                    </a:ext>
                  </a:extLst>
                </a:gridCol>
                <a:gridCol w="1820550">
                  <a:extLst>
                    <a:ext uri="{9D8B030D-6E8A-4147-A177-3AD203B41FA5}">
                      <a16:colId xmlns:a16="http://schemas.microsoft.com/office/drawing/2014/main" val="20005"/>
                    </a:ext>
                  </a:extLst>
                </a:gridCol>
              </a:tblGrid>
              <a:tr h="30537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Weather &amp; Climate</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32400">
                <a:tc gridSpan="6">
                  <a:txBody>
                    <a:bodyPr/>
                    <a:lstStyle/>
                    <a:p>
                      <a:pPr marL="0" lvl="0" indent="0" algn="l" rtl="0">
                        <a:spcBef>
                          <a:spcPts val="0"/>
                        </a:spcBef>
                        <a:spcAft>
                          <a:spcPts val="0"/>
                        </a:spcAft>
                        <a:buNone/>
                      </a:pPr>
                      <a:r>
                        <a:rPr lang="en" sz="1200" b="1">
                          <a:latin typeface="Calibri"/>
                          <a:ea typeface="Calibri"/>
                          <a:cs typeface="Calibri"/>
                          <a:sym typeface="Calibri"/>
                        </a:rPr>
                        <a:t>Analyze geoscience data and the results from global climate models to make an evidence-based forecast of the current rate of global or regional climate change and associated future impacts to Earth systems. [HS-ESS3-5]</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4250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856550">
                <a:tc gridSpan="2">
                  <a:txBody>
                    <a:bodyPr/>
                    <a:lstStyle/>
                    <a:p>
                      <a:pPr marL="0" lvl="0" indent="0" algn="l" rtl="0">
                        <a:spcBef>
                          <a:spcPts val="0"/>
                        </a:spcBef>
                        <a:spcAft>
                          <a:spcPts val="0"/>
                        </a:spcAft>
                        <a:buNone/>
                      </a:pPr>
                      <a:r>
                        <a:rPr lang="en" sz="900">
                          <a:latin typeface="Calibri"/>
                          <a:ea typeface="Calibri"/>
                          <a:cs typeface="Calibri"/>
                          <a:sym typeface="Calibri"/>
                        </a:rPr>
                        <a:t>Collect and analyze geoscience data from global climate models to make valid and reliable scientific claims. Use those claims to determine an optimal design solution to slow the rate of climate change and its associated future impacts to Earth systems.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Analyze geoscience data and the results from global climate models to make an evidence based forecast of the current rate of global or regional climate change and associated future impacts to Earth systems.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Analyze geoscience data or the results from a global climate model to make an evidence-based claim (forecast) of the current rate of global or regional climate change and/or an associated future impact to an Earth system.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Use geoscience data and/or the results from a global climate model, to identify the evidence-based claim (forecast), from those provided, of the current rate of global or regional climate change and/or identify an associated future impact to an Earth system.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geoscience data or the results from a global climate model, or a given evidence based claim (forecast) of the current rate of global or regional climate change, identify an associated future impact to an Earth system.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41425">
                <a:tc gridSpan="4">
                  <a:txBody>
                    <a:bodyPr/>
                    <a:lstStyle/>
                    <a:p>
                      <a:pPr marL="0" lvl="0" indent="0" algn="l" rtl="0">
                        <a:spcBef>
                          <a:spcPts val="0"/>
                        </a:spcBef>
                        <a:spcAft>
                          <a:spcPts val="0"/>
                        </a:spcAft>
                        <a:buNone/>
                      </a:pPr>
                      <a:r>
                        <a:rPr lang="en" sz="1000" b="1">
                          <a:latin typeface="Calibri"/>
                          <a:ea typeface="Calibri"/>
                          <a:cs typeface="Calibri"/>
                          <a:sym typeface="Calibri"/>
                        </a:rPr>
                        <a:t>Analyzing &amp; Interpreting Data</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Analyze data using tools, technologies and/or models (e.g., computational or mathematical) in order to make valid and reliable scientific claims or determine optimal design solution.</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Change and rates of change can be quantified and modeled over very short or very long periods of time. Some system changes are irreversible.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36762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ESS3.D:  Global Climate Change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Though the magnitudes of human impacts are greater than they have ever been, so too are human abilities to model, predict, and manage current and future impacts.</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676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evidence, for both data and climate model outputs, are for climate changes (such as precipitation and temperature) and their associated impacts (such as on sea level, glacial ice volumes, or atmosphere and ocean composition)</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6762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is limited to one example of a climate change and its associated impacts.</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75" name="Google Shape;175;p28"/>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76" name="Google Shape;176;p28"/>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80"/>
        <p:cNvGrpSpPr/>
        <p:nvPr/>
      </p:nvGrpSpPr>
      <p:grpSpPr>
        <a:xfrm>
          <a:off x="0" y="0"/>
          <a:ext cx="0" cy="0"/>
          <a:chOff x="0" y="0"/>
          <a:chExt cx="0" cy="0"/>
        </a:xfrm>
      </p:grpSpPr>
      <p:graphicFrame>
        <p:nvGraphicFramePr>
          <p:cNvPr id="181" name="Google Shape;181;p29"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extLst>
              <p:ext uri="{D42A27DB-BD31-4B8C-83A1-F6EECF244321}">
                <p14:modId xmlns:p14="http://schemas.microsoft.com/office/powerpoint/2010/main" val="1595550678"/>
              </p:ext>
            </p:extLst>
          </p:nvPr>
        </p:nvGraphicFramePr>
        <p:xfrm>
          <a:off x="118864" y="227074"/>
          <a:ext cx="9270598" cy="4824263"/>
        </p:xfrm>
        <a:graphic>
          <a:graphicData uri="http://schemas.openxmlformats.org/drawingml/2006/table">
            <a:tbl>
              <a:tblPr>
                <a:noFill/>
                <a:tableStyleId>{1455F5BC-4023-4B6A-AF38-90DE3866AEF7}</a:tableStyleId>
              </a:tblPr>
              <a:tblGrid>
                <a:gridCol w="1478524">
                  <a:extLst>
                    <a:ext uri="{9D8B030D-6E8A-4147-A177-3AD203B41FA5}">
                      <a16:colId xmlns:a16="http://schemas.microsoft.com/office/drawing/2014/main" val="20000"/>
                    </a:ext>
                  </a:extLst>
                </a:gridCol>
                <a:gridCol w="368875">
                  <a:extLst>
                    <a:ext uri="{9D8B030D-6E8A-4147-A177-3AD203B41FA5}">
                      <a16:colId xmlns:a16="http://schemas.microsoft.com/office/drawing/2014/main" val="20001"/>
                    </a:ext>
                  </a:extLst>
                </a:gridCol>
                <a:gridCol w="1284000">
                  <a:extLst>
                    <a:ext uri="{9D8B030D-6E8A-4147-A177-3AD203B41FA5}">
                      <a16:colId xmlns:a16="http://schemas.microsoft.com/office/drawing/2014/main" val="20002"/>
                    </a:ext>
                  </a:extLst>
                </a:gridCol>
                <a:gridCol w="1497175">
                  <a:extLst>
                    <a:ext uri="{9D8B030D-6E8A-4147-A177-3AD203B41FA5}">
                      <a16:colId xmlns:a16="http://schemas.microsoft.com/office/drawing/2014/main" val="20003"/>
                    </a:ext>
                  </a:extLst>
                </a:gridCol>
                <a:gridCol w="2031750">
                  <a:extLst>
                    <a:ext uri="{9D8B030D-6E8A-4147-A177-3AD203B41FA5}">
                      <a16:colId xmlns:a16="http://schemas.microsoft.com/office/drawing/2014/main" val="20004"/>
                    </a:ext>
                  </a:extLst>
                </a:gridCol>
                <a:gridCol w="2610274">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Weather &amp; Climate</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Evaluate data and communicate information to identify the patterns of movement and/or interactions of air masses and/or the resulting changes in weather conditions.  [HS-ESS2-8]</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35250">
                <a:tc gridSpan="2">
                  <a:txBody>
                    <a:bodyPr/>
                    <a:lstStyle/>
                    <a:p>
                      <a:pPr marL="0" lvl="0" indent="0" algn="l" rtl="0">
                        <a:spcBef>
                          <a:spcPts val="0"/>
                        </a:spcBef>
                        <a:spcAft>
                          <a:spcPts val="0"/>
                        </a:spcAft>
                        <a:buNone/>
                      </a:pPr>
                      <a:r>
                        <a:rPr lang="en" sz="900">
                          <a:latin typeface="Calibri"/>
                          <a:ea typeface="Calibri"/>
                          <a:cs typeface="Calibri"/>
                          <a:sym typeface="Calibri"/>
                        </a:rPr>
                        <a:t>Collect and analyze global and regional weather data using tools, technologies, and/or models, to communicate in multiple formats how the movement and interactions of air masses result in changes in weather conditions.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Evaluate data and communicate information to explain how the movement and interactions of air masses result in changes in weather conditions.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Evaluate data and communicate information to identify the patterns of movement and/or interactions of air masses and/or the resulting changes in weather conditions.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Use data to identify the patterns of movement or the interactions of air masses and the resulting changes in weather conditions or to identify factors that drive the movement of air masses or from given weather conditions, identify evidence from maps that supports these conditions.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Use data and/or patterns of movement and interactions of air masses to identify the resulting changes in weather conditions or identify one factor that drives the movement of air masses or from those provided, use evidence from maps to account for weather conditions or given weather conditions, identify evidence found on maps that account for one of these conditions.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0">
                <a:tc gridSpan="4">
                  <a:txBody>
                    <a:bodyPr/>
                    <a:lstStyle/>
                    <a:p>
                      <a:pPr marL="0" lvl="0" indent="0" algn="l" rtl="0">
                        <a:spcBef>
                          <a:spcPts val="0"/>
                        </a:spcBef>
                        <a:spcAft>
                          <a:spcPts val="0"/>
                        </a:spcAft>
                        <a:buNone/>
                      </a:pPr>
                      <a:r>
                        <a:rPr lang="en" sz="1000" b="1">
                          <a:latin typeface="Calibri"/>
                          <a:ea typeface="Calibri"/>
                          <a:cs typeface="Calibri"/>
                          <a:sym typeface="Calibri"/>
                        </a:rPr>
                        <a:t>Obtaining, Evaluating, &amp; Communicating Information</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Communicate scientific ideas (e.g., about phenomena and/or the process of development and the design and performance of a proposed process or system) in multiple formats (including orally, graphically, textually, and mathematically).</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2">
                  <a:txBody>
                    <a:bodyPr/>
                    <a:lstStyle/>
                    <a:p>
                      <a:pPr marL="0" marR="0" lvl="0" indent="0" algn="l" rtl="0">
                        <a:spcBef>
                          <a:spcPts val="0"/>
                        </a:spcBef>
                        <a:spcAft>
                          <a:spcPts val="0"/>
                        </a:spcAft>
                        <a:buNone/>
                      </a:pPr>
                      <a:r>
                        <a:rPr lang="en" sz="1000" b="1">
                          <a:latin typeface="Calibri"/>
                          <a:ea typeface="Calibri"/>
                          <a:cs typeface="Calibri"/>
                          <a:sym typeface="Calibri"/>
                        </a:rPr>
                        <a:t>Patterns  </a:t>
                      </a:r>
                      <a:endParaRPr sz="1000" b="1">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Different patterns may be observed at each of the scales at which a system is studied and can provide evidence for causality in explanations of phenomena. </a:t>
                      </a:r>
                      <a:endParaRPr sz="1000">
                        <a:latin typeface="Calibri"/>
                        <a:ea typeface="Calibri"/>
                        <a:cs typeface="Calibri"/>
                        <a:sym typeface="Calibri"/>
                      </a:endParaRPr>
                    </a:p>
                    <a:p>
                      <a:pPr marL="342900" marR="0" lvl="0" indent="-190500" algn="l" rtl="0">
                        <a:spcBef>
                          <a:spcPts val="0"/>
                        </a:spcBef>
                        <a:spcAft>
                          <a:spcPts val="0"/>
                        </a:spcAft>
                        <a:buSzPts val="1000"/>
                        <a:buFont typeface="Calibri"/>
                        <a:buChar char="➔"/>
                      </a:pPr>
                      <a:r>
                        <a:rPr lang="en" sz="1000">
                          <a:latin typeface="Calibri"/>
                          <a:ea typeface="Calibri"/>
                          <a:cs typeface="Calibri"/>
                          <a:sym typeface="Calibri"/>
                        </a:rPr>
                        <a:t>Empirical evidence is needed to identify patterns.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extLst>
                  <a:ext uri="{0D108BD9-81ED-4DB2-BD59-A6C34878D82A}">
                    <a16:rowId xmlns:a16="http://schemas.microsoft.com/office/drawing/2014/main" val="10004"/>
                  </a:ext>
                </a:extLst>
              </a:tr>
              <a:tr h="20117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ESS2.D: Weather &amp; Climate</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t>
                      </a:r>
                      <a:r>
                        <a:rPr lang="en" sz="1000">
                          <a:solidFill>
                            <a:schemeClr val="dk1"/>
                          </a:solidFill>
                          <a:highlight>
                            <a:srgbClr val="FFFF00"/>
                          </a:highlight>
                          <a:latin typeface="Calibri"/>
                          <a:ea typeface="Calibri"/>
                          <a:cs typeface="Calibri"/>
                          <a:sym typeface="Calibri"/>
                        </a:rPr>
                        <a:t>NYSED</a:t>
                      </a:r>
                      <a:r>
                        <a:rPr lang="en" sz="1000">
                          <a:solidFill>
                            <a:schemeClr val="dk1"/>
                          </a:solidFill>
                          <a:latin typeface="Calibri"/>
                          <a:ea typeface="Calibri"/>
                          <a:cs typeface="Calibri"/>
                          <a:sym typeface="Calibri"/>
                        </a:rPr>
                        <a:t>) Concepts of density and heat energy can be used to explain observations of weather patterns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011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evidence sources could include station models, surface weather maps, satellite images, radar, and accepted forecast models. Emphasis should focus on communicating how the uneven heating of Earth’s surface and prevailing global winds drive the movement of air masses and their corresponding circulation patterns, the interaction of different air masses at frontal boundaries, and resulting weather phenomena.</a:t>
                      </a:r>
                      <a:endParaRPr sz="1000">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011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Analysis is limited to surface weather maps and general weather patterns associated with high and low pressure systems.</a:t>
                      </a:r>
                      <a:endParaRPr sz="1000">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82" name="Google Shape;182;p29"/>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83" name="Google Shape;183;p29"/>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87"/>
        <p:cNvGrpSpPr/>
        <p:nvPr/>
      </p:nvGrpSpPr>
      <p:grpSpPr>
        <a:xfrm>
          <a:off x="0" y="0"/>
          <a:ext cx="0" cy="0"/>
          <a:chOff x="0" y="0"/>
          <a:chExt cx="0" cy="0"/>
        </a:xfrm>
      </p:grpSpPr>
      <p:graphicFrame>
        <p:nvGraphicFramePr>
          <p:cNvPr id="188" name="Google Shape;188;p30"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826" y="230726"/>
          <a:ext cx="9284100" cy="5551683"/>
        </p:xfrm>
        <a:graphic>
          <a:graphicData uri="http://schemas.openxmlformats.org/drawingml/2006/table">
            <a:tbl>
              <a:tblPr>
                <a:noFill/>
                <a:tableStyleId>{1455F5BC-4023-4B6A-AF38-90DE3866AEF7}</a:tableStyleId>
              </a:tblPr>
              <a:tblGrid>
                <a:gridCol w="1469050">
                  <a:extLst>
                    <a:ext uri="{9D8B030D-6E8A-4147-A177-3AD203B41FA5}">
                      <a16:colId xmlns:a16="http://schemas.microsoft.com/office/drawing/2014/main" val="20000"/>
                    </a:ext>
                  </a:extLst>
                </a:gridCol>
                <a:gridCol w="936325">
                  <a:extLst>
                    <a:ext uri="{9D8B030D-6E8A-4147-A177-3AD203B41FA5}">
                      <a16:colId xmlns:a16="http://schemas.microsoft.com/office/drawing/2014/main" val="20001"/>
                    </a:ext>
                  </a:extLst>
                </a:gridCol>
                <a:gridCol w="1553600">
                  <a:extLst>
                    <a:ext uri="{9D8B030D-6E8A-4147-A177-3AD203B41FA5}">
                      <a16:colId xmlns:a16="http://schemas.microsoft.com/office/drawing/2014/main" val="20002"/>
                    </a:ext>
                  </a:extLst>
                </a:gridCol>
                <a:gridCol w="1768475">
                  <a:extLst>
                    <a:ext uri="{9D8B030D-6E8A-4147-A177-3AD203B41FA5}">
                      <a16:colId xmlns:a16="http://schemas.microsoft.com/office/drawing/2014/main" val="20003"/>
                    </a:ext>
                  </a:extLst>
                </a:gridCol>
                <a:gridCol w="1844425">
                  <a:extLst>
                    <a:ext uri="{9D8B030D-6E8A-4147-A177-3AD203B41FA5}">
                      <a16:colId xmlns:a16="http://schemas.microsoft.com/office/drawing/2014/main" val="20004"/>
                    </a:ext>
                  </a:extLst>
                </a:gridCol>
                <a:gridCol w="1712225">
                  <a:extLst>
                    <a:ext uri="{9D8B030D-6E8A-4147-A177-3AD203B41FA5}">
                      <a16:colId xmlns:a16="http://schemas.microsoft.com/office/drawing/2014/main" val="20005"/>
                    </a:ext>
                  </a:extLst>
                </a:gridCol>
              </a:tblGrid>
              <a:tr h="31505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Human Sustainability</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46600">
                <a:tc gridSpan="6">
                  <a:txBody>
                    <a:bodyPr/>
                    <a:lstStyle/>
                    <a:p>
                      <a:pPr marL="0" lvl="0" indent="0" algn="l" rtl="0">
                        <a:spcBef>
                          <a:spcPts val="0"/>
                        </a:spcBef>
                        <a:spcAft>
                          <a:spcPts val="0"/>
                        </a:spcAft>
                        <a:buNone/>
                      </a:pPr>
                      <a:r>
                        <a:rPr lang="en" sz="1200" b="1">
                          <a:latin typeface="Calibri"/>
                          <a:ea typeface="Calibri"/>
                          <a:cs typeface="Calibri"/>
                          <a:sym typeface="Calibri"/>
                        </a:rPr>
                        <a:t>Construct an explanation based on evidence that describes how human activity has been affected by the availability of natural resources, or occurrence of natural hazards, or changes in climate.  [HS-ESS3-1 ]</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0077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805600">
                <a:tc gridSpan="2">
                  <a:txBody>
                    <a:bodyPr/>
                    <a:lstStyle/>
                    <a:p>
                      <a:pPr marL="0" lvl="0" indent="0" algn="l" rtl="0">
                        <a:spcBef>
                          <a:spcPts val="0"/>
                        </a:spcBef>
                        <a:spcAft>
                          <a:spcPts val="0"/>
                        </a:spcAft>
                        <a:buNone/>
                      </a:pPr>
                      <a:r>
                        <a:rPr lang="en" sz="900">
                          <a:latin typeface="Calibri"/>
                          <a:ea typeface="Calibri"/>
                          <a:cs typeface="Calibri"/>
                          <a:sym typeface="Calibri"/>
                        </a:rPr>
                        <a:t>Construct an explanation based on evidence synthesized from a variety of sources of how human activity has been affected by the availability of natural resources, the occurrence of natural hazards, and changes in climate.  Design a plan to adapt to and/or mitigate the effects of natural perturbations.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Construct an explanation based on evidence for how the availability of natural resources, occurrence of natural hazards, and changes in climate have influenced human activity.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Construct an explanation based on evidence that describes how human activity has been affected by the availability of natural resources, or occurrence of natural hazards, or changes in climate.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Identify an evidence-based explanation, from those provided, that describes how the availability of natural resources, or the occurrence of natural hazards, or changes in climate have influenced human activity.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Identify the evidence that supports an explanation for how human activity has been affected by the availability of natural resources, or the occurrence of natural hazards, or changes in climate.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55400">
                <a:tc rowSpan="2" gridSpan="3">
                  <a:txBody>
                    <a:bodyPr/>
                    <a:lstStyle/>
                    <a:p>
                      <a:pPr marL="0" lvl="0" indent="0" algn="l" rtl="0">
                        <a:spcBef>
                          <a:spcPts val="0"/>
                        </a:spcBef>
                        <a:spcAft>
                          <a:spcPts val="0"/>
                        </a:spcAft>
                        <a:buNone/>
                      </a:pPr>
                      <a:r>
                        <a:rPr lang="en" sz="1000" b="1">
                          <a:solidFill>
                            <a:schemeClr val="dk1"/>
                          </a:solidFill>
                          <a:latin typeface="Calibri"/>
                          <a:ea typeface="Calibri"/>
                          <a:cs typeface="Calibri"/>
                          <a:sym typeface="Calibri"/>
                        </a:rPr>
                        <a:t>Constructing Explanations &amp; Designing Solutions</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Construct an explanation based on valid and reliable evidence obtained from a variety of sources (including students’ own investigations, models, theories, simulations, peer review) and the assumption that theories and laws that describe the natural world operate today as they did in the past and will continue to do so in the future. </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rowSpan="2" hMerge="1">
                  <a:txBody>
                    <a:bodyPr/>
                    <a:lstStyle/>
                    <a:p>
                      <a:endParaRPr lang="en-US"/>
                    </a:p>
                  </a:txBody>
                  <a:tcPr/>
                </a:tc>
                <a:tc rowSpan="2"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Cause &amp; Effect</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Empirical evidence is required to differentiate between cause and correlation and make claims about specific causes and effects.</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535800">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Engineering, Technology, and Applications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Influence of Engineering, Technology, and Science on Society and the Natural World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Modern civilization depends on major technological systems.</a:t>
                      </a:r>
                      <a:endParaRPr sz="1000" b="1">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74485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ESS3.A:  Natural Resources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Resource availability has guided the development of human society.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ESS3.B:  Natural Hazards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Natural hazards and other geologic events have shaped the course of human history; [they] have significantly altered the sizes of human populations and have driven human migrations. </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74485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key natural resources include access to fresh water (such as rivers, lakes, and groundwater), regions of fertile soils such as river deltas, and high concentrations of minerals and fossil fuels. Examples of natural hazards can be from interior processes (such as volcanic eruptions and earthquakes), surface processes (such as tsunamis, mass wasting and soil erosion), and severe weather (such as blizzards, hurricanes, tornadoes, floods, and droughts). Examples of the results of changes in climate that can affect populations or drive mass migrations include changes to sea level, regional patterns of temperature and precipitation, and the types of crops and livestock that can be raised.</a:t>
                      </a:r>
                      <a:endParaRPr sz="1000" b="1">
                        <a:solidFill>
                          <a:srgbClr val="CC0000"/>
                        </a:solidFill>
                        <a:latin typeface="Calibri"/>
                        <a:ea typeface="Calibri"/>
                        <a:cs typeface="Calibri"/>
                        <a:sym typeface="Calibri"/>
                      </a:endParaRPr>
                    </a:p>
                  </a:txBody>
                  <a:tcPr marL="89900" marR="89900" marT="67975" marB="67975" anchor="ctr">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189" name="Google Shape;189;p30"/>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190" name="Google Shape;190;p30"/>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4"/>
        <p:cNvGrpSpPr/>
        <p:nvPr/>
      </p:nvGrpSpPr>
      <p:grpSpPr>
        <a:xfrm>
          <a:off x="0" y="0"/>
          <a:ext cx="0" cy="0"/>
          <a:chOff x="0" y="0"/>
          <a:chExt cx="0" cy="0"/>
        </a:xfrm>
      </p:grpSpPr>
      <p:graphicFrame>
        <p:nvGraphicFramePr>
          <p:cNvPr id="195" name="Google Shape;195;p31"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2388" y="424926"/>
          <a:ext cx="9250525" cy="5435073"/>
        </p:xfrm>
        <a:graphic>
          <a:graphicData uri="http://schemas.openxmlformats.org/drawingml/2006/table">
            <a:tbl>
              <a:tblPr>
                <a:noFill/>
                <a:tableStyleId>{1455F5BC-4023-4B6A-AF38-90DE3866AEF7}</a:tableStyleId>
              </a:tblPr>
              <a:tblGrid>
                <a:gridCol w="1467525">
                  <a:extLst>
                    <a:ext uri="{9D8B030D-6E8A-4147-A177-3AD203B41FA5}">
                      <a16:colId xmlns:a16="http://schemas.microsoft.com/office/drawing/2014/main" val="20000"/>
                    </a:ext>
                  </a:extLst>
                </a:gridCol>
                <a:gridCol w="876325">
                  <a:extLst>
                    <a:ext uri="{9D8B030D-6E8A-4147-A177-3AD203B41FA5}">
                      <a16:colId xmlns:a16="http://schemas.microsoft.com/office/drawing/2014/main" val="20001"/>
                    </a:ext>
                  </a:extLst>
                </a:gridCol>
                <a:gridCol w="1751175">
                  <a:extLst>
                    <a:ext uri="{9D8B030D-6E8A-4147-A177-3AD203B41FA5}">
                      <a16:colId xmlns:a16="http://schemas.microsoft.com/office/drawing/2014/main" val="20002"/>
                    </a:ext>
                  </a:extLst>
                </a:gridCol>
                <a:gridCol w="1718500">
                  <a:extLst>
                    <a:ext uri="{9D8B030D-6E8A-4147-A177-3AD203B41FA5}">
                      <a16:colId xmlns:a16="http://schemas.microsoft.com/office/drawing/2014/main" val="20003"/>
                    </a:ext>
                  </a:extLst>
                </a:gridCol>
                <a:gridCol w="1718500">
                  <a:extLst>
                    <a:ext uri="{9D8B030D-6E8A-4147-A177-3AD203B41FA5}">
                      <a16:colId xmlns:a16="http://schemas.microsoft.com/office/drawing/2014/main" val="20004"/>
                    </a:ext>
                  </a:extLst>
                </a:gridCol>
                <a:gridCol w="1718500">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Human Sustainability</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85850">
                <a:tc gridSpan="6">
                  <a:txBody>
                    <a:bodyPr/>
                    <a:lstStyle/>
                    <a:p>
                      <a:pPr marL="0" lvl="0" indent="0" algn="l" rtl="0">
                        <a:spcBef>
                          <a:spcPts val="0"/>
                        </a:spcBef>
                        <a:spcAft>
                          <a:spcPts val="0"/>
                        </a:spcAft>
                        <a:buNone/>
                      </a:pPr>
                      <a:r>
                        <a:rPr lang="en" sz="1200" b="1">
                          <a:latin typeface="Calibri"/>
                          <a:ea typeface="Calibri"/>
                          <a:cs typeface="Calibri"/>
                          <a:sym typeface="Calibri"/>
                        </a:rPr>
                        <a:t>Evaluate competing design solutions for developing or managing, or utilizing energy or (mineral) resources based on cost-benefit ratios. [HS-ESS3-2]</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0897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386050">
                <a:tc gridSpan="2">
                  <a:txBody>
                    <a:bodyPr/>
                    <a:lstStyle/>
                    <a:p>
                      <a:pPr marL="0" lvl="0" indent="0" algn="l" rtl="0">
                        <a:spcBef>
                          <a:spcPts val="0"/>
                        </a:spcBef>
                        <a:spcAft>
                          <a:spcPts val="0"/>
                        </a:spcAft>
                        <a:buNone/>
                      </a:pPr>
                      <a:r>
                        <a:rPr lang="en" sz="900">
                          <a:latin typeface="Calibri"/>
                          <a:ea typeface="Calibri"/>
                          <a:cs typeface="Calibri"/>
                          <a:sym typeface="Calibri"/>
                        </a:rPr>
                        <a:t>Design a solution for developing, managing, and utilizing energy or mineral resources based on cost-benefit ratios taking into consideration social, ethical, environmental, or geopolitical issues.</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Evaluate competing design solutions for developing, managing, and utilizing energy and mineral resources based on cost-benefit ratios.</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Evaluate competing design solutions for developing or managing, or utilizing energy or (mineral) resources based on cost-benefit ratios.</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Evaluate given design solutions for developing or managing or utilizing energy or (mineral) resources based on cost-benefit ratios.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a design solution,   identify the benefit(s)/costs of developing or managing or utilizing energy or (mineral) resources.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719000">
                <a:tc gridSpan="2">
                  <a:txBody>
                    <a:bodyPr/>
                    <a:lstStyle/>
                    <a:p>
                      <a:pPr marL="0" lvl="0" indent="0" algn="l" rtl="0">
                        <a:spcBef>
                          <a:spcPts val="0"/>
                        </a:spcBef>
                        <a:spcAft>
                          <a:spcPts val="0"/>
                        </a:spcAft>
                        <a:buNone/>
                      </a:pPr>
                      <a:r>
                        <a:rPr lang="en" sz="1000" b="1">
                          <a:solidFill>
                            <a:schemeClr val="dk1"/>
                          </a:solidFill>
                          <a:latin typeface="Calibri"/>
                          <a:ea typeface="Calibri"/>
                          <a:cs typeface="Calibri"/>
                          <a:sym typeface="Calibri"/>
                        </a:rPr>
                        <a:t>Engage in Argument from Evidence</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Evaluate competing design solutions to a real world problem based on scientific ideas and principles, empirical evidence, and logical arguments regarding relevant factors (e.g. economic, societal, environmental, ethical considerations).</a:t>
                      </a:r>
                      <a:endParaRPr sz="1000" b="1">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hMerge="1">
                  <a:txBody>
                    <a:bodyPr/>
                    <a:lstStyle/>
                    <a:p>
                      <a:endParaRPr lang="en-US"/>
                    </a:p>
                  </a:txBody>
                  <a:tcPr/>
                </a:tc>
                <a:tc gridSpan="4">
                  <a:txBody>
                    <a:bodyPr/>
                    <a:lstStyle/>
                    <a:p>
                      <a:pPr marL="0" lvl="0" indent="0" algn="l" rtl="0">
                        <a:spcBef>
                          <a:spcPts val="0"/>
                        </a:spcBef>
                        <a:spcAft>
                          <a:spcPts val="0"/>
                        </a:spcAft>
                        <a:buNone/>
                      </a:pPr>
                      <a:r>
                        <a:rPr lang="en" sz="1000" i="1" u="sng">
                          <a:latin typeface="Calibri"/>
                          <a:ea typeface="Calibri"/>
                          <a:cs typeface="Calibri"/>
                          <a:sym typeface="Calibri"/>
                        </a:rPr>
                        <a:t>Connections to Engineering, Technology, and Applications of Science </a:t>
                      </a:r>
                      <a:endParaRPr sz="600" i="1" u="sng">
                        <a:latin typeface="Calibri"/>
                        <a:ea typeface="Calibri"/>
                        <a:cs typeface="Calibri"/>
                        <a:sym typeface="Calibri"/>
                      </a:endParaRPr>
                    </a:p>
                    <a:p>
                      <a:pPr marL="0" lvl="0" indent="0" algn="l" rtl="0">
                        <a:spcBef>
                          <a:spcPts val="0"/>
                        </a:spcBef>
                        <a:spcAft>
                          <a:spcPts val="0"/>
                        </a:spcAft>
                        <a:buNone/>
                      </a:pPr>
                      <a:r>
                        <a:rPr lang="en" sz="1000" b="1">
                          <a:latin typeface="Calibri"/>
                          <a:ea typeface="Calibri"/>
                          <a:cs typeface="Calibri"/>
                          <a:sym typeface="Calibri"/>
                        </a:rPr>
                        <a:t>Influence of Engineering, Technology, and Science on Society and the Natural World </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Engineers continuously modify these systems to increase benefits while decreasing costs and risks.</a:t>
                      </a:r>
                      <a:endParaRPr sz="1000">
                        <a:latin typeface="Calibri"/>
                        <a:ea typeface="Calibri"/>
                        <a:cs typeface="Calibri"/>
                        <a:sym typeface="Calibri"/>
                      </a:endParaRPr>
                    </a:p>
                    <a:p>
                      <a:pPr marL="0" lvl="0" indent="0" algn="l" rtl="0">
                        <a:spcBef>
                          <a:spcPts val="0"/>
                        </a:spcBef>
                        <a:spcAft>
                          <a:spcPts val="0"/>
                        </a:spcAft>
                        <a:buNone/>
                      </a:pPr>
                      <a:endParaRPr sz="600">
                        <a:latin typeface="Calibri"/>
                        <a:ea typeface="Calibri"/>
                        <a:cs typeface="Calibri"/>
                        <a:sym typeface="Calibri"/>
                      </a:endParaRPr>
                    </a:p>
                    <a:p>
                      <a:pPr marL="0" lvl="0" indent="0" algn="l" rtl="0">
                        <a:spcBef>
                          <a:spcPts val="0"/>
                        </a:spcBef>
                        <a:spcAft>
                          <a:spcPts val="0"/>
                        </a:spcAft>
                        <a:buNone/>
                      </a:pPr>
                      <a:r>
                        <a:rPr lang="en" sz="1000" b="1">
                          <a:latin typeface="Calibri"/>
                          <a:ea typeface="Calibri"/>
                          <a:cs typeface="Calibri"/>
                          <a:sym typeface="Calibri"/>
                        </a:rPr>
                        <a:t>Science Addresses Questions About the Natural and Material World </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Science and technology may raise ethical issues for which science, by itself, does not provide answers and solutions. </a:t>
                      </a:r>
                      <a:endParaRPr sz="1000">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Science knowledge indicates what can happen in natural systems—not what should happen. The latter involves ethics, values, and human decisions about the use of knowledge. </a:t>
                      </a:r>
                      <a:endParaRPr sz="1000">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Many decisions are not made using science alone, but rely on social and cultural contexts to resolve issues.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55867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ESS3.A:  Natural Resources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All forms of energy production and other resource extraction have associated economic, social, environmental, and geopolitical costs and risks as well as benefits. New technologies and social regulations can change the balance of these factors.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ETS1.B. Developing Possible Solutions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When evaluating solutions, it is important to take into account a range of constraints, including cost, safety, reliability, and aesthetics, and to consider social, cultural, and environmental impacts.</a:t>
                      </a:r>
                      <a:endParaRPr sz="1000" b="1">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5670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Emphasis is on the conservation, recycling, and reuse of resources (such as minerals and metals) where possible, and on minimizing impacts where it is not. Examples include developing best practices for agricultural soil use, mining (for coal, tar sands, and oil shales), and pumping (for petroleum and natural gas). Science knowledge indicates what can happen in natural systems—not what should happen.</a:t>
                      </a:r>
                      <a:endParaRPr sz="1000" b="1">
                        <a:solidFill>
                          <a:srgbClr val="CC0000"/>
                        </a:solidFill>
                        <a:latin typeface="Calibri"/>
                        <a:ea typeface="Calibri"/>
                        <a:cs typeface="Calibri"/>
                        <a:sym typeface="Calibri"/>
                      </a:endParaRPr>
                    </a:p>
                  </a:txBody>
                  <a:tcPr marL="89900" marR="89900" marT="67975" marB="67975" anchor="ctr">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9"/>
        <p:cNvGrpSpPr/>
        <p:nvPr/>
      </p:nvGrpSpPr>
      <p:grpSpPr>
        <a:xfrm>
          <a:off x="0" y="0"/>
          <a:ext cx="0" cy="0"/>
          <a:chOff x="0" y="0"/>
          <a:chExt cx="0" cy="0"/>
        </a:xfrm>
      </p:grpSpPr>
      <p:graphicFrame>
        <p:nvGraphicFramePr>
          <p:cNvPr id="200" name="Google Shape;200;p32"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10188" y="230726"/>
          <a:ext cx="9289350" cy="6000053"/>
        </p:xfrm>
        <a:graphic>
          <a:graphicData uri="http://schemas.openxmlformats.org/drawingml/2006/table">
            <a:tbl>
              <a:tblPr>
                <a:noFill/>
                <a:tableStyleId>{1455F5BC-4023-4B6A-AF38-90DE3866AEF7}</a:tableStyleId>
              </a:tblPr>
              <a:tblGrid>
                <a:gridCol w="1447325">
                  <a:extLst>
                    <a:ext uri="{9D8B030D-6E8A-4147-A177-3AD203B41FA5}">
                      <a16:colId xmlns:a16="http://schemas.microsoft.com/office/drawing/2014/main" val="20000"/>
                    </a:ext>
                  </a:extLst>
                </a:gridCol>
                <a:gridCol w="452950">
                  <a:extLst>
                    <a:ext uri="{9D8B030D-6E8A-4147-A177-3AD203B41FA5}">
                      <a16:colId xmlns:a16="http://schemas.microsoft.com/office/drawing/2014/main" val="20001"/>
                    </a:ext>
                  </a:extLst>
                </a:gridCol>
                <a:gridCol w="1330375">
                  <a:extLst>
                    <a:ext uri="{9D8B030D-6E8A-4147-A177-3AD203B41FA5}">
                      <a16:colId xmlns:a16="http://schemas.microsoft.com/office/drawing/2014/main" val="20002"/>
                    </a:ext>
                  </a:extLst>
                </a:gridCol>
                <a:gridCol w="1634900">
                  <a:extLst>
                    <a:ext uri="{9D8B030D-6E8A-4147-A177-3AD203B41FA5}">
                      <a16:colId xmlns:a16="http://schemas.microsoft.com/office/drawing/2014/main" val="20003"/>
                    </a:ext>
                  </a:extLst>
                </a:gridCol>
                <a:gridCol w="2657950">
                  <a:extLst>
                    <a:ext uri="{9D8B030D-6E8A-4147-A177-3AD203B41FA5}">
                      <a16:colId xmlns:a16="http://schemas.microsoft.com/office/drawing/2014/main" val="20004"/>
                    </a:ext>
                  </a:extLst>
                </a:gridCol>
                <a:gridCol w="1765850">
                  <a:extLst>
                    <a:ext uri="{9D8B030D-6E8A-4147-A177-3AD203B41FA5}">
                      <a16:colId xmlns:a16="http://schemas.microsoft.com/office/drawing/2014/main" val="20005"/>
                    </a:ext>
                  </a:extLst>
                </a:gridCol>
              </a:tblGrid>
              <a:tr h="328525">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Human Sustainability</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65700">
                <a:tc gridSpan="6">
                  <a:txBody>
                    <a:bodyPr/>
                    <a:lstStyle/>
                    <a:p>
                      <a:pPr marL="0" lvl="0" indent="0" algn="l" rtl="0">
                        <a:spcBef>
                          <a:spcPts val="0"/>
                        </a:spcBef>
                        <a:spcAft>
                          <a:spcPts val="0"/>
                        </a:spcAft>
                        <a:buNone/>
                      </a:pPr>
                      <a:r>
                        <a:rPr lang="en" sz="1200" b="1">
                          <a:latin typeface="Calibri"/>
                          <a:ea typeface="Calibri"/>
                          <a:cs typeface="Calibri"/>
                          <a:sym typeface="Calibri"/>
                        </a:rPr>
                        <a:t>Create a computational simulation to illustrate the relationships among management of natural resources, the sustainability of human populations, and biodiversity. [HS-ESS3-3]</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5617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945550">
                <a:tc gridSpan="2">
                  <a:txBody>
                    <a:bodyPr/>
                    <a:lstStyle/>
                    <a:p>
                      <a:pPr marL="0" lvl="0" indent="0" algn="l" rtl="0">
                        <a:spcBef>
                          <a:spcPts val="0"/>
                        </a:spcBef>
                        <a:spcAft>
                          <a:spcPts val="0"/>
                        </a:spcAft>
                        <a:buNone/>
                      </a:pPr>
                      <a:r>
                        <a:rPr lang="en" sz="900">
                          <a:latin typeface="Calibri"/>
                          <a:ea typeface="Calibri"/>
                          <a:cs typeface="Calibri"/>
                          <a:sym typeface="Calibri"/>
                        </a:rPr>
                        <a:t>Create a computational simulation resulting in multiple data sets to illustrate relationships among the management of natural resources, the sustainability of human populations, and/or biodiversity.  Compare the outcomes with what is known about the real world. </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Create a computational simulation to illustrate the relationships among management of natural resources, the sustainability of human populations, and biodiversity.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parameters/data (from a computational simulation), describe a relationship among the management of natural resources, and the sustainability of human populations and biodiversity.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Given parameters /or data (in a computational simulation), describe a relationship between two of the following: the management of natural resources, the sustainability of human populations, and/or biodiversity or identify how a solution to the management of natural resources or the sustainability of human populations, and/or biodiversity reduces the impact on humans.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Based on data (from a computational simulation), identify the relationship, from those provided, between two of the following: the management of natural resources, the sustainability of human populations, and biodiversity.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474850">
                <a:tc rowSpan="2" gridSpan="2">
                  <a:txBody>
                    <a:bodyPr/>
                    <a:lstStyle/>
                    <a:p>
                      <a:pPr marL="0" lvl="0" indent="0" algn="l" rtl="0">
                        <a:spcBef>
                          <a:spcPts val="0"/>
                        </a:spcBef>
                        <a:spcAft>
                          <a:spcPts val="0"/>
                        </a:spcAft>
                        <a:buNone/>
                      </a:pPr>
                      <a:r>
                        <a:rPr lang="en" sz="1000" b="1">
                          <a:latin typeface="Calibri"/>
                          <a:ea typeface="Calibri"/>
                          <a:cs typeface="Calibri"/>
                          <a:sym typeface="Calibri"/>
                        </a:rPr>
                        <a:t>Using Mathematics &amp; Computational Thinking</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Create a computational model or simulation of a phenomenon, designed device, process, or system. </a:t>
                      </a:r>
                      <a:endParaRPr sz="10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T w="28575" cap="flat" cmpd="sng">
                      <a:solidFill>
                        <a:srgbClr val="9E9E9E"/>
                      </a:solidFill>
                      <a:prstDash val="solid"/>
                      <a:round/>
                      <a:headEnd type="none" w="sm" len="sm"/>
                      <a:tailEnd type="none" w="sm" len="sm"/>
                    </a:lnT>
                    <a:solidFill>
                      <a:srgbClr val="CFE2F3"/>
                    </a:solidFill>
                  </a:tcPr>
                </a:tc>
                <a:tc rowSpan="2" hMerge="1">
                  <a:txBody>
                    <a:bodyPr/>
                    <a:lstStyle/>
                    <a:p>
                      <a:endParaRPr lang="en-US"/>
                    </a:p>
                  </a:txBody>
                  <a:tcPr/>
                </a:tc>
                <a:tc gridSpan="4">
                  <a:txBody>
                    <a:bodyPr/>
                    <a:lstStyle/>
                    <a:p>
                      <a:pPr marL="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Change and rates of change can be quantified and modeled over very short or very long periods of time. Some system changes are irreversible. </a:t>
                      </a:r>
                      <a:endParaRPr sz="1000">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1002525">
                <a:tc gridSpan="2" vMerge="1">
                  <a:txBody>
                    <a:bodyPr/>
                    <a:lstStyle/>
                    <a:p>
                      <a:endParaRPr lang="en-US"/>
                    </a:p>
                  </a:txBody>
                  <a:tcPr/>
                </a:tc>
                <a:tc hMerge="1" vMerge="1">
                  <a:txBody>
                    <a:bodyPr/>
                    <a:lstStyle/>
                    <a:p>
                      <a:endParaRPr lang="en-US"/>
                    </a:p>
                  </a:txBody>
                  <a:tcPr/>
                </a:tc>
                <a:tc gridSpan="4">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Engineering, Technology, and Applications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Influence of Engineering, Technology, and Science on Society and the Natural World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Modern civilization depends on major technological systems. </a:t>
                      </a:r>
                      <a:endParaRPr sz="1000">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New technologies can have deep impacts on society and the environment, including some that were not anticipated.</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6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Nature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Science is a Human Endeavor </a:t>
                      </a:r>
                      <a:endParaRPr sz="1000" b="1">
                        <a:solidFill>
                          <a:schemeClr val="dk1"/>
                        </a:solidFill>
                        <a:latin typeface="Calibri"/>
                        <a:ea typeface="Calibri"/>
                        <a:cs typeface="Calibri"/>
                        <a:sym typeface="Calibri"/>
                      </a:endParaRPr>
                    </a:p>
                    <a:p>
                      <a:pPr marL="342900" lvl="0" indent="-1905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Scientific knowledge is a result of human endeavors, imagination, and creativity.</a:t>
                      </a:r>
                      <a:endParaRPr sz="1000" b="1">
                        <a:latin typeface="Calibri"/>
                        <a:ea typeface="Calibri"/>
                        <a:cs typeface="Calibri"/>
                        <a:sym typeface="Calibri"/>
                      </a:endParaRPr>
                    </a:p>
                  </a:txBody>
                  <a:tcPr marL="95100" marR="95100" marT="84975" marB="84975" anchor="ctr">
                    <a:lnR w="28575" cap="flat" cmpd="sng">
                      <a:solidFill>
                        <a:srgbClr val="9E9E9E"/>
                      </a:solidFill>
                      <a:prstDash val="solid"/>
                      <a:round/>
                      <a:headEnd type="none" w="sm" len="sm"/>
                      <a:tailEnd type="none" w="sm" len="sm"/>
                    </a:lnR>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7620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ESS3.C:  Human Impacts on Earth Systems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The sustainability of human societies and the biodiversity that supports them requires responsible management of natural resources. </a:t>
                      </a:r>
                      <a:endParaRPr sz="10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4178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factors that affect the management of natural resources include costs of resource extraction and waste management, per-capita consumption, and the development of new technologies. Examples of factors that affect human sustainability include agricultural efficiency, levels of conservation, and urban planning.</a:t>
                      </a:r>
                      <a:endParaRPr sz="1000" b="1">
                        <a:solidFill>
                          <a:srgbClr val="CC0000"/>
                        </a:solidFill>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32440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for computational simulations is limited to using provided multi-parameter programs or constructing simplified spreadsheet calculations.</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bl>
          </a:graphicData>
        </a:graphic>
      </p:graphicFrame>
      <p:sp>
        <p:nvSpPr>
          <p:cNvPr id="201" name="Google Shape;201;p32"/>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02" name="Google Shape;202;p32"/>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06"/>
        <p:cNvGrpSpPr/>
        <p:nvPr/>
      </p:nvGrpSpPr>
      <p:grpSpPr>
        <a:xfrm>
          <a:off x="0" y="0"/>
          <a:ext cx="0" cy="0"/>
          <a:chOff x="0" y="0"/>
          <a:chExt cx="0" cy="0"/>
        </a:xfrm>
      </p:grpSpPr>
      <p:graphicFrame>
        <p:nvGraphicFramePr>
          <p:cNvPr id="207" name="Google Shape;207;p33"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13" y="230751"/>
          <a:ext cx="9303300" cy="4626208"/>
        </p:xfrm>
        <a:graphic>
          <a:graphicData uri="http://schemas.openxmlformats.org/drawingml/2006/table">
            <a:tbl>
              <a:tblPr>
                <a:noFill/>
                <a:tableStyleId>{1455F5BC-4023-4B6A-AF38-90DE3866AEF7}</a:tableStyleId>
              </a:tblPr>
              <a:tblGrid>
                <a:gridCol w="1444325">
                  <a:extLst>
                    <a:ext uri="{9D8B030D-6E8A-4147-A177-3AD203B41FA5}">
                      <a16:colId xmlns:a16="http://schemas.microsoft.com/office/drawing/2014/main" val="20000"/>
                    </a:ext>
                  </a:extLst>
                </a:gridCol>
                <a:gridCol w="983525">
                  <a:extLst>
                    <a:ext uri="{9D8B030D-6E8A-4147-A177-3AD203B41FA5}">
                      <a16:colId xmlns:a16="http://schemas.microsoft.com/office/drawing/2014/main" val="20001"/>
                    </a:ext>
                  </a:extLst>
                </a:gridCol>
                <a:gridCol w="1158900">
                  <a:extLst>
                    <a:ext uri="{9D8B030D-6E8A-4147-A177-3AD203B41FA5}">
                      <a16:colId xmlns:a16="http://schemas.microsoft.com/office/drawing/2014/main" val="20002"/>
                    </a:ext>
                  </a:extLst>
                </a:gridCol>
                <a:gridCol w="1855875">
                  <a:extLst>
                    <a:ext uri="{9D8B030D-6E8A-4147-A177-3AD203B41FA5}">
                      <a16:colId xmlns:a16="http://schemas.microsoft.com/office/drawing/2014/main" val="20003"/>
                    </a:ext>
                  </a:extLst>
                </a:gridCol>
                <a:gridCol w="2126800">
                  <a:extLst>
                    <a:ext uri="{9D8B030D-6E8A-4147-A177-3AD203B41FA5}">
                      <a16:colId xmlns:a16="http://schemas.microsoft.com/office/drawing/2014/main" val="20004"/>
                    </a:ext>
                  </a:extLst>
                </a:gridCol>
                <a:gridCol w="1733875">
                  <a:extLst>
                    <a:ext uri="{9D8B030D-6E8A-4147-A177-3AD203B41FA5}">
                      <a16:colId xmlns:a16="http://schemas.microsoft.com/office/drawing/2014/main" val="20005"/>
                    </a:ext>
                  </a:extLst>
                </a:gridCol>
              </a:tblGrid>
              <a:tr h="28260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Human Sustainability</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05750">
                <a:tc gridSpan="6">
                  <a:txBody>
                    <a:bodyPr/>
                    <a:lstStyle/>
                    <a:p>
                      <a:pPr marL="0" lvl="0" indent="0" algn="l" rtl="0">
                        <a:spcBef>
                          <a:spcPts val="0"/>
                        </a:spcBef>
                        <a:spcAft>
                          <a:spcPts val="0"/>
                        </a:spcAft>
                        <a:buNone/>
                      </a:pPr>
                      <a:r>
                        <a:rPr lang="en" sz="1200" b="1">
                          <a:latin typeface="Calibri"/>
                          <a:ea typeface="Calibri"/>
                          <a:cs typeface="Calibri"/>
                          <a:sym typeface="Calibri"/>
                        </a:rPr>
                        <a:t>Given a technological solution, describe the geoscience problem being addressed and how the solution reduces the impact of human activities on a natural system. [HS-ESS3-4]</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47425">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687250">
                <a:tc gridSpan="2">
                  <a:txBody>
                    <a:bodyPr/>
                    <a:lstStyle/>
                    <a:p>
                      <a:pPr marL="0" lvl="0" indent="0" algn="l" rtl="0">
                        <a:spcBef>
                          <a:spcPts val="0"/>
                        </a:spcBef>
                        <a:spcAft>
                          <a:spcPts val="0"/>
                        </a:spcAft>
                        <a:buNone/>
                      </a:pPr>
                      <a:r>
                        <a:rPr lang="en" sz="900">
                          <a:latin typeface="Calibri"/>
                          <a:ea typeface="Calibri"/>
                          <a:cs typeface="Calibri"/>
                          <a:sym typeface="Calibri"/>
                        </a:rPr>
                        <a:t>Use scientific information to generate a number of possible refinements to a technological solution.  Describe and quantify the criteria, constraints, and tradeoffs of the solution to the problem that reduces impacts of human activities on natural systems.</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Evaluate or refine a technological solution that reduces impacts of human activities on natural systems. </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a technological solution, describe the geoscience problem being addressed and how the solution reduces the impact of human activities on a natural system.</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Given a technological solution to a geoscience problem, identify how the solution reduces impacts of human activities on the natural system or identify how the solution reduces the impact on humans.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a technological solution, identify the natural system that is being impacted by human activity or identify how the solution reduces the impact on a natural system.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65025">
                <a:tc rowSpan="2" gridSpan="3">
                  <a:txBody>
                    <a:bodyPr/>
                    <a:lstStyle/>
                    <a:p>
                      <a:pPr marL="0" lvl="0" indent="0" algn="l" rtl="0">
                        <a:spcBef>
                          <a:spcPts val="0"/>
                        </a:spcBef>
                        <a:spcAft>
                          <a:spcPts val="0"/>
                        </a:spcAft>
                        <a:buNone/>
                      </a:pPr>
                      <a:r>
                        <a:rPr lang="en" sz="1000" b="1">
                          <a:latin typeface="Calibri"/>
                          <a:ea typeface="Calibri"/>
                          <a:cs typeface="Calibri"/>
                          <a:sym typeface="Calibri"/>
                        </a:rPr>
                        <a:t>Constructing Explanations &amp; Designing Solutions</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Design or refine a solution to a complex real-world problem, based on scientific knowledge, student generated sources of evidence, prioritized criteria, and trade off considerations. </a:t>
                      </a:r>
                      <a:endParaRPr sz="10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rowSpan="2" hMerge="1">
                  <a:txBody>
                    <a:bodyPr/>
                    <a:lstStyle/>
                    <a:p>
                      <a:endParaRPr lang="en-US"/>
                    </a:p>
                  </a:txBody>
                  <a:tcPr/>
                </a:tc>
                <a:tc rowSpan="2"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Stability &amp; Change</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Feedback (negative or positive) can stabilize or destabilize a system.</a:t>
                      </a:r>
                      <a:endParaRPr sz="10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65025">
                <a:tc gridSpan="3" vMerge="1">
                  <a:txBody>
                    <a:bodyPr/>
                    <a:lstStyle/>
                    <a:p>
                      <a:endParaRPr lang="en-US"/>
                    </a:p>
                  </a:txBody>
                  <a:tcPr/>
                </a:tc>
                <a:tc hMerge="1" vMerge="1">
                  <a:txBody>
                    <a:bodyPr/>
                    <a:lstStyle/>
                    <a:p>
                      <a:endParaRPr lang="en-US"/>
                    </a:p>
                  </a:txBody>
                  <a:tcPr/>
                </a:tc>
                <a:tc hMerge="1" vMerge="1">
                  <a:txBody>
                    <a:bodyPr/>
                    <a:lstStyle/>
                    <a:p>
                      <a:endParaRPr lang="en-US"/>
                    </a:p>
                  </a:txBody>
                  <a:tcPr/>
                </a:tc>
                <a:tc gridSpan="3">
                  <a:txBody>
                    <a:bodyPr/>
                    <a:lstStyle/>
                    <a:p>
                      <a:pPr marL="0" lvl="0" indent="0" algn="l" rtl="0">
                        <a:spcBef>
                          <a:spcPts val="0"/>
                        </a:spcBef>
                        <a:spcAft>
                          <a:spcPts val="0"/>
                        </a:spcAft>
                        <a:buNone/>
                      </a:pPr>
                      <a:r>
                        <a:rPr lang="en" sz="1000" i="1" u="sng">
                          <a:solidFill>
                            <a:schemeClr val="dk1"/>
                          </a:solidFill>
                          <a:latin typeface="Calibri"/>
                          <a:ea typeface="Calibri"/>
                          <a:cs typeface="Calibri"/>
                          <a:sym typeface="Calibri"/>
                        </a:rPr>
                        <a:t>Connections to Engineering, Technology, and Applications of Science  </a:t>
                      </a:r>
                      <a:endParaRPr sz="1000" i="1" u="sng">
                        <a:solidFill>
                          <a:schemeClr val="dk1"/>
                        </a:solidFill>
                        <a:latin typeface="Calibri"/>
                        <a:ea typeface="Calibri"/>
                        <a:cs typeface="Calibri"/>
                        <a:sym typeface="Calibri"/>
                      </a:endParaRPr>
                    </a:p>
                    <a:p>
                      <a:pPr marL="0" lvl="0" indent="0" algn="l" rtl="0">
                        <a:spcBef>
                          <a:spcPts val="0"/>
                        </a:spcBef>
                        <a:spcAft>
                          <a:spcPts val="0"/>
                        </a:spcAft>
                        <a:buNone/>
                      </a:pPr>
                      <a:r>
                        <a:rPr lang="en" sz="1000" b="1">
                          <a:solidFill>
                            <a:schemeClr val="dk1"/>
                          </a:solidFill>
                          <a:latin typeface="Calibri"/>
                          <a:ea typeface="Calibri"/>
                          <a:cs typeface="Calibri"/>
                          <a:sym typeface="Calibri"/>
                        </a:rPr>
                        <a:t>Influence of Engineering, Technology, and Science on Society and the Natural World  </a:t>
                      </a:r>
                      <a:endParaRPr sz="1000" b="1">
                        <a:solidFill>
                          <a:schemeClr val="dk1"/>
                        </a:solidFill>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Engineers continuously modify these systems to increase benefits while decreasing costs and risks.</a:t>
                      </a:r>
                      <a:endParaRPr sz="10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319575">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ESS3.C: Human Impacts on Earth Systems</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Scientists and engineers can make major contributions by developing technologies that produce less pollution and waste and that preclude ecosystem degradation. </a:t>
                      </a:r>
                      <a:endParaRPr sz="10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319575">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data on the impacts of human activities could include the quantities and types of pollutants released, changes to biomass and species diversity, or areal changes in land surface use (such as for urban development, agriculture and livestock, or surface mining). Examples for limiting future impacts could range from local efforts (such as reducing, reusing, and recycling resources) to large-scale geoengineering design solutions (such as altering global temperatures by making large changes to the atmosphere or ocean).</a:t>
                      </a:r>
                      <a:endParaRPr sz="1000">
                        <a:latin typeface="Calibri"/>
                        <a:ea typeface="Calibri"/>
                        <a:cs typeface="Calibri"/>
                        <a:sym typeface="Calibri"/>
                      </a:endParaRPr>
                    </a:p>
                  </a:txBody>
                  <a:tcPr marL="89900" marR="89900" marT="67975" marB="67975" anchor="ctr">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208" name="Google Shape;208;p33"/>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09" name="Google Shape;209;p33"/>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13"/>
        <p:cNvGrpSpPr/>
        <p:nvPr/>
      </p:nvGrpSpPr>
      <p:grpSpPr>
        <a:xfrm>
          <a:off x="0" y="0"/>
          <a:ext cx="0" cy="0"/>
          <a:chOff x="0" y="0"/>
          <a:chExt cx="0" cy="0"/>
        </a:xfrm>
      </p:grpSpPr>
      <p:graphicFrame>
        <p:nvGraphicFramePr>
          <p:cNvPr id="214" name="Google Shape;214;p34"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63" y="230751"/>
          <a:ext cx="9303200" cy="5273843"/>
        </p:xfrm>
        <a:graphic>
          <a:graphicData uri="http://schemas.openxmlformats.org/drawingml/2006/table">
            <a:tbl>
              <a:tblPr>
                <a:noFill/>
                <a:tableStyleId>{1455F5BC-4023-4B6A-AF38-90DE3866AEF7}</a:tableStyleId>
              </a:tblPr>
              <a:tblGrid>
                <a:gridCol w="1451575">
                  <a:extLst>
                    <a:ext uri="{9D8B030D-6E8A-4147-A177-3AD203B41FA5}">
                      <a16:colId xmlns:a16="http://schemas.microsoft.com/office/drawing/2014/main" val="20000"/>
                    </a:ext>
                  </a:extLst>
                </a:gridCol>
                <a:gridCol w="705675">
                  <a:extLst>
                    <a:ext uri="{9D8B030D-6E8A-4147-A177-3AD203B41FA5}">
                      <a16:colId xmlns:a16="http://schemas.microsoft.com/office/drawing/2014/main" val="20001"/>
                    </a:ext>
                  </a:extLst>
                </a:gridCol>
                <a:gridCol w="1891025">
                  <a:extLst>
                    <a:ext uri="{9D8B030D-6E8A-4147-A177-3AD203B41FA5}">
                      <a16:colId xmlns:a16="http://schemas.microsoft.com/office/drawing/2014/main" val="20002"/>
                    </a:ext>
                  </a:extLst>
                </a:gridCol>
                <a:gridCol w="1840625">
                  <a:extLst>
                    <a:ext uri="{9D8B030D-6E8A-4147-A177-3AD203B41FA5}">
                      <a16:colId xmlns:a16="http://schemas.microsoft.com/office/drawing/2014/main" val="20003"/>
                    </a:ext>
                  </a:extLst>
                </a:gridCol>
                <a:gridCol w="1765250">
                  <a:extLst>
                    <a:ext uri="{9D8B030D-6E8A-4147-A177-3AD203B41FA5}">
                      <a16:colId xmlns:a16="http://schemas.microsoft.com/office/drawing/2014/main" val="20004"/>
                    </a:ext>
                  </a:extLst>
                </a:gridCol>
                <a:gridCol w="1649050">
                  <a:extLst>
                    <a:ext uri="{9D8B030D-6E8A-4147-A177-3AD203B41FA5}">
                      <a16:colId xmlns:a16="http://schemas.microsoft.com/office/drawing/2014/main" val="20005"/>
                    </a:ext>
                  </a:extLst>
                </a:gridCol>
              </a:tblGrid>
              <a:tr h="0">
                <a:tc gridSpan="6">
                  <a:txBody>
                    <a:bodyPr/>
                    <a:lstStyle/>
                    <a:p>
                      <a:pPr marL="0" lvl="0" indent="0" algn="l" rtl="0">
                        <a:spcBef>
                          <a:spcPts val="0"/>
                        </a:spcBef>
                        <a:spcAft>
                          <a:spcPts val="0"/>
                        </a:spcAft>
                        <a:buNone/>
                      </a:pPr>
                      <a:r>
                        <a:rPr lang="en" sz="1200" b="1">
                          <a:latin typeface="Calibri"/>
                          <a:ea typeface="Calibri"/>
                          <a:cs typeface="Calibri"/>
                          <a:sym typeface="Calibri"/>
                        </a:rPr>
                        <a:t>Earth &amp; Space Science: Human Sustainability</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6">
                  <a:txBody>
                    <a:bodyPr/>
                    <a:lstStyle/>
                    <a:p>
                      <a:pPr marL="0" lvl="0" indent="0" algn="l" rtl="0">
                        <a:spcBef>
                          <a:spcPts val="0"/>
                        </a:spcBef>
                        <a:spcAft>
                          <a:spcPts val="0"/>
                        </a:spcAft>
                        <a:buNone/>
                      </a:pPr>
                      <a:r>
                        <a:rPr lang="en" sz="1200" b="1">
                          <a:latin typeface="Calibri"/>
                          <a:ea typeface="Calibri"/>
                          <a:cs typeface="Calibri"/>
                          <a:sym typeface="Calibri"/>
                        </a:rPr>
                        <a:t>Given data and/or a model (computational representation), describe a relationship among Earth systems and how that relationship is being modified due to human activity.  [HS-ESS3-6]</a:t>
                      </a:r>
                      <a:endParaRPr sz="12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0">
                <a:tc gridSpan="2">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hMerge="1">
                  <a:txBody>
                    <a:bodyPr/>
                    <a:lstStyle/>
                    <a:p>
                      <a:endParaRPr lang="en-US"/>
                    </a:p>
                  </a:txBody>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0">
                <a:tc gridSpan="2">
                  <a:txBody>
                    <a:bodyPr/>
                    <a:lstStyle/>
                    <a:p>
                      <a:pPr marL="0" lvl="0" indent="0" algn="l" rtl="0">
                        <a:spcBef>
                          <a:spcPts val="0"/>
                        </a:spcBef>
                        <a:spcAft>
                          <a:spcPts val="0"/>
                        </a:spcAft>
                        <a:buNone/>
                      </a:pPr>
                      <a:r>
                        <a:rPr lang="en" sz="900">
                          <a:latin typeface="Calibri"/>
                          <a:ea typeface="Calibri"/>
                          <a:cs typeface="Calibri"/>
                          <a:sym typeface="Calibri"/>
                        </a:rPr>
                        <a:t>Create a computational representation to illustrate the relationships among Earth systems and make a claim using empirical data about how those relationships are being modified due to human activity.</a:t>
                      </a:r>
                      <a:endParaRPr sz="9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sz="900">
                          <a:latin typeface="Calibri"/>
                          <a:ea typeface="Calibri"/>
                          <a:cs typeface="Calibri"/>
                          <a:sym typeface="Calibri"/>
                        </a:rPr>
                        <a:t>Use a  computational representation to illustrate the relationships among Earth systems and how those relationships are being modified due to human activity.</a:t>
                      </a:r>
                      <a:endParaRPr sz="9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data and/or a model (computational representation), describe a relationship among Earth systems and how that relationship is being modified due to human activity.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900">
                          <a:latin typeface="Calibri"/>
                          <a:ea typeface="Calibri"/>
                          <a:cs typeface="Calibri"/>
                          <a:sym typeface="Calibri"/>
                        </a:rPr>
                        <a:t>Given data and/or a model (computational representation), identify the relationship between two Earth systems that are being modified due to human activity. </a:t>
                      </a:r>
                      <a:endParaRPr sz="9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900">
                          <a:latin typeface="Calibri"/>
                          <a:ea typeface="Calibri"/>
                          <a:cs typeface="Calibri"/>
                          <a:sym typeface="Calibri"/>
                        </a:rPr>
                        <a:t>Given data and/or a model (computational/ graphic representation), identify how one Earth system is being modified due to human activity. </a:t>
                      </a:r>
                      <a:endParaRPr sz="9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0">
                <a:tc gridSpan="3">
                  <a:txBody>
                    <a:bodyPr/>
                    <a:lstStyle/>
                    <a:p>
                      <a:pPr marL="0" lvl="0" indent="0" algn="l" rtl="0">
                        <a:spcBef>
                          <a:spcPts val="0"/>
                        </a:spcBef>
                        <a:spcAft>
                          <a:spcPts val="0"/>
                        </a:spcAft>
                        <a:buNone/>
                      </a:pPr>
                      <a:r>
                        <a:rPr lang="en" sz="1000" b="1">
                          <a:latin typeface="Calibri"/>
                          <a:ea typeface="Calibri"/>
                          <a:cs typeface="Calibri"/>
                          <a:sym typeface="Calibri"/>
                        </a:rPr>
                        <a:t>Using Mathematics &amp; Computational Thinking</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Use a computational representation of phenomena or design solutions to describe and/or support claims and/or explanations. </a:t>
                      </a:r>
                      <a:endParaRPr sz="10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gridSpan="3">
                  <a:txBody>
                    <a:bodyPr/>
                    <a:lstStyle/>
                    <a:p>
                      <a:pPr marL="0" lvl="0" indent="0" algn="l" rtl="0">
                        <a:spcBef>
                          <a:spcPts val="0"/>
                        </a:spcBef>
                        <a:spcAft>
                          <a:spcPts val="0"/>
                        </a:spcAft>
                        <a:buNone/>
                      </a:pPr>
                      <a:r>
                        <a:rPr lang="en" sz="1000" b="1">
                          <a:latin typeface="Calibri"/>
                          <a:ea typeface="Calibri"/>
                          <a:cs typeface="Calibri"/>
                          <a:sym typeface="Calibri"/>
                        </a:rPr>
                        <a:t>Systems and System Models </a:t>
                      </a:r>
                      <a:endParaRPr sz="1000" b="1">
                        <a:latin typeface="Calibri"/>
                        <a:ea typeface="Calibri"/>
                        <a:cs typeface="Calibri"/>
                        <a:sym typeface="Calibri"/>
                      </a:endParaRPr>
                    </a:p>
                    <a:p>
                      <a:pPr marL="342900" lvl="0" indent="-190500" algn="l" rtl="0">
                        <a:spcBef>
                          <a:spcPts val="0"/>
                        </a:spcBef>
                        <a:spcAft>
                          <a:spcPts val="0"/>
                        </a:spcAft>
                        <a:buSzPts val="1000"/>
                        <a:buFont typeface="Calibri"/>
                        <a:buChar char="➔"/>
                      </a:pPr>
                      <a:r>
                        <a:rPr lang="en" sz="1000">
                          <a:latin typeface="Calibri"/>
                          <a:ea typeface="Calibri"/>
                          <a:cs typeface="Calibri"/>
                          <a:sym typeface="Calibri"/>
                        </a:rPr>
                        <a:t>When investigating or describing a system, the boundaries and initial conditions of the system need to be defined and their inputs and outputs analyzed and described using models.</a:t>
                      </a:r>
                      <a:endParaRPr sz="10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0">
                <a:tc gridSpan="6">
                  <a:txBody>
                    <a:bodyPr/>
                    <a:lstStyle/>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ESS3.D:  Global Climate Change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Through computer simulations and other studies, important discoveries are still being made about how the ocean, the atmosphere, and the biosphere interact and are modified in response to human activities. </a:t>
                      </a:r>
                      <a:endParaRPr sz="10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r>
                        <a:rPr lang="en" sz="1000" b="1">
                          <a:solidFill>
                            <a:schemeClr val="dk1"/>
                          </a:solidFill>
                          <a:latin typeface="Calibri"/>
                          <a:ea typeface="Calibri"/>
                          <a:cs typeface="Calibri"/>
                          <a:sym typeface="Calibri"/>
                        </a:rPr>
                        <a:t>ESS2.D:  Weather and Climate </a:t>
                      </a:r>
                      <a:endParaRPr sz="1000" b="1">
                        <a:solidFill>
                          <a:schemeClr val="dk1"/>
                        </a:solidFill>
                        <a:latin typeface="Calibri"/>
                        <a:ea typeface="Calibri"/>
                        <a:cs typeface="Calibri"/>
                        <a:sym typeface="Calibri"/>
                      </a:endParaRPr>
                    </a:p>
                    <a:p>
                      <a:pPr marL="342900" lvl="0" indent="-190500" algn="l" rtl="0">
                        <a:lnSpc>
                          <a:spcPct val="115000"/>
                        </a:lnSpc>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Current models predict that, although future regional climate changes will be complex and varied, average global temperatures will continue to rise. The outcomes predicted by global climate models strongly depend on the amounts of human-generated greenhouse gases added to the atmosphere each year and by the ways in which these gases are absorbed by the ocean and biosphere. (secondary to HS-ESS36) </a:t>
                      </a:r>
                      <a:endParaRPr sz="10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Clarification Statement</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Examples of Earth systems to be considered are the hydrosphere, atmosphere, cryosphere, geosphere, and/or biosphere. An example of the far-reaching impacts from a human activity is how an increase in atmospheric carbon dioxide results in an increase in photosynthetic biomass on land and an increase in ocean acidification, with resulting impacts on sea organism health and marine populations.</a:t>
                      </a:r>
                      <a:endParaRPr sz="1000" b="1">
                        <a:solidFill>
                          <a:srgbClr val="CC0000"/>
                        </a:solidFill>
                        <a:latin typeface="Calibri"/>
                        <a:ea typeface="Calibri"/>
                        <a:cs typeface="Calibri"/>
                        <a:sym typeface="Calibri"/>
                      </a:endParaRPr>
                    </a:p>
                  </a:txBody>
                  <a:tcPr marL="89900" marR="89900" marT="67975" marB="67975">
                    <a:lnL w="952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0">
                <a:tc>
                  <a:txBody>
                    <a:bodyPr/>
                    <a:lstStyle/>
                    <a:p>
                      <a:pPr marL="0" lvl="0" indent="0" algn="r" rtl="0">
                        <a:spcBef>
                          <a:spcPts val="0"/>
                        </a:spcBef>
                        <a:spcAft>
                          <a:spcPts val="0"/>
                        </a:spcAft>
                        <a:buNone/>
                      </a:pPr>
                      <a:r>
                        <a:rPr lang="en" sz="1000" b="1">
                          <a:solidFill>
                            <a:srgbClr val="CC0000"/>
                          </a:solidFill>
                          <a:latin typeface="Calibri"/>
                          <a:ea typeface="Calibri"/>
                          <a:cs typeface="Calibri"/>
                          <a:sym typeface="Calibri"/>
                        </a:rPr>
                        <a:t>Assessment Boundary</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solidFill>
                      <a:prstDash val="solid"/>
                      <a:round/>
                      <a:headEnd type="none" w="sm" len="sm"/>
                      <a:tailEnd type="none" w="sm" len="sm"/>
                    </a:lnL>
                    <a:lnR w="2857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gridSpan="5">
                  <a:txBody>
                    <a:bodyPr/>
                    <a:lstStyle/>
                    <a:p>
                      <a:pPr marL="0" lvl="0" indent="0" algn="l" rtl="0">
                        <a:spcBef>
                          <a:spcPts val="0"/>
                        </a:spcBef>
                        <a:spcAft>
                          <a:spcPts val="0"/>
                        </a:spcAft>
                        <a:buNone/>
                      </a:pPr>
                      <a:r>
                        <a:rPr lang="en" sz="1000">
                          <a:latin typeface="Calibri"/>
                          <a:ea typeface="Calibri"/>
                          <a:cs typeface="Calibri"/>
                          <a:sym typeface="Calibri"/>
                        </a:rPr>
                        <a:t>Assessment does not include running computational representations but is limited to using the published results of scientific computational models.</a:t>
                      </a:r>
                      <a:endParaRPr sz="1000" b="1">
                        <a:solidFill>
                          <a:srgbClr val="CC0000"/>
                        </a:solidFill>
                        <a:latin typeface="Calibri"/>
                        <a:ea typeface="Calibri"/>
                        <a:cs typeface="Calibri"/>
                        <a:sym typeface="Calibri"/>
                      </a:endParaRPr>
                    </a:p>
                  </a:txBody>
                  <a:tcPr marL="89900" marR="89900" marT="67975" marB="67975">
                    <a:lnL w="28575" cap="flat" cmpd="sng">
                      <a:solidFill>
                        <a:srgbClr val="9E9E9E">
                          <a:alpha val="0"/>
                        </a:srgbClr>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
        <p:nvSpPr>
          <p:cNvPr id="215" name="Google Shape;215;p34"/>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16" name="Google Shape;216;p34"/>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0"/>
        <p:cNvGrpSpPr/>
        <p:nvPr/>
      </p:nvGrpSpPr>
      <p:grpSpPr>
        <a:xfrm>
          <a:off x="0" y="0"/>
          <a:ext cx="0" cy="0"/>
          <a:chOff x="0" y="0"/>
          <a:chExt cx="0" cy="0"/>
        </a:xfrm>
      </p:grpSpPr>
      <p:graphicFrame>
        <p:nvGraphicFramePr>
          <p:cNvPr id="221" name="Google Shape;221;p35"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38" y="250151"/>
          <a:ext cx="9303250" cy="4753277"/>
        </p:xfrm>
        <a:graphic>
          <a:graphicData uri="http://schemas.openxmlformats.org/drawingml/2006/table">
            <a:tbl>
              <a:tblPr>
                <a:noFill/>
                <a:tableStyleId>{1455F5BC-4023-4B6A-AF38-90DE3866AEF7}</a:tableStyleId>
              </a:tblPr>
              <a:tblGrid>
                <a:gridCol w="2487250">
                  <a:extLst>
                    <a:ext uri="{9D8B030D-6E8A-4147-A177-3AD203B41FA5}">
                      <a16:colId xmlns:a16="http://schemas.microsoft.com/office/drawing/2014/main" val="20000"/>
                    </a:ext>
                  </a:extLst>
                </a:gridCol>
                <a:gridCol w="1871475">
                  <a:extLst>
                    <a:ext uri="{9D8B030D-6E8A-4147-A177-3AD203B41FA5}">
                      <a16:colId xmlns:a16="http://schemas.microsoft.com/office/drawing/2014/main" val="20001"/>
                    </a:ext>
                  </a:extLst>
                </a:gridCol>
                <a:gridCol w="1680200">
                  <a:extLst>
                    <a:ext uri="{9D8B030D-6E8A-4147-A177-3AD203B41FA5}">
                      <a16:colId xmlns:a16="http://schemas.microsoft.com/office/drawing/2014/main" val="20002"/>
                    </a:ext>
                  </a:extLst>
                </a:gridCol>
                <a:gridCol w="1731175">
                  <a:extLst>
                    <a:ext uri="{9D8B030D-6E8A-4147-A177-3AD203B41FA5}">
                      <a16:colId xmlns:a16="http://schemas.microsoft.com/office/drawing/2014/main" val="20003"/>
                    </a:ext>
                  </a:extLst>
                </a:gridCol>
                <a:gridCol w="1533150">
                  <a:extLst>
                    <a:ext uri="{9D8B030D-6E8A-4147-A177-3AD203B41FA5}">
                      <a16:colId xmlns:a16="http://schemas.microsoft.com/office/drawing/2014/main" val="20004"/>
                    </a:ext>
                  </a:extLst>
                </a:gridCol>
              </a:tblGrid>
              <a:tr h="340450">
                <a:tc gridSpan="5">
                  <a:txBody>
                    <a:bodyPr/>
                    <a:lstStyle/>
                    <a:p>
                      <a:pPr marL="0" lvl="0" indent="0" algn="l" rtl="0">
                        <a:spcBef>
                          <a:spcPts val="0"/>
                        </a:spcBef>
                        <a:spcAft>
                          <a:spcPts val="0"/>
                        </a:spcAft>
                        <a:buNone/>
                      </a:pPr>
                      <a:r>
                        <a:rPr lang="en" sz="1300" b="1">
                          <a:latin typeface="Calibri"/>
                          <a:ea typeface="Calibri"/>
                          <a:cs typeface="Calibri"/>
                          <a:sym typeface="Calibri"/>
                        </a:rPr>
                        <a:t>Earth &amp; Space Science: Engineering Design</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82625">
                <a:tc gridSpan="5">
                  <a:txBody>
                    <a:bodyPr/>
                    <a:lstStyle/>
                    <a:p>
                      <a:pPr marL="0" lvl="0" indent="0" algn="l" rtl="0">
                        <a:spcBef>
                          <a:spcPts val="0"/>
                        </a:spcBef>
                        <a:spcAft>
                          <a:spcPts val="0"/>
                        </a:spcAft>
                        <a:buNone/>
                      </a:pPr>
                      <a:r>
                        <a:rPr lang="en" sz="1300" b="1">
                          <a:latin typeface="Calibri"/>
                          <a:ea typeface="Calibri"/>
                          <a:cs typeface="Calibri"/>
                          <a:sym typeface="Calibri"/>
                        </a:rPr>
                        <a:t>Analyze a major global challenge to specify qualitative or quantitative criteria and constraints for solutions that account for societal needs and wants.  [HS-ETS1-1]</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61850">
                <a:tc>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761175">
                <a:tc>
                  <a:txBody>
                    <a:bodyPr/>
                    <a:lstStyle/>
                    <a:p>
                      <a:pPr marL="0" lvl="0" indent="0" algn="l" rtl="0">
                        <a:spcBef>
                          <a:spcPts val="0"/>
                        </a:spcBef>
                        <a:spcAft>
                          <a:spcPts val="0"/>
                        </a:spcAft>
                        <a:buNone/>
                      </a:pPr>
                      <a:r>
                        <a:rPr lang="en" sz="1100">
                          <a:latin typeface="Calibri"/>
                          <a:ea typeface="Calibri"/>
                          <a:cs typeface="Calibri"/>
                          <a:sym typeface="Calibri"/>
                        </a:rPr>
                        <a:t>Evaluate two or more major global challenges to specify qualitative and quantitative criteria and constraints for solutions, which could include new technologies, that account for societal needs and wants.</a:t>
                      </a:r>
                      <a:endParaRPr sz="11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Analyze a major global challenge to specify qualitative and quantitative criteria and constraints for solutions that account for societal needs and wants. </a:t>
                      </a:r>
                      <a:endParaRPr sz="11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Analyze a major global challenge to specify qualitative or quantitative criteria and constraints for solutions that account for societal needs and wants.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1100">
                          <a:latin typeface="Calibri"/>
                          <a:ea typeface="Calibri"/>
                          <a:cs typeface="Calibri"/>
                          <a:sym typeface="Calibri"/>
                        </a:rPr>
                        <a:t>Given a major global challenge, describe the qualitative or quantitative criteria or constraint for the given solution that best accounts for societal needs or wants.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Given a major global challenge, identify the criteria or constraint for the given solution that best accounts for societal needs or wants. </a:t>
                      </a:r>
                      <a:endParaRPr sz="11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251525">
                <a:tc>
                  <a:txBody>
                    <a:bodyPr/>
                    <a:lstStyle/>
                    <a:p>
                      <a:pPr marL="0" lvl="0" indent="0" algn="l" rtl="0">
                        <a:spcBef>
                          <a:spcPts val="0"/>
                        </a:spcBef>
                        <a:spcAft>
                          <a:spcPts val="0"/>
                        </a:spcAft>
                        <a:buNone/>
                      </a:pPr>
                      <a:r>
                        <a:rPr lang="en" sz="1100" b="1">
                          <a:latin typeface="Calibri"/>
                          <a:ea typeface="Calibri"/>
                          <a:cs typeface="Calibri"/>
                          <a:sym typeface="Calibri"/>
                        </a:rPr>
                        <a:t>Asking Questions &amp; Defining Problems</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Analyze complex real-world problems by specifying criteria and constraints for successful solutions.</a:t>
                      </a:r>
                      <a:endParaRPr sz="11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gridSpan="4">
                  <a:txBody>
                    <a:bodyPr/>
                    <a:lstStyle/>
                    <a:p>
                      <a:pPr marL="0" lvl="0" indent="0" algn="l" rtl="0">
                        <a:spcBef>
                          <a:spcPts val="0"/>
                        </a:spcBef>
                        <a:spcAft>
                          <a:spcPts val="0"/>
                        </a:spcAft>
                        <a:buNone/>
                      </a:pPr>
                      <a:r>
                        <a:rPr lang="en" sz="1100" i="1" u="sng">
                          <a:latin typeface="Calibri"/>
                          <a:ea typeface="Calibri"/>
                          <a:cs typeface="Calibri"/>
                          <a:sym typeface="Calibri"/>
                        </a:rPr>
                        <a:t>Connections to Engineering, Technology, and Applications of Science  </a:t>
                      </a:r>
                      <a:endParaRPr sz="1100" i="1" u="sng">
                        <a:latin typeface="Calibri"/>
                        <a:ea typeface="Calibri"/>
                        <a:cs typeface="Calibri"/>
                        <a:sym typeface="Calibri"/>
                      </a:endParaRPr>
                    </a:p>
                    <a:p>
                      <a:pPr marL="0" lvl="0" indent="0" algn="l" rtl="0">
                        <a:spcBef>
                          <a:spcPts val="0"/>
                        </a:spcBef>
                        <a:spcAft>
                          <a:spcPts val="0"/>
                        </a:spcAft>
                        <a:buNone/>
                      </a:pPr>
                      <a:r>
                        <a:rPr lang="en" sz="1100" b="1">
                          <a:latin typeface="Calibri"/>
                          <a:ea typeface="Calibri"/>
                          <a:cs typeface="Calibri"/>
                          <a:sym typeface="Calibri"/>
                        </a:rPr>
                        <a:t>Influence of Science, Engineering, and Technology on Society and the Natural World </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New technologies can have deep impacts on society and the environment, including some that were not anticipated. Analysis of costs and benefits is a critical aspect of decisions about technology.</a:t>
                      </a:r>
                      <a:endParaRPr sz="11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251525">
                <a:tc gridSpan="5">
                  <a:txBody>
                    <a:bodyPr/>
                    <a:lstStyle/>
                    <a:p>
                      <a:pPr marL="0" lvl="0" indent="0" algn="l" rtl="0">
                        <a:lnSpc>
                          <a:spcPct val="115000"/>
                        </a:lnSpc>
                        <a:spcBef>
                          <a:spcPts val="0"/>
                        </a:spcBef>
                        <a:spcAft>
                          <a:spcPts val="0"/>
                        </a:spcAft>
                        <a:buNone/>
                      </a:pPr>
                      <a:r>
                        <a:rPr lang="en" sz="1100" b="1">
                          <a:solidFill>
                            <a:schemeClr val="dk1"/>
                          </a:solidFill>
                          <a:latin typeface="Calibri"/>
                          <a:ea typeface="Calibri"/>
                          <a:cs typeface="Calibri"/>
                          <a:sym typeface="Calibri"/>
                        </a:rPr>
                        <a:t>ETS1.A:  Defining and Delimiting Engineering Problems </a:t>
                      </a:r>
                      <a:endParaRPr sz="1100" b="1">
                        <a:solidFill>
                          <a:schemeClr val="dk1"/>
                        </a:solidFill>
                        <a:latin typeface="Calibri"/>
                        <a:ea typeface="Calibri"/>
                        <a:cs typeface="Calibri"/>
                        <a:sym typeface="Calibri"/>
                      </a:endParaRPr>
                    </a:p>
                    <a:p>
                      <a:pPr marL="342900" lvl="0" indent="-1968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Criteria and constraints also include satisfying any requirements set by society, such as taking issues of risk mitigation into account, and they should be quantified to the extent possible and stated in such a way that one can tell if a given design meets them. </a:t>
                      </a:r>
                      <a:endParaRPr sz="1100">
                        <a:solidFill>
                          <a:schemeClr val="dk1"/>
                        </a:solidFill>
                        <a:latin typeface="Calibri"/>
                        <a:ea typeface="Calibri"/>
                        <a:cs typeface="Calibri"/>
                        <a:sym typeface="Calibri"/>
                      </a:endParaRPr>
                    </a:p>
                    <a:p>
                      <a:pPr marL="342900" lvl="0" indent="-1968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Humanity faces major global challenges today, such as the need for supplies of clean water and food or for energy sources that minimize pollution, which can be addressed through engineering. These global challenges also may have manifestations in local communities.</a:t>
                      </a:r>
                      <a:endParaRPr sz="11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22" name="Google Shape;222;p35"/>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23" name="Google Shape;223;p35"/>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27"/>
        <p:cNvGrpSpPr/>
        <p:nvPr/>
      </p:nvGrpSpPr>
      <p:grpSpPr>
        <a:xfrm>
          <a:off x="0" y="0"/>
          <a:ext cx="0" cy="0"/>
          <a:chOff x="0" y="0"/>
          <a:chExt cx="0" cy="0"/>
        </a:xfrm>
      </p:grpSpPr>
      <p:graphicFrame>
        <p:nvGraphicFramePr>
          <p:cNvPr id="228" name="Google Shape;228;p36"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50" y="230751"/>
          <a:ext cx="9303225" cy="4032425"/>
        </p:xfrm>
        <a:graphic>
          <a:graphicData uri="http://schemas.openxmlformats.org/drawingml/2006/table">
            <a:tbl>
              <a:tblPr>
                <a:noFill/>
                <a:tableStyleId>{1455F5BC-4023-4B6A-AF38-90DE3866AEF7}</a:tableStyleId>
              </a:tblPr>
              <a:tblGrid>
                <a:gridCol w="2354125">
                  <a:extLst>
                    <a:ext uri="{9D8B030D-6E8A-4147-A177-3AD203B41FA5}">
                      <a16:colId xmlns:a16="http://schemas.microsoft.com/office/drawing/2014/main" val="20000"/>
                    </a:ext>
                  </a:extLst>
                </a:gridCol>
                <a:gridCol w="1659000">
                  <a:extLst>
                    <a:ext uri="{9D8B030D-6E8A-4147-A177-3AD203B41FA5}">
                      <a16:colId xmlns:a16="http://schemas.microsoft.com/office/drawing/2014/main" val="20001"/>
                    </a:ext>
                  </a:extLst>
                </a:gridCol>
                <a:gridCol w="1736825">
                  <a:extLst>
                    <a:ext uri="{9D8B030D-6E8A-4147-A177-3AD203B41FA5}">
                      <a16:colId xmlns:a16="http://schemas.microsoft.com/office/drawing/2014/main" val="20002"/>
                    </a:ext>
                  </a:extLst>
                </a:gridCol>
                <a:gridCol w="2104550">
                  <a:extLst>
                    <a:ext uri="{9D8B030D-6E8A-4147-A177-3AD203B41FA5}">
                      <a16:colId xmlns:a16="http://schemas.microsoft.com/office/drawing/2014/main" val="20003"/>
                    </a:ext>
                  </a:extLst>
                </a:gridCol>
                <a:gridCol w="1448725">
                  <a:extLst>
                    <a:ext uri="{9D8B030D-6E8A-4147-A177-3AD203B41FA5}">
                      <a16:colId xmlns:a16="http://schemas.microsoft.com/office/drawing/2014/main" val="20004"/>
                    </a:ext>
                  </a:extLst>
                </a:gridCol>
              </a:tblGrid>
              <a:tr h="0">
                <a:tc gridSpan="5">
                  <a:txBody>
                    <a:bodyPr/>
                    <a:lstStyle/>
                    <a:p>
                      <a:pPr marL="0" lvl="0" indent="0" algn="l" rtl="0">
                        <a:spcBef>
                          <a:spcPts val="0"/>
                        </a:spcBef>
                        <a:spcAft>
                          <a:spcPts val="0"/>
                        </a:spcAft>
                        <a:buNone/>
                      </a:pPr>
                      <a:r>
                        <a:rPr lang="en" sz="1300" b="1">
                          <a:latin typeface="Calibri"/>
                          <a:ea typeface="Calibri"/>
                          <a:cs typeface="Calibri"/>
                          <a:sym typeface="Calibri"/>
                        </a:rPr>
                        <a:t>Earth &amp; Space Science: Engineering Design</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5">
                  <a:txBody>
                    <a:bodyPr/>
                    <a:lstStyle/>
                    <a:p>
                      <a:pPr marL="0" lvl="0" indent="0" algn="l" rtl="0">
                        <a:spcBef>
                          <a:spcPts val="0"/>
                        </a:spcBef>
                        <a:spcAft>
                          <a:spcPts val="0"/>
                        </a:spcAft>
                        <a:buNone/>
                      </a:pPr>
                      <a:r>
                        <a:rPr lang="en" sz="1300" b="1">
                          <a:latin typeface="Calibri"/>
                          <a:ea typeface="Calibri"/>
                          <a:cs typeface="Calibri"/>
                          <a:sym typeface="Calibri"/>
                        </a:rPr>
                        <a:t>Given a complex real-world problem, identify one smaller more manageable problem and describe a solution to that problem that can be solved through engineering.  [HS-ETS1-2 ]</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99950">
                <a:tc>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458275">
                <a:tc>
                  <a:txBody>
                    <a:bodyPr/>
                    <a:lstStyle/>
                    <a:p>
                      <a:pPr marL="0" lvl="0" indent="0" algn="l" rtl="0">
                        <a:spcBef>
                          <a:spcPts val="0"/>
                        </a:spcBef>
                        <a:spcAft>
                          <a:spcPts val="0"/>
                        </a:spcAft>
                        <a:buNone/>
                      </a:pPr>
                      <a:r>
                        <a:rPr lang="en" sz="1100">
                          <a:latin typeface="Calibri"/>
                          <a:ea typeface="Calibri"/>
                          <a:cs typeface="Calibri"/>
                          <a:sym typeface="Calibri"/>
                        </a:rPr>
                        <a:t>For a complex real world problem, design multiple solutions to subproblems based on student generated data and/or scientific information from other sources.  Describe the rationale, criteria, and constraints of each sub-problem. </a:t>
                      </a:r>
                      <a:endParaRPr sz="11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Design a solution to a complex real world problem by breaking it down into smaller, more manageable problems that can be solved through engineering. </a:t>
                      </a:r>
                      <a:endParaRPr sz="11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Given a complex real-world problem, identify one smaller more manageable problem and describe a solution to that problem that can be solved through engineering.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1100">
                          <a:latin typeface="Calibri"/>
                          <a:ea typeface="Calibri"/>
                          <a:cs typeface="Calibri"/>
                          <a:sym typeface="Calibri"/>
                        </a:rPr>
                        <a:t>Given a complex real-world problem that has been broken down into smaller, more manageable problems, identify a solution to one smaller problem that can be solved through engineering.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Identify the solution, from those provided, that addresses a smaller, more manageable real-world problem. </a:t>
                      </a:r>
                      <a:endParaRPr sz="11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0">
                <a:tc gridSpan="3">
                  <a:txBody>
                    <a:bodyPr/>
                    <a:lstStyle/>
                    <a:p>
                      <a:pPr marL="0" lvl="0" indent="0" algn="l" rtl="0">
                        <a:spcBef>
                          <a:spcPts val="0"/>
                        </a:spcBef>
                        <a:spcAft>
                          <a:spcPts val="0"/>
                        </a:spcAft>
                        <a:buNone/>
                      </a:pPr>
                      <a:r>
                        <a:rPr lang="en" sz="1100" b="1">
                          <a:latin typeface="Calibri"/>
                          <a:ea typeface="Calibri"/>
                          <a:cs typeface="Calibri"/>
                          <a:sym typeface="Calibri"/>
                        </a:rPr>
                        <a:t>Constructing Explanations &amp; Designing Solutions</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Design a solution to a complex real-world problem, based on scientific knowledge, student-generated sources of evidence, prioritized criteria, and trade off considerations. </a:t>
                      </a:r>
                      <a:endParaRPr sz="11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hMerge="1">
                  <a:txBody>
                    <a:bodyPr/>
                    <a:lstStyle/>
                    <a:p>
                      <a:endParaRPr lang="en-US"/>
                    </a:p>
                  </a:txBody>
                  <a:tcPr/>
                </a:tc>
                <a:tc gridSpan="2">
                  <a:txBody>
                    <a:bodyPr/>
                    <a:lstStyle/>
                    <a:p>
                      <a:pPr marL="342900" marR="0" lvl="0" indent="-196850" algn="l" rtl="0">
                        <a:spcBef>
                          <a:spcPts val="0"/>
                        </a:spcBef>
                        <a:spcAft>
                          <a:spcPts val="0"/>
                        </a:spcAft>
                        <a:buSzPts val="1100"/>
                        <a:buFont typeface="Calibri"/>
                        <a:buChar char="➔"/>
                      </a:pPr>
                      <a:r>
                        <a:rPr lang="en" sz="1100">
                          <a:latin typeface="Calibri"/>
                          <a:ea typeface="Calibri"/>
                          <a:cs typeface="Calibri"/>
                          <a:sym typeface="Calibri"/>
                        </a:rPr>
                        <a:t>N/A</a:t>
                      </a:r>
                      <a:endParaRPr sz="11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extLst>
                  <a:ext uri="{0D108BD9-81ED-4DB2-BD59-A6C34878D82A}">
                    <a16:rowId xmlns:a16="http://schemas.microsoft.com/office/drawing/2014/main" val="10004"/>
                  </a:ext>
                </a:extLst>
              </a:tr>
              <a:tr h="248625">
                <a:tc gridSpan="5">
                  <a:txBody>
                    <a:bodyPr/>
                    <a:lstStyle/>
                    <a:p>
                      <a:pPr marL="0" lvl="0" indent="0" algn="l" rtl="0">
                        <a:lnSpc>
                          <a:spcPct val="115000"/>
                        </a:lnSpc>
                        <a:spcBef>
                          <a:spcPts val="0"/>
                        </a:spcBef>
                        <a:spcAft>
                          <a:spcPts val="0"/>
                        </a:spcAft>
                        <a:buNone/>
                      </a:pPr>
                      <a:r>
                        <a:rPr lang="en" sz="1100" b="1">
                          <a:solidFill>
                            <a:schemeClr val="dk1"/>
                          </a:solidFill>
                          <a:latin typeface="Calibri"/>
                          <a:ea typeface="Calibri"/>
                          <a:cs typeface="Calibri"/>
                          <a:sym typeface="Calibri"/>
                        </a:rPr>
                        <a:t>ETS1.C:  Optimizing the Design Solution </a:t>
                      </a:r>
                      <a:endParaRPr sz="1100" b="1">
                        <a:solidFill>
                          <a:schemeClr val="dk1"/>
                        </a:solidFill>
                        <a:latin typeface="Calibri"/>
                        <a:ea typeface="Calibri"/>
                        <a:cs typeface="Calibri"/>
                        <a:sym typeface="Calibri"/>
                      </a:endParaRPr>
                    </a:p>
                    <a:p>
                      <a:pPr marL="342900" lvl="0" indent="-1968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Criteria may need to be broken down into simpler ones that can be approached systematically, and decisions about the priority of certain criteria over others (trade offs) may be needed.</a:t>
                      </a:r>
                      <a:endParaRPr sz="11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29" name="Google Shape;229;p36"/>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30" name="Google Shape;230;p36"/>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34"/>
        <p:cNvGrpSpPr/>
        <p:nvPr/>
      </p:nvGrpSpPr>
      <p:grpSpPr>
        <a:xfrm>
          <a:off x="0" y="0"/>
          <a:ext cx="0" cy="0"/>
          <a:chOff x="0" y="0"/>
          <a:chExt cx="0" cy="0"/>
        </a:xfrm>
      </p:grpSpPr>
      <p:graphicFrame>
        <p:nvGraphicFramePr>
          <p:cNvPr id="235" name="Google Shape;235;p37"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38" y="230751"/>
          <a:ext cx="9303250" cy="5251155"/>
        </p:xfrm>
        <a:graphic>
          <a:graphicData uri="http://schemas.openxmlformats.org/drawingml/2006/table">
            <a:tbl>
              <a:tblPr>
                <a:noFill/>
                <a:tableStyleId>{1455F5BC-4023-4B6A-AF38-90DE3866AEF7}</a:tableStyleId>
              </a:tblPr>
              <a:tblGrid>
                <a:gridCol w="2922750">
                  <a:extLst>
                    <a:ext uri="{9D8B030D-6E8A-4147-A177-3AD203B41FA5}">
                      <a16:colId xmlns:a16="http://schemas.microsoft.com/office/drawing/2014/main" val="20000"/>
                    </a:ext>
                  </a:extLst>
                </a:gridCol>
                <a:gridCol w="2131625">
                  <a:extLst>
                    <a:ext uri="{9D8B030D-6E8A-4147-A177-3AD203B41FA5}">
                      <a16:colId xmlns:a16="http://schemas.microsoft.com/office/drawing/2014/main" val="20001"/>
                    </a:ext>
                  </a:extLst>
                </a:gridCol>
                <a:gridCol w="2149900">
                  <a:extLst>
                    <a:ext uri="{9D8B030D-6E8A-4147-A177-3AD203B41FA5}">
                      <a16:colId xmlns:a16="http://schemas.microsoft.com/office/drawing/2014/main" val="20002"/>
                    </a:ext>
                  </a:extLst>
                </a:gridCol>
                <a:gridCol w="942100">
                  <a:extLst>
                    <a:ext uri="{9D8B030D-6E8A-4147-A177-3AD203B41FA5}">
                      <a16:colId xmlns:a16="http://schemas.microsoft.com/office/drawing/2014/main" val="20003"/>
                    </a:ext>
                  </a:extLst>
                </a:gridCol>
                <a:gridCol w="1156875">
                  <a:extLst>
                    <a:ext uri="{9D8B030D-6E8A-4147-A177-3AD203B41FA5}">
                      <a16:colId xmlns:a16="http://schemas.microsoft.com/office/drawing/2014/main" val="20004"/>
                    </a:ext>
                  </a:extLst>
                </a:gridCol>
              </a:tblGrid>
              <a:tr h="333600">
                <a:tc gridSpan="5">
                  <a:txBody>
                    <a:bodyPr/>
                    <a:lstStyle/>
                    <a:p>
                      <a:pPr marL="0" lvl="0" indent="0" algn="l" rtl="0">
                        <a:spcBef>
                          <a:spcPts val="0"/>
                        </a:spcBef>
                        <a:spcAft>
                          <a:spcPts val="0"/>
                        </a:spcAft>
                        <a:buNone/>
                      </a:pPr>
                      <a:r>
                        <a:rPr lang="en" sz="1300" b="1">
                          <a:latin typeface="Calibri"/>
                          <a:ea typeface="Calibri"/>
                          <a:cs typeface="Calibri"/>
                          <a:sym typeface="Calibri"/>
                        </a:rPr>
                        <a:t>Earth &amp; Space Science: Engineering Design</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472950">
                <a:tc gridSpan="5">
                  <a:txBody>
                    <a:bodyPr/>
                    <a:lstStyle/>
                    <a:p>
                      <a:pPr marL="0" lvl="0" indent="0" algn="l" rtl="0">
                        <a:spcBef>
                          <a:spcPts val="0"/>
                        </a:spcBef>
                        <a:spcAft>
                          <a:spcPts val="0"/>
                        </a:spcAft>
                        <a:buNone/>
                      </a:pPr>
                      <a:r>
                        <a:rPr lang="en" sz="1300" b="1">
                          <a:latin typeface="Calibri"/>
                          <a:ea typeface="Calibri"/>
                          <a:cs typeface="Calibri"/>
                          <a:sym typeface="Calibri"/>
                        </a:rPr>
                        <a:t>Identify a solution to a complex real world problem based on  prioritized criteria and/or trade-offs (positives and negatives) for a range of constraints, such as cost, safety, reliability, aesthetics, as well as possible social, cultural, or environmental impacts.  [HS-ETS1-3]</a:t>
                      </a:r>
                      <a:endParaRPr sz="1300"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58625">
                <a:tc>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853075">
                <a:tc>
                  <a:txBody>
                    <a:bodyPr/>
                    <a:lstStyle/>
                    <a:p>
                      <a:pPr marL="0" lvl="0" indent="0" algn="l" rtl="0">
                        <a:spcBef>
                          <a:spcPts val="0"/>
                        </a:spcBef>
                        <a:spcAft>
                          <a:spcPts val="0"/>
                        </a:spcAft>
                        <a:buNone/>
                      </a:pPr>
                      <a:r>
                        <a:rPr lang="en" sz="1100">
                          <a:latin typeface="Calibri"/>
                          <a:ea typeface="Calibri"/>
                          <a:cs typeface="Calibri"/>
                          <a:sym typeface="Calibri"/>
                        </a:rPr>
                        <a:t>Evaluate a solution to a complex real world problem based on prioritized criteria by generating a prioritized list of criteria and tradeoffs that account for a range of multiple constraints, including cost, safety, reliability, and aesthetics, as well as possible social, cultural, and environmental impacts. Explain how these solutions affect society and the environment.</a:t>
                      </a:r>
                      <a:endParaRPr sz="11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Evaluate a solution to a complex real world problem based on prioritized criteria and trade-offs that account for a range of multiple constraints, including cost, safety, reliability, and aesthetics, as well as possible social, cultural, and environmental impacts. </a:t>
                      </a:r>
                      <a:endParaRPr sz="11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Identify a solution to a complex real world problem based on  prioritized criteria and/or trade-offs (positives and negatives) for a range of constraints, such as cost, safety, reliability, aesthetics, as well as possible social, cultural, or environmental impacts.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1100">
                          <a:latin typeface="Calibri"/>
                          <a:ea typeface="Calibri"/>
                          <a:cs typeface="Calibri"/>
                          <a:sym typeface="Calibri"/>
                        </a:rPr>
                        <a:t>Describe a solution to a complex real world problem based on given criteria and constraints.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Identify the solution from those provided, to a complex real world problem based on given criteria and/or constraints.  </a:t>
                      </a:r>
                      <a:endParaRPr sz="11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835925">
                <a:tc>
                  <a:txBody>
                    <a:bodyPr/>
                    <a:lstStyle/>
                    <a:p>
                      <a:pPr marL="0" lvl="0" indent="0" algn="l" rtl="0">
                        <a:spcBef>
                          <a:spcPts val="0"/>
                        </a:spcBef>
                        <a:spcAft>
                          <a:spcPts val="0"/>
                        </a:spcAft>
                        <a:buNone/>
                      </a:pPr>
                      <a:r>
                        <a:rPr lang="en" sz="1100" b="1">
                          <a:latin typeface="Calibri"/>
                          <a:ea typeface="Calibri"/>
                          <a:cs typeface="Calibri"/>
                          <a:sym typeface="Calibri"/>
                        </a:rPr>
                        <a:t>Constructing Explanations &amp; Designing Solutions</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Evaluate a solution to a complex real-world problem, based on scientific knowledge, student-generated sources of evidence, prioritized criteria, and trade off considerations. </a:t>
                      </a:r>
                      <a:endParaRPr sz="11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gridSpan="4">
                  <a:txBody>
                    <a:bodyPr/>
                    <a:lstStyle/>
                    <a:p>
                      <a:pPr marL="0" lvl="0" indent="0" algn="l" rtl="0">
                        <a:spcBef>
                          <a:spcPts val="0"/>
                        </a:spcBef>
                        <a:spcAft>
                          <a:spcPts val="0"/>
                        </a:spcAft>
                        <a:buNone/>
                      </a:pPr>
                      <a:r>
                        <a:rPr lang="en" sz="1100" i="1" u="sng">
                          <a:latin typeface="Calibri"/>
                          <a:ea typeface="Calibri"/>
                          <a:cs typeface="Calibri"/>
                          <a:sym typeface="Calibri"/>
                        </a:rPr>
                        <a:t>Connections to Engineering, Technology, and Applications of Science </a:t>
                      </a:r>
                      <a:endParaRPr sz="1100" i="1" u="sng">
                        <a:latin typeface="Calibri"/>
                        <a:ea typeface="Calibri"/>
                        <a:cs typeface="Calibri"/>
                        <a:sym typeface="Calibri"/>
                      </a:endParaRPr>
                    </a:p>
                    <a:p>
                      <a:pPr marL="0" lvl="0" indent="0" algn="l" rtl="0">
                        <a:spcBef>
                          <a:spcPts val="0"/>
                        </a:spcBef>
                        <a:spcAft>
                          <a:spcPts val="0"/>
                        </a:spcAft>
                        <a:buNone/>
                      </a:pPr>
                      <a:r>
                        <a:rPr lang="en" sz="1100" b="1">
                          <a:latin typeface="Calibri"/>
                          <a:ea typeface="Calibri"/>
                          <a:cs typeface="Calibri"/>
                          <a:sym typeface="Calibri"/>
                        </a:rPr>
                        <a:t>Influence of Science, Engineering, and Technology on Society and the Natural World </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New technologies can have deep impacts on society and the environment, including some that were not anticipated. Analysis of costs and benefits is a critical aspect of decisions about technology. </a:t>
                      </a:r>
                      <a:endParaRPr sz="11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751775">
                <a:tc gridSpan="5">
                  <a:txBody>
                    <a:bodyPr/>
                    <a:lstStyle/>
                    <a:p>
                      <a:pPr marL="0" lvl="0" indent="0" algn="l" rtl="0">
                        <a:lnSpc>
                          <a:spcPct val="115000"/>
                        </a:lnSpc>
                        <a:spcBef>
                          <a:spcPts val="0"/>
                        </a:spcBef>
                        <a:spcAft>
                          <a:spcPts val="0"/>
                        </a:spcAft>
                        <a:buNone/>
                      </a:pPr>
                      <a:r>
                        <a:rPr lang="en" sz="1100" b="1">
                          <a:solidFill>
                            <a:schemeClr val="dk1"/>
                          </a:solidFill>
                          <a:latin typeface="Calibri"/>
                          <a:ea typeface="Calibri"/>
                          <a:cs typeface="Calibri"/>
                          <a:sym typeface="Calibri"/>
                        </a:rPr>
                        <a:t>ETS1.B:  Developing Possible Solutions </a:t>
                      </a:r>
                      <a:endParaRPr sz="1100" b="1">
                        <a:solidFill>
                          <a:schemeClr val="dk1"/>
                        </a:solidFill>
                        <a:latin typeface="Calibri"/>
                        <a:ea typeface="Calibri"/>
                        <a:cs typeface="Calibri"/>
                        <a:sym typeface="Calibri"/>
                      </a:endParaRPr>
                    </a:p>
                    <a:p>
                      <a:pPr marL="342900" lvl="0" indent="-1968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When evaluating solutions, it is important to take into account a range of constraints, including cost, safety, reliability, and aesthetics, and to consider social, cultural, and environmental impacts.</a:t>
                      </a:r>
                      <a:endParaRPr sz="11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36" name="Google Shape;236;p37"/>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37" name="Google Shape;237;p37"/>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41"/>
        <p:cNvGrpSpPr/>
        <p:nvPr/>
      </p:nvGrpSpPr>
      <p:grpSpPr>
        <a:xfrm>
          <a:off x="0" y="0"/>
          <a:ext cx="0" cy="0"/>
          <a:chOff x="0" y="0"/>
          <a:chExt cx="0" cy="0"/>
        </a:xfrm>
      </p:grpSpPr>
      <p:graphicFrame>
        <p:nvGraphicFramePr>
          <p:cNvPr id="242" name="Google Shape;242;p38" descr="NYS Level 4: Plan and conduct an investigation, using fair tests in which variables are controlled and the number of trials is considered, to collect evidence that shows the effects of balanced and unbalanced forces on the motion of an object. Use the evidence to construct an explanation of this phenomenon.&#10;&#10;NYS Level 3: Plan and conduct an investigation to provide evidence of the effects of balanced and unbalanced forces on the motion of an object.   &#10;&#10;NYS Level 2: Conduct an investigation that identifies the evidence that shows the effects of balanced and unbalanced forces on the motion of an object.  &#10;&#10;NYS Level 1: From the data collected during an investigation, identify the given evidence that shows the effects of balanced and unbalanced forces on the motion of an object. &#10;" title="NYSSLS 3-PS2-1 "/>
          <p:cNvGraphicFramePr/>
          <p:nvPr/>
        </p:nvGraphicFramePr>
        <p:xfrm>
          <a:off x="103250" y="230726"/>
          <a:ext cx="9303225" cy="4606211"/>
        </p:xfrm>
        <a:graphic>
          <a:graphicData uri="http://schemas.openxmlformats.org/drawingml/2006/table">
            <a:tbl>
              <a:tblPr>
                <a:noFill/>
                <a:tableStyleId>{1455F5BC-4023-4B6A-AF38-90DE3866AEF7}</a:tableStyleId>
              </a:tblPr>
              <a:tblGrid>
                <a:gridCol w="2079650">
                  <a:extLst>
                    <a:ext uri="{9D8B030D-6E8A-4147-A177-3AD203B41FA5}">
                      <a16:colId xmlns:a16="http://schemas.microsoft.com/office/drawing/2014/main" val="20000"/>
                    </a:ext>
                  </a:extLst>
                </a:gridCol>
                <a:gridCol w="2000450">
                  <a:extLst>
                    <a:ext uri="{9D8B030D-6E8A-4147-A177-3AD203B41FA5}">
                      <a16:colId xmlns:a16="http://schemas.microsoft.com/office/drawing/2014/main" val="20001"/>
                    </a:ext>
                  </a:extLst>
                </a:gridCol>
                <a:gridCol w="2290550">
                  <a:extLst>
                    <a:ext uri="{9D8B030D-6E8A-4147-A177-3AD203B41FA5}">
                      <a16:colId xmlns:a16="http://schemas.microsoft.com/office/drawing/2014/main" val="20002"/>
                    </a:ext>
                  </a:extLst>
                </a:gridCol>
                <a:gridCol w="1997500">
                  <a:extLst>
                    <a:ext uri="{9D8B030D-6E8A-4147-A177-3AD203B41FA5}">
                      <a16:colId xmlns:a16="http://schemas.microsoft.com/office/drawing/2014/main" val="20003"/>
                    </a:ext>
                  </a:extLst>
                </a:gridCol>
                <a:gridCol w="935075">
                  <a:extLst>
                    <a:ext uri="{9D8B030D-6E8A-4147-A177-3AD203B41FA5}">
                      <a16:colId xmlns:a16="http://schemas.microsoft.com/office/drawing/2014/main" val="20004"/>
                    </a:ext>
                  </a:extLst>
                </a:gridCol>
              </a:tblGrid>
              <a:tr h="356125">
                <a:tc gridSpan="5">
                  <a:txBody>
                    <a:bodyPr/>
                    <a:lstStyle/>
                    <a:p>
                      <a:pPr marL="0" lvl="0" indent="0" algn="l" rtl="0">
                        <a:spcBef>
                          <a:spcPts val="0"/>
                        </a:spcBef>
                        <a:spcAft>
                          <a:spcPts val="0"/>
                        </a:spcAft>
                        <a:buNone/>
                      </a:pPr>
                      <a:r>
                        <a:rPr lang="en" b="1">
                          <a:latin typeface="Calibri"/>
                          <a:ea typeface="Calibri"/>
                          <a:cs typeface="Calibri"/>
                          <a:sym typeface="Calibri"/>
                        </a:rPr>
                        <a:t>Earth &amp; Space Science: Engineering Design</a:t>
                      </a:r>
                      <a:endParaRPr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04850">
                <a:tc gridSpan="5">
                  <a:txBody>
                    <a:bodyPr/>
                    <a:lstStyle/>
                    <a:p>
                      <a:pPr marL="0" lvl="0" indent="0" algn="l" rtl="0">
                        <a:spcBef>
                          <a:spcPts val="0"/>
                        </a:spcBef>
                        <a:spcAft>
                          <a:spcPts val="0"/>
                        </a:spcAft>
                        <a:buNone/>
                      </a:pPr>
                      <a:r>
                        <a:rPr lang="en" b="1">
                          <a:latin typeface="Calibri"/>
                          <a:ea typeface="Calibri"/>
                          <a:cs typeface="Calibri"/>
                          <a:sym typeface="Calibri"/>
                        </a:rPr>
                        <a:t>Given data (from a computer simulation), describe the impact of proposed solutions to a complex real world problem with limited criteria and constraints on interactions within and/or between systems relevant to the problem.  [HS-ETS1-4]</a:t>
                      </a:r>
                      <a:endParaRPr b="1">
                        <a:latin typeface="Calibri"/>
                        <a:ea typeface="Calibri"/>
                        <a:cs typeface="Calibri"/>
                        <a:sym typeface="Calibri"/>
                      </a:endParaRPr>
                    </a:p>
                  </a:txBody>
                  <a:tcPr marL="95100" marR="95100" marT="128400" marB="128400"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69325">
                <a:tc>
                  <a:txBody>
                    <a:bodyPr/>
                    <a:lstStyle/>
                    <a:p>
                      <a:pPr marL="0" lvl="0" indent="0" algn="ctr" rtl="0">
                        <a:spcBef>
                          <a:spcPts val="0"/>
                        </a:spcBef>
                        <a:spcAft>
                          <a:spcPts val="0"/>
                        </a:spcAft>
                        <a:buNone/>
                      </a:pPr>
                      <a:r>
                        <a:rPr lang="en" sz="900" i="1">
                          <a:latin typeface="Calibri"/>
                          <a:ea typeface="Calibri"/>
                          <a:cs typeface="Calibri"/>
                          <a:sym typeface="Calibri"/>
                        </a:rPr>
                        <a:t>NYS Level 5</a:t>
                      </a:r>
                      <a:endParaRPr sz="900" i="1">
                        <a:latin typeface="Calibri"/>
                        <a:ea typeface="Calibri"/>
                        <a:cs typeface="Calibri"/>
                        <a:sym typeface="Calibri"/>
                      </a:endParaRPr>
                    </a:p>
                  </a:txBody>
                  <a:tcPr marL="95100" marR="95100" marT="34000" marB="34000" anchor="ctr">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4</a:t>
                      </a:r>
                      <a:endParaRPr sz="900" i="1">
                        <a:latin typeface="Calibri"/>
                        <a:ea typeface="Calibri"/>
                        <a:cs typeface="Calibri"/>
                        <a:sym typeface="Calibri"/>
                      </a:endParaRPr>
                    </a:p>
                  </a:txBody>
                  <a:tcPr marL="95100" marR="95100" marT="34000" marB="34000" anchor="ctr">
                    <a:lnL w="38100" cap="flat" cmpd="sng">
                      <a:solidFill>
                        <a:schemeClr val="dk2"/>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3</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2</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tc>
                  <a:txBody>
                    <a:bodyPr/>
                    <a:lstStyle/>
                    <a:p>
                      <a:pPr marL="0" lvl="0" indent="0" algn="ctr" rtl="0">
                        <a:spcBef>
                          <a:spcPts val="0"/>
                        </a:spcBef>
                        <a:spcAft>
                          <a:spcPts val="0"/>
                        </a:spcAft>
                        <a:buNone/>
                      </a:pPr>
                      <a:r>
                        <a:rPr lang="en" sz="900" i="1">
                          <a:latin typeface="Calibri"/>
                          <a:ea typeface="Calibri"/>
                          <a:cs typeface="Calibri"/>
                          <a:sym typeface="Calibri"/>
                        </a:rPr>
                        <a:t>NYS Level 1</a:t>
                      </a:r>
                      <a:endParaRPr sz="900" i="1">
                        <a:latin typeface="Calibri"/>
                        <a:ea typeface="Calibri"/>
                        <a:cs typeface="Calibri"/>
                        <a:sym typeface="Calibri"/>
                      </a:endParaRPr>
                    </a:p>
                  </a:txBody>
                  <a:tcPr marL="95100" marR="95100" marT="34000" marB="34000"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CCCCC"/>
                    </a:solidFill>
                  </a:tcPr>
                </a:tc>
                <a:extLst>
                  <a:ext uri="{0D108BD9-81ED-4DB2-BD59-A6C34878D82A}">
                    <a16:rowId xmlns:a16="http://schemas.microsoft.com/office/drawing/2014/main" val="10002"/>
                  </a:ext>
                </a:extLst>
              </a:tr>
              <a:tr h="796250">
                <a:tc>
                  <a:txBody>
                    <a:bodyPr/>
                    <a:lstStyle/>
                    <a:p>
                      <a:pPr marL="0" lvl="0" indent="0" algn="l" rtl="0">
                        <a:spcBef>
                          <a:spcPts val="0"/>
                        </a:spcBef>
                        <a:spcAft>
                          <a:spcPts val="0"/>
                        </a:spcAft>
                        <a:buNone/>
                      </a:pPr>
                      <a:r>
                        <a:rPr lang="en" sz="1100">
                          <a:latin typeface="Calibri"/>
                          <a:ea typeface="Calibri"/>
                          <a:cs typeface="Calibri"/>
                          <a:sym typeface="Calibri"/>
                        </a:rPr>
                        <a:t>Use a computer simulation to model the impact of proposed solutions to related complex real-world problems with numerous criteria and constraints on interactions within and between systems relevant to the problem. </a:t>
                      </a:r>
                      <a:endParaRPr sz="1100">
                        <a:latin typeface="Calibri"/>
                        <a:ea typeface="Calibri"/>
                        <a:cs typeface="Calibri"/>
                        <a:sym typeface="Calibri"/>
                      </a:endParaRPr>
                    </a:p>
                  </a:txBody>
                  <a:tcPr marL="95100" marR="95100" marT="67975" marB="67975">
                    <a:lnL w="28575" cap="flat" cmpd="sng">
                      <a:solidFill>
                        <a:srgbClr val="9E9E9E"/>
                      </a:solidFill>
                      <a:prstDash val="solid"/>
                      <a:round/>
                      <a:headEnd type="none" w="sm" len="sm"/>
                      <a:tailEnd type="none" w="sm" len="sm"/>
                    </a:lnL>
                    <a:lnR w="38100" cap="flat" cmpd="sng">
                      <a:solidFill>
                        <a:schemeClr val="dk2"/>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Use a computer simulation to model the impact of proposed solutions to a complex real world problem with numerous criteria and constraints on interactions within and between systems relevant to the problem. </a:t>
                      </a:r>
                      <a:endParaRPr sz="1100">
                        <a:latin typeface="Calibri"/>
                        <a:ea typeface="Calibri"/>
                        <a:cs typeface="Calibri"/>
                        <a:sym typeface="Calibri"/>
                      </a:endParaRPr>
                    </a:p>
                  </a:txBody>
                  <a:tcPr marL="95100" marR="95100" marT="67975" marB="67975">
                    <a:lnL w="38100" cap="flat" cmpd="sng">
                      <a:solidFill>
                        <a:schemeClr val="dk2"/>
                      </a:solidFill>
                      <a:prstDash val="solid"/>
                      <a:round/>
                      <a:headEnd type="none" w="sm" len="sm"/>
                      <a:tailEnd type="none" w="sm" len="sm"/>
                    </a:lnL>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Given data (from a computer simulation), describe the impact of proposed solutions to a complex real world problem with limited criteria and constraints on interactions within and/or between systems relevant to the problem.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spcBef>
                          <a:spcPts val="0"/>
                        </a:spcBef>
                        <a:spcAft>
                          <a:spcPts val="0"/>
                        </a:spcAft>
                        <a:buNone/>
                      </a:pPr>
                      <a:r>
                        <a:rPr lang="en" sz="1100">
                          <a:latin typeface="Calibri"/>
                          <a:ea typeface="Calibri"/>
                          <a:cs typeface="Calibri"/>
                          <a:sym typeface="Calibri"/>
                        </a:rPr>
                        <a:t>Given data (from a computer simulation), identify the impact of a proposed solution to a complex real world problem, or the impact on an interaction within or between two systems relevant to the problem. </a:t>
                      </a:r>
                      <a:endParaRPr sz="1100">
                        <a:latin typeface="Calibri"/>
                        <a:ea typeface="Calibri"/>
                        <a:cs typeface="Calibri"/>
                        <a:sym typeface="Calibri"/>
                      </a:endParaRPr>
                    </a:p>
                  </a:txBody>
                  <a:tcPr marL="95100" marR="95100" marT="67975" marB="67975">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 sz="1100">
                          <a:latin typeface="Calibri"/>
                          <a:ea typeface="Calibri"/>
                          <a:cs typeface="Calibri"/>
                          <a:sym typeface="Calibri"/>
                        </a:rPr>
                        <a:t>Identify the impact of a given solution to a complex real world problem. </a:t>
                      </a:r>
                      <a:endParaRPr sz="1100">
                        <a:latin typeface="Calibri"/>
                        <a:ea typeface="Calibri"/>
                        <a:cs typeface="Calibri"/>
                        <a:sym typeface="Calibri"/>
                      </a:endParaRPr>
                    </a:p>
                  </a:txBody>
                  <a:tcPr marL="95100" marR="95100" marT="67975" marB="67975">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40650">
                <a:tc gridSpan="2">
                  <a:txBody>
                    <a:bodyPr/>
                    <a:lstStyle/>
                    <a:p>
                      <a:pPr marL="0" lvl="0" indent="0" algn="l" rtl="0">
                        <a:spcBef>
                          <a:spcPts val="0"/>
                        </a:spcBef>
                        <a:spcAft>
                          <a:spcPts val="0"/>
                        </a:spcAft>
                        <a:buNone/>
                      </a:pPr>
                      <a:r>
                        <a:rPr lang="en" sz="1100" b="1">
                          <a:solidFill>
                            <a:schemeClr val="dk1"/>
                          </a:solidFill>
                          <a:latin typeface="Calibri"/>
                          <a:ea typeface="Calibri"/>
                          <a:cs typeface="Calibri"/>
                          <a:sym typeface="Calibri"/>
                        </a:rPr>
                        <a:t>Using Mathematics &amp; Computational Thinking</a:t>
                      </a:r>
                      <a:endParaRPr sz="1100" b="1">
                        <a:solidFill>
                          <a:schemeClr val="dk1"/>
                        </a:solidFill>
                        <a:latin typeface="Calibri"/>
                        <a:ea typeface="Calibri"/>
                        <a:cs typeface="Calibri"/>
                        <a:sym typeface="Calibri"/>
                      </a:endParaRPr>
                    </a:p>
                    <a:p>
                      <a:pPr marL="342900" lvl="0" indent="-196850"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Use mathematical models and/or computer simulations to predict the effects of a design solution on systems and/or the interactions between systems.</a:t>
                      </a:r>
                      <a:endParaRPr sz="1100">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CFE2F3"/>
                    </a:solidFill>
                  </a:tcPr>
                </a:tc>
                <a:tc hMerge="1">
                  <a:txBody>
                    <a:bodyPr/>
                    <a:lstStyle/>
                    <a:p>
                      <a:endParaRPr lang="en-US"/>
                    </a:p>
                  </a:txBody>
                  <a:tcPr/>
                </a:tc>
                <a:tc gridSpan="3">
                  <a:txBody>
                    <a:bodyPr/>
                    <a:lstStyle/>
                    <a:p>
                      <a:pPr marL="0" lvl="0" indent="0" algn="l" rtl="0">
                        <a:spcBef>
                          <a:spcPts val="0"/>
                        </a:spcBef>
                        <a:spcAft>
                          <a:spcPts val="0"/>
                        </a:spcAft>
                        <a:buNone/>
                      </a:pPr>
                      <a:r>
                        <a:rPr lang="en" sz="1100" b="1">
                          <a:latin typeface="Calibri"/>
                          <a:ea typeface="Calibri"/>
                          <a:cs typeface="Calibri"/>
                          <a:sym typeface="Calibri"/>
                        </a:rPr>
                        <a:t>Systems &amp; System Models </a:t>
                      </a:r>
                      <a:endParaRPr sz="1100" b="1">
                        <a:latin typeface="Calibri"/>
                        <a:ea typeface="Calibri"/>
                        <a:cs typeface="Calibri"/>
                        <a:sym typeface="Calibri"/>
                      </a:endParaRPr>
                    </a:p>
                    <a:p>
                      <a:pPr marL="342900" lvl="0" indent="-196850" algn="l" rtl="0">
                        <a:spcBef>
                          <a:spcPts val="0"/>
                        </a:spcBef>
                        <a:spcAft>
                          <a:spcPts val="0"/>
                        </a:spcAft>
                        <a:buSzPts val="1100"/>
                        <a:buFont typeface="Calibri"/>
                        <a:buChar char="➔"/>
                      </a:pPr>
                      <a:r>
                        <a:rPr lang="en" sz="1100">
                          <a:latin typeface="Calibri"/>
                          <a:ea typeface="Calibri"/>
                          <a:cs typeface="Calibri"/>
                          <a:sym typeface="Calibri"/>
                        </a:rPr>
                        <a:t>Models (e.g., physical, mathematical, computer models) can be used to simulate systems and interactions— including energy, matter, and information flows— within and between systems at different scales. </a:t>
                      </a:r>
                      <a:endParaRPr sz="1100">
                        <a:latin typeface="Calibri"/>
                        <a:ea typeface="Calibri"/>
                        <a:cs typeface="Calibri"/>
                        <a:sym typeface="Calibri"/>
                      </a:endParaRPr>
                    </a:p>
                  </a:txBody>
                  <a:tcPr marL="95100" marR="95100" marT="84975" marB="84975" anchor="ctr">
                    <a:lnL w="952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D9EAD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697275">
                <a:tc gridSpan="5">
                  <a:txBody>
                    <a:bodyPr/>
                    <a:lstStyle/>
                    <a:p>
                      <a:pPr marL="0" lvl="0" indent="0" algn="l" rtl="0">
                        <a:lnSpc>
                          <a:spcPct val="115000"/>
                        </a:lnSpc>
                        <a:spcBef>
                          <a:spcPts val="0"/>
                        </a:spcBef>
                        <a:spcAft>
                          <a:spcPts val="0"/>
                        </a:spcAft>
                        <a:buNone/>
                      </a:pPr>
                      <a:r>
                        <a:rPr lang="en" sz="1100" b="1">
                          <a:solidFill>
                            <a:schemeClr val="dk1"/>
                          </a:solidFill>
                          <a:latin typeface="Calibri"/>
                          <a:ea typeface="Calibri"/>
                          <a:cs typeface="Calibri"/>
                          <a:sym typeface="Calibri"/>
                        </a:rPr>
                        <a:t>ETS1.B:  Developing Possible Solutions</a:t>
                      </a:r>
                      <a:endParaRPr sz="1100" b="1">
                        <a:solidFill>
                          <a:schemeClr val="dk1"/>
                        </a:solidFill>
                        <a:latin typeface="Calibri"/>
                        <a:ea typeface="Calibri"/>
                        <a:cs typeface="Calibri"/>
                        <a:sym typeface="Calibri"/>
                      </a:endParaRPr>
                    </a:p>
                    <a:p>
                      <a:pPr marL="342900" lvl="0" indent="-196850" algn="l" rtl="0">
                        <a:lnSpc>
                          <a:spcPct val="115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Both physical models and computers can be used in various ways to aid in the engineering design process. Computers are useful for a variety of purposes, such as running simulations to test different ways of solving a problem or to see which one is most efficient or economical; and in making a persuasive presentation to a client about how a given design will meet his or her needs. </a:t>
                      </a:r>
                      <a:endParaRPr sz="1100">
                        <a:solidFill>
                          <a:schemeClr val="dk1"/>
                        </a:solidFill>
                        <a:latin typeface="Calibri"/>
                        <a:ea typeface="Calibri"/>
                        <a:cs typeface="Calibri"/>
                        <a:sym typeface="Calibri"/>
                      </a:endParaRPr>
                    </a:p>
                  </a:txBody>
                  <a:tcPr marL="95100" marR="95100" marT="84975" marB="849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CE5C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bl>
          </a:graphicData>
        </a:graphic>
      </p:graphicFrame>
      <p:sp>
        <p:nvSpPr>
          <p:cNvPr id="243" name="Google Shape;243;p38"/>
          <p:cNvSpPr txBox="1"/>
          <p:nvPr/>
        </p:nvSpPr>
        <p:spPr>
          <a:xfrm>
            <a:off x="7153926" y="6919250"/>
            <a:ext cx="2334600" cy="304500"/>
          </a:xfrm>
          <a:prstGeom prst="rect">
            <a:avLst/>
          </a:prstGeom>
          <a:noFill/>
          <a:ln>
            <a:noFill/>
          </a:ln>
        </p:spPr>
        <p:txBody>
          <a:bodyPr spcFirstLastPara="1" wrap="square" lIns="87775" tIns="87775" rIns="87775" bIns="87775" anchor="ctr" anchorCtr="0">
            <a:noAutofit/>
          </a:bodyPr>
          <a:lstStyle/>
          <a:p>
            <a:pPr marL="0" lvl="0" indent="0" algn="r" rtl="0">
              <a:spcBef>
                <a:spcPts val="0"/>
              </a:spcBef>
              <a:spcAft>
                <a:spcPts val="0"/>
              </a:spcAft>
              <a:buNone/>
            </a:pPr>
            <a:r>
              <a:rPr lang="en" sz="1200">
                <a:solidFill>
                  <a:srgbClr val="595959"/>
                </a:solidFill>
                <a:latin typeface="Calibri"/>
                <a:ea typeface="Calibri"/>
                <a:cs typeface="Calibri"/>
                <a:sym typeface="Calibri"/>
              </a:rPr>
              <a:t>Shelley Cuccia </a:t>
            </a:r>
            <a:r>
              <a:rPr lang="en" sz="1200" b="1">
                <a:solidFill>
                  <a:srgbClr val="595959"/>
                </a:solidFill>
                <a:latin typeface="Calibri"/>
                <a:ea typeface="Calibri"/>
                <a:cs typeface="Calibri"/>
                <a:sym typeface="Calibri"/>
              </a:rPr>
              <a:t>CC BY-NC-SA 4.0</a:t>
            </a:r>
            <a:r>
              <a:rPr lang="en" sz="1200">
                <a:solidFill>
                  <a:srgbClr val="595959"/>
                </a:solidFill>
                <a:latin typeface="Calibri"/>
                <a:ea typeface="Calibri"/>
                <a:cs typeface="Calibri"/>
                <a:sym typeface="Calibri"/>
              </a:rPr>
              <a:t> </a:t>
            </a:r>
            <a:endParaRPr sz="1200">
              <a:solidFill>
                <a:srgbClr val="595959"/>
              </a:solidFill>
              <a:latin typeface="Calibri"/>
              <a:ea typeface="Calibri"/>
              <a:cs typeface="Calibri"/>
              <a:sym typeface="Calibri"/>
            </a:endParaRPr>
          </a:p>
        </p:txBody>
      </p:sp>
      <p:pic>
        <p:nvPicPr>
          <p:cNvPr id="244" name="Google Shape;244;p38"/>
          <p:cNvPicPr preferRelativeResize="0"/>
          <p:nvPr/>
        </p:nvPicPr>
        <p:blipFill>
          <a:blip r:embed="rId3">
            <a:alphaModFix amt="50000"/>
          </a:blip>
          <a:stretch>
            <a:fillRect/>
          </a:stretch>
        </p:blipFill>
        <p:spPr>
          <a:xfrm>
            <a:off x="104375" y="6570428"/>
            <a:ext cx="2136049" cy="54652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D16CC74870BC944B02857AF781BBE06" ma:contentTypeVersion="6" ma:contentTypeDescription="Create a new document." ma:contentTypeScope="" ma:versionID="94fd17610baa95e33031c4149d7bcbcd">
  <xsd:schema xmlns:xsd="http://www.w3.org/2001/XMLSchema" xmlns:xs="http://www.w3.org/2001/XMLSchema" xmlns:p="http://schemas.microsoft.com/office/2006/metadata/properties" xmlns:ns2="56503b0e-fd31-45b9-a56b-0d6c74c4c7e1" xmlns:ns3="9b4b7e20-709a-4cda-b52c-22b9ad2e8640" targetNamespace="http://schemas.microsoft.com/office/2006/metadata/properties" ma:root="true" ma:fieldsID="7cfca25ec38aea5239af917e1061ab0d" ns2:_="" ns3:_="">
    <xsd:import namespace="56503b0e-fd31-45b9-a56b-0d6c74c4c7e1"/>
    <xsd:import namespace="9b4b7e20-709a-4cda-b52c-22b9ad2e86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503b0e-fd31-45b9-a56b-0d6c74c4c7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b7e20-709a-4cda-b52c-22b9ad2e864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D053F2-E4A8-465A-9FF5-C10BC248D8D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7088031-0B86-4201-B179-D81A498967A8}">
  <ds:schemaRefs>
    <ds:schemaRef ds:uri="http://schemas.microsoft.com/sharepoint/v3/contenttype/forms"/>
  </ds:schemaRefs>
</ds:datastoreItem>
</file>

<file path=customXml/itemProps3.xml><?xml version="1.0" encoding="utf-8"?>
<ds:datastoreItem xmlns:ds="http://schemas.openxmlformats.org/officeDocument/2006/customXml" ds:itemID="{C4032D8D-3978-4289-A972-7F30C94D51B7}">
  <ds:schemaRefs>
    <ds:schemaRef ds:uri="56503b0e-fd31-45b9-a56b-0d6c74c4c7e1"/>
    <ds:schemaRef ds:uri="9b4b7e20-709a-4cda-b52c-22b9ad2e86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26</Slides>
  <Notes>26</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1</cp:revision>
  <dcterms:modified xsi:type="dcterms:W3CDTF">2024-04-18T14:37:06Z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0x010100AD16CC74870BC944B02857AF781BBE06</vt:lpwstr>
  </property>
</Properties>
</file>